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6B66"/>
    <a:srgbClr val="64748B"/>
    <a:srgbClr val="F5F8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412" autoAdjust="0"/>
    <p:restoredTop sz="95033" autoAdjust="0"/>
  </p:normalViewPr>
  <p:slideViewPr>
    <p:cSldViewPr snapToGrid="0" snapToObjects="1">
      <p:cViewPr varScale="1">
        <p:scale>
          <a:sx n="82" d="100"/>
          <a:sy n="82" d="100"/>
        </p:scale>
        <p:origin x="1022" y="77"/>
      </p:cViewPr>
      <p:guideLst/>
    </p:cSldViewPr>
  </p:slideViewPr>
  <p:notesTextViewPr>
    <p:cViewPr>
      <p:scale>
        <a:sx n="1" d="1"/>
        <a:sy n="1" d="1"/>
      </p:scale>
      <p:origin x="0" y="0"/>
    </p:cViewPr>
  </p:notesTextViewPr>
  <p:sorterViewPr>
    <p:cViewPr>
      <p:scale>
        <a:sx n="100" d="100"/>
        <a:sy n="100" d="100"/>
      </p:scale>
      <p:origin x="0" y="-629"/>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3850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GB" dirty="0"/>
          </a:p>
        </p:txBody>
      </p:sp>
    </p:spTree>
    <p:extLst>
      <p:ext uri="{BB962C8B-B14F-4D97-AF65-F5344CB8AC3E}">
        <p14:creationId xmlns:p14="http://schemas.microsoft.com/office/powerpoint/2010/main" val="2088128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microsoft.com/office/2007/relationships/hdphoto" Target="../media/hdphoto1.wdp"/><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9784080" y="-1645920"/>
            <a:ext cx="4206240" cy="4206240"/>
          </a:xfrm>
          <a:prstGeom prst="ellipse">
            <a:avLst/>
          </a:prstGeom>
          <a:solidFill>
            <a:srgbClr val="1F3A5F"/>
          </a:solidFill>
          <a:ln/>
        </p:spPr>
      </p:sp>
      <p:sp>
        <p:nvSpPr>
          <p:cNvPr id="3" name="Shape 1"/>
          <p:cNvSpPr/>
          <p:nvPr/>
        </p:nvSpPr>
        <p:spPr>
          <a:xfrm>
            <a:off x="10881360" y="4937760"/>
            <a:ext cx="2926080" cy="2926080"/>
          </a:xfrm>
          <a:prstGeom prst="ellipse">
            <a:avLst/>
          </a:prstGeom>
          <a:solidFill>
            <a:srgbClr val="0A6B66"/>
          </a:solidFill>
          <a:ln/>
        </p:spPr>
      </p:sp>
      <p:sp>
        <p:nvSpPr>
          <p:cNvPr id="4" name="Shape 2"/>
          <p:cNvSpPr/>
          <p:nvPr/>
        </p:nvSpPr>
        <p:spPr>
          <a:xfrm>
            <a:off x="640080" y="1325880"/>
            <a:ext cx="822960" cy="822960"/>
          </a:xfrm>
          <a:prstGeom prst="ellipse">
            <a:avLst/>
          </a:prstGeom>
          <a:solidFill>
            <a:srgbClr val="0E8C86"/>
          </a:solidFill>
          <a:ln/>
        </p:spPr>
      </p:sp>
      <p:pic>
        <p:nvPicPr>
          <p:cNvPr id="5" name="Image 0" descr="preencoded.png"/>
          <p:cNvPicPr>
            <a:picLocks noChangeAspect="1"/>
          </p:cNvPicPr>
          <p:nvPr/>
        </p:nvPicPr>
        <p:blipFill>
          <a:blip r:embed="rId3"/>
          <a:stretch>
            <a:fillRect/>
          </a:stretch>
        </p:blipFill>
        <p:spPr>
          <a:xfrm>
            <a:off x="877824" y="1563624"/>
            <a:ext cx="347472" cy="347472"/>
          </a:xfrm>
          <a:prstGeom prst="rect">
            <a:avLst/>
          </a:prstGeom>
        </p:spPr>
      </p:pic>
      <p:sp>
        <p:nvSpPr>
          <p:cNvPr id="6" name="Text 3"/>
          <p:cNvSpPr/>
          <p:nvPr/>
        </p:nvSpPr>
        <p:spPr>
          <a:xfrm>
            <a:off x="640080" y="2423160"/>
            <a:ext cx="10058400" cy="365760"/>
          </a:xfrm>
          <a:prstGeom prst="rect">
            <a:avLst/>
          </a:prstGeom>
          <a:noFill/>
          <a:ln/>
        </p:spPr>
        <p:txBody>
          <a:bodyPr wrap="square" rtlCol="0" anchor="ctr"/>
          <a:lstStyle/>
          <a:p>
            <a:pPr marL="0" indent="0">
              <a:buNone/>
            </a:pPr>
            <a:r>
              <a:rPr lang="en-US" sz="1300" b="1" kern="0" spc="200" dirty="0">
                <a:solidFill>
                  <a:srgbClr val="9FD8D4"/>
                </a:solidFill>
                <a:latin typeface="Cambria" panose="02040503050406030204" pitchFamily="18" charset="0"/>
                <a:ea typeface="Cambria" panose="02040503050406030204" pitchFamily="18" charset="0"/>
                <a:cs typeface="Calibri" pitchFamily="34" charset="-120"/>
              </a:rPr>
              <a:t>PERFORMANCE &amp; INTELLIGENCE OFFICER  |  INTERVIEW PRESENTATION</a:t>
            </a:r>
            <a:endParaRPr lang="en-US" sz="1300" dirty="0">
              <a:latin typeface="Cambria" panose="02040503050406030204" pitchFamily="18" charset="0"/>
              <a:ea typeface="Cambria" panose="02040503050406030204" pitchFamily="18" charset="0"/>
            </a:endParaRPr>
          </a:p>
        </p:txBody>
      </p:sp>
      <p:sp>
        <p:nvSpPr>
          <p:cNvPr id="7" name="Text 4"/>
          <p:cNvSpPr/>
          <p:nvPr/>
        </p:nvSpPr>
        <p:spPr>
          <a:xfrm>
            <a:off x="640080" y="2788920"/>
            <a:ext cx="10607040" cy="1463040"/>
          </a:xfrm>
          <a:prstGeom prst="rect">
            <a:avLst/>
          </a:prstGeom>
          <a:noFill/>
          <a:ln/>
        </p:spPr>
        <p:txBody>
          <a:bodyPr wrap="square" rtlCol="0" anchor="ctr"/>
          <a:lstStyle/>
          <a:p>
            <a:pPr marL="0" indent="0">
              <a:lnSpc>
                <a:spcPts val="4000"/>
              </a:lnSpc>
              <a:buNone/>
            </a:pPr>
            <a:r>
              <a:rPr lang="en-US" sz="3400" b="1" dirty="0">
                <a:solidFill>
                  <a:srgbClr val="FFFFFF"/>
                </a:solidFill>
                <a:latin typeface="Cambria" pitchFamily="34" charset="0"/>
                <a:ea typeface="Cambria" pitchFamily="34" charset="-122"/>
                <a:cs typeface="Cambria" pitchFamily="34" charset="-120"/>
              </a:rPr>
              <a:t>Adult Social Care Performance in Lincolnshire:</a:t>
            </a:r>
            <a:endParaRPr lang="en-US" sz="3400" dirty="0"/>
          </a:p>
          <a:p>
            <a:pPr>
              <a:lnSpc>
                <a:spcPts val="4000"/>
              </a:lnSpc>
            </a:pPr>
            <a:r>
              <a:rPr lang="en-US" sz="3400" b="1" dirty="0">
                <a:solidFill>
                  <a:srgbClr val="FFFFFF"/>
                </a:solidFill>
                <a:latin typeface="Cambria" pitchFamily="34" charset="0"/>
                <a:ea typeface="Cambria" pitchFamily="34" charset="-122"/>
                <a:cs typeface="Cambria" pitchFamily="34" charset="-120"/>
              </a:rPr>
              <a:t>Demand, Outcomes, and Provider Quality</a:t>
            </a:r>
            <a:endParaRPr lang="en-US" sz="3400" dirty="0"/>
          </a:p>
        </p:txBody>
      </p:sp>
      <p:sp>
        <p:nvSpPr>
          <p:cNvPr id="8" name="Text 5"/>
          <p:cNvSpPr/>
          <p:nvPr/>
        </p:nvSpPr>
        <p:spPr>
          <a:xfrm>
            <a:off x="640080" y="4389120"/>
            <a:ext cx="10058400" cy="457200"/>
          </a:xfrm>
          <a:prstGeom prst="rect">
            <a:avLst/>
          </a:prstGeom>
          <a:noFill/>
          <a:ln/>
        </p:spPr>
        <p:txBody>
          <a:bodyPr wrap="square" rtlCol="0" anchor="ctr"/>
          <a:lstStyle/>
          <a:p>
            <a:pPr marL="0" indent="0">
              <a:buNone/>
            </a:pPr>
            <a:r>
              <a:rPr lang="en-GB" sz="1700" dirty="0">
                <a:solidFill>
                  <a:srgbClr val="C6D2E4"/>
                </a:solidFill>
                <a:latin typeface="Cambria" panose="02040503050406030204" pitchFamily="18" charset="0"/>
                <a:ea typeface="Cambria" panose="02040503050406030204" pitchFamily="18" charset="0"/>
                <a:cs typeface="Calibri" pitchFamily="34" charset="-120"/>
              </a:rPr>
              <a:t>An interactive Power BI dashboard using national data to support Adult Social Care planning and decision-making</a:t>
            </a:r>
            <a:endParaRPr lang="en-US" sz="1700" dirty="0">
              <a:latin typeface="Cambria" panose="02040503050406030204" pitchFamily="18" charset="0"/>
              <a:ea typeface="Cambria" panose="02040503050406030204" pitchFamily="18" charset="0"/>
            </a:endParaRPr>
          </a:p>
        </p:txBody>
      </p:sp>
      <p:sp>
        <p:nvSpPr>
          <p:cNvPr id="9" name="Shape 6"/>
          <p:cNvSpPr/>
          <p:nvPr/>
        </p:nvSpPr>
        <p:spPr>
          <a:xfrm>
            <a:off x="640080" y="5166360"/>
            <a:ext cx="3840480" cy="0"/>
          </a:xfrm>
          <a:prstGeom prst="line">
            <a:avLst/>
          </a:prstGeom>
          <a:noFill/>
          <a:ln w="19050">
            <a:solidFill>
              <a:srgbClr val="0E8C86"/>
            </a:solidFill>
            <a:prstDash val="solid"/>
          </a:ln>
        </p:spPr>
      </p:sp>
      <p:sp>
        <p:nvSpPr>
          <p:cNvPr id="10" name="Text 7"/>
          <p:cNvSpPr/>
          <p:nvPr/>
        </p:nvSpPr>
        <p:spPr>
          <a:xfrm>
            <a:off x="640080" y="5303520"/>
            <a:ext cx="3092165" cy="822960"/>
          </a:xfrm>
          <a:prstGeom prst="rect">
            <a:avLst/>
          </a:prstGeom>
          <a:noFill/>
          <a:ln/>
        </p:spPr>
        <p:txBody>
          <a:bodyPr wrap="square" rtlCol="0" anchor="ctr"/>
          <a:lstStyle/>
          <a:p>
            <a:pPr marL="0" indent="0">
              <a:buNone/>
            </a:pPr>
            <a:r>
              <a:rPr lang="en-US" sz="1600" b="1" dirty="0">
                <a:solidFill>
                  <a:srgbClr val="FFFFFF"/>
                </a:solidFill>
                <a:latin typeface="Cambria" panose="02040503050406030204" pitchFamily="18" charset="0"/>
                <a:ea typeface="Cambria" panose="02040503050406030204" pitchFamily="18" charset="0"/>
                <a:cs typeface="Calibri" pitchFamily="34" charset="-120"/>
              </a:rPr>
              <a:t>Susairaj Anthony</a:t>
            </a:r>
            <a:endParaRPr lang="en-US" sz="1600" dirty="0">
              <a:latin typeface="Cambria" panose="02040503050406030204" pitchFamily="18" charset="0"/>
              <a:ea typeface="Cambria" panose="02040503050406030204" pitchFamily="18" charset="0"/>
            </a:endParaRPr>
          </a:p>
          <a:p>
            <a:pPr marL="0" indent="0">
              <a:buNone/>
            </a:pPr>
            <a:r>
              <a:rPr lang="en-US" sz="1250" dirty="0">
                <a:solidFill>
                  <a:srgbClr val="9FB0C9"/>
                </a:solidFill>
                <a:latin typeface="Cambria" panose="02040503050406030204" pitchFamily="18" charset="0"/>
                <a:ea typeface="Cambria" panose="02040503050406030204" pitchFamily="18" charset="0"/>
                <a:cs typeface="Calibri" pitchFamily="34" charset="-120"/>
              </a:rPr>
              <a:t>Data Analyst</a:t>
            </a:r>
            <a:endParaRPr lang="en-US" sz="1600"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mbria" panose="02040503050406030204" pitchFamily="18" charset="0"/>
                <a:ea typeface="Cambria" panose="02040503050406030204" pitchFamily="18" charset="0"/>
                <a:cs typeface="Calibri" pitchFamily="34" charset="-120"/>
              </a:rPr>
              <a:t>01  CONTEXT</a:t>
            </a:r>
            <a:endParaRPr lang="en-US" sz="1100" dirty="0">
              <a:latin typeface="Cambria" panose="02040503050406030204" pitchFamily="18" charset="0"/>
              <a:ea typeface="Cambria" panose="02040503050406030204" pitchFamily="18" charset="0"/>
            </a:endParaRPr>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The problem, in plain terms</a:t>
            </a:r>
            <a:endParaRPr lang="en-US" sz="2500" dirty="0"/>
          </a:p>
        </p:txBody>
      </p:sp>
      <p:sp>
        <p:nvSpPr>
          <p:cNvPr id="6" name="Shape 3"/>
          <p:cNvSpPr/>
          <p:nvPr/>
        </p:nvSpPr>
        <p:spPr>
          <a:xfrm>
            <a:off x="640080" y="1554480"/>
            <a:ext cx="5486400" cy="4480560"/>
          </a:xfrm>
          <a:prstGeom prst="roundRect">
            <a:avLst>
              <a:gd name="adj" fmla="val 1633"/>
            </a:avLst>
          </a:prstGeom>
          <a:solidFill>
            <a:srgbClr val="F5F8FB"/>
          </a:solidFill>
          <a:ln/>
          <a:effectLst>
            <a:outerShdw blurRad="88900" dist="25400" dir="5400000" algn="bl" rotWithShape="0">
              <a:srgbClr val="000000">
                <a:alpha val="12000"/>
              </a:srgbClr>
            </a:outerShdw>
          </a:effectLst>
        </p:spPr>
      </p:sp>
      <p:sp>
        <p:nvSpPr>
          <p:cNvPr id="7" name="Text 4"/>
          <p:cNvSpPr/>
          <p:nvPr/>
        </p:nvSpPr>
        <p:spPr>
          <a:xfrm>
            <a:off x="960120" y="1828800"/>
            <a:ext cx="4846320" cy="365760"/>
          </a:xfrm>
          <a:prstGeom prst="rect">
            <a:avLst/>
          </a:prstGeom>
          <a:noFill/>
          <a:ln/>
        </p:spPr>
        <p:txBody>
          <a:bodyPr wrap="square" rtlCol="0" anchor="ctr"/>
          <a:lstStyle/>
          <a:p>
            <a:pPr marL="0" indent="0">
              <a:buNone/>
            </a:pPr>
            <a:r>
              <a:rPr lang="en-US" sz="1600" b="1" dirty="0">
                <a:solidFill>
                  <a:srgbClr val="0E8C86"/>
                </a:solidFill>
                <a:latin typeface="Calibri" pitchFamily="34" charset="0"/>
                <a:ea typeface="Calibri" pitchFamily="34" charset="-122"/>
                <a:cs typeface="Calibri" pitchFamily="34" charset="-120"/>
              </a:rPr>
              <a:t>Imagine a scenario</a:t>
            </a:r>
            <a:endParaRPr lang="en-US" sz="1600" dirty="0"/>
          </a:p>
        </p:txBody>
      </p:sp>
      <p:sp>
        <p:nvSpPr>
          <p:cNvPr id="8" name="Text 5"/>
          <p:cNvSpPr/>
          <p:nvPr/>
        </p:nvSpPr>
        <p:spPr>
          <a:xfrm>
            <a:off x="960120" y="2286000"/>
            <a:ext cx="4892040" cy="3566160"/>
          </a:xfrm>
          <a:prstGeom prst="rect">
            <a:avLst/>
          </a:prstGeom>
          <a:noFill/>
          <a:ln/>
        </p:spPr>
        <p:txBody>
          <a:bodyPr wrap="square" rtlCol="0" anchor="t"/>
          <a:lstStyle/>
          <a:p>
            <a:pPr marL="0" indent="0">
              <a:lnSpc>
                <a:spcPts val="1900"/>
              </a:lnSpc>
              <a:spcAft>
                <a:spcPts val="1000"/>
              </a:spcAft>
              <a:buNone/>
            </a:pPr>
            <a:r>
              <a:rPr lang="en-GB" sz="1400" dirty="0">
                <a:solidFill>
                  <a:srgbClr val="1E293B"/>
                </a:solidFill>
                <a:ea typeface="Cambria" panose="02040503050406030204" pitchFamily="18" charset="0"/>
                <a:cs typeface="Calibri" pitchFamily="34" charset="-120"/>
              </a:rPr>
              <a:t>As a manager in Lincolnshire's Adult Care team, you need reliable answers to questions such as</a:t>
            </a:r>
            <a:r>
              <a:rPr lang="en-US" sz="1400" dirty="0">
                <a:solidFill>
                  <a:srgbClr val="1E293B"/>
                </a:solidFill>
                <a:ea typeface="Cambria" panose="02040503050406030204" pitchFamily="18" charset="0"/>
                <a:cs typeface="Calibri" pitchFamily="34" charset="-120"/>
              </a:rPr>
              <a:t>:</a:t>
            </a:r>
            <a:endParaRPr lang="en-US" sz="1400" dirty="0">
              <a:ea typeface="Cambria" panose="02040503050406030204" pitchFamily="18" charset="0"/>
            </a:endParaRPr>
          </a:p>
          <a:p>
            <a:pPr marL="285750" indent="-285750">
              <a:lnSpc>
                <a:spcPts val="1900"/>
              </a:lnSpc>
              <a:spcAft>
                <a:spcPts val="600"/>
              </a:spcAft>
              <a:buFont typeface="Arial" panose="020B0604020202020204" pitchFamily="34" charset="0"/>
              <a:buChar char="•"/>
            </a:pPr>
            <a:r>
              <a:rPr lang="en-GB" sz="1400" dirty="0">
                <a:solidFill>
                  <a:srgbClr val="1E293B"/>
                </a:solidFill>
                <a:ea typeface="Cambria" panose="02040503050406030204" pitchFamily="18" charset="0"/>
                <a:cs typeface="Calibri" pitchFamily="34" charset="-120"/>
              </a:rPr>
              <a:t>Are we helping people recover well after a hospital stay?</a:t>
            </a:r>
          </a:p>
          <a:p>
            <a:pPr marL="285750" indent="-285750">
              <a:lnSpc>
                <a:spcPts val="1900"/>
              </a:lnSpc>
              <a:spcAft>
                <a:spcPts val="600"/>
              </a:spcAft>
              <a:buFont typeface="Arial" panose="020B0604020202020204" pitchFamily="34" charset="0"/>
              <a:buChar char="•"/>
            </a:pPr>
            <a:r>
              <a:rPr lang="en-GB" sz="1400" dirty="0">
                <a:solidFill>
                  <a:srgbClr val="1E293B"/>
                </a:solidFill>
                <a:ea typeface="Cambria" panose="02040503050406030204" pitchFamily="18" charset="0"/>
                <a:cs typeface="Calibri" pitchFamily="34" charset="-120"/>
              </a:rPr>
              <a:t>Will we have enough care home capacity in five years?</a:t>
            </a:r>
          </a:p>
          <a:p>
            <a:pPr marL="285750" indent="-285750">
              <a:lnSpc>
                <a:spcPts val="1900"/>
              </a:lnSpc>
              <a:spcAft>
                <a:spcPts val="600"/>
              </a:spcAft>
              <a:buFont typeface="Arial" panose="020B0604020202020204" pitchFamily="34" charset="0"/>
              <a:buChar char="•"/>
            </a:pPr>
            <a:r>
              <a:rPr lang="en-GB" sz="1400" dirty="0">
                <a:solidFill>
                  <a:srgbClr val="1E293B"/>
                </a:solidFill>
                <a:ea typeface="Cambria" panose="02040503050406030204" pitchFamily="18" charset="0"/>
                <a:cs typeface="Calibri" pitchFamily="34" charset="-120"/>
              </a:rPr>
              <a:t>Which care homes in the county need closer attention on quality?</a:t>
            </a:r>
            <a:endParaRPr lang="en-US" sz="1400" dirty="0">
              <a:ea typeface="Cambria" panose="02040503050406030204" pitchFamily="18" charset="0"/>
            </a:endParaRPr>
          </a:p>
          <a:p>
            <a:pPr marL="0" indent="0">
              <a:lnSpc>
                <a:spcPts val="1900"/>
              </a:lnSpc>
              <a:buNone/>
            </a:pPr>
            <a:r>
              <a:rPr lang="en-GB" sz="1400" dirty="0">
                <a:solidFill>
                  <a:srgbClr val="1E293B"/>
                </a:solidFill>
                <a:ea typeface="Cambria" panose="02040503050406030204" pitchFamily="18" charset="0"/>
                <a:cs typeface="Calibri" pitchFamily="34" charset="-120"/>
              </a:rPr>
              <a:t>At present, answering these questions means consulting three separate government sources, downloading spreadsheets, and working through the figures manually. That takes time, and it limits who can produce an answer to someone with analytical training.</a:t>
            </a:r>
            <a:endParaRPr lang="en-US" sz="1400" dirty="0">
              <a:ea typeface="Cambria" panose="02040503050406030204" pitchFamily="18" charset="0"/>
            </a:endParaRPr>
          </a:p>
        </p:txBody>
      </p:sp>
      <p:sp>
        <p:nvSpPr>
          <p:cNvPr id="9" name="Text 6"/>
          <p:cNvSpPr/>
          <p:nvPr/>
        </p:nvSpPr>
        <p:spPr>
          <a:xfrm>
            <a:off x="6537960" y="1600200"/>
            <a:ext cx="493776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One Dashboard, Three Key Questions.</a:t>
            </a:r>
            <a:endParaRPr lang="en-US" sz="1600" dirty="0"/>
          </a:p>
        </p:txBody>
      </p:sp>
      <p:sp>
        <p:nvSpPr>
          <p:cNvPr id="10" name="Shape 7"/>
          <p:cNvSpPr/>
          <p:nvPr/>
        </p:nvSpPr>
        <p:spPr>
          <a:xfrm>
            <a:off x="6537960" y="210312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txBody>
          <a:bodyPr/>
          <a:lstStyle/>
          <a:p>
            <a:endParaRPr lang="en-GB" dirty="0"/>
          </a:p>
        </p:txBody>
      </p:sp>
      <p:sp>
        <p:nvSpPr>
          <p:cNvPr id="11" name="Shape 8"/>
          <p:cNvSpPr/>
          <p:nvPr/>
        </p:nvSpPr>
        <p:spPr>
          <a:xfrm>
            <a:off x="6812280" y="2386584"/>
            <a:ext cx="566928" cy="566928"/>
          </a:xfrm>
          <a:prstGeom prst="ellipse">
            <a:avLst/>
          </a:prstGeom>
          <a:solidFill>
            <a:srgbClr val="0E8C86"/>
          </a:solidFill>
          <a:ln/>
        </p:spPr>
      </p:sp>
      <p:pic>
        <p:nvPicPr>
          <p:cNvPr id="12" name="Image 1" descr="preencoded.png"/>
          <p:cNvPicPr>
            <a:picLocks noChangeAspect="1"/>
          </p:cNvPicPr>
          <p:nvPr/>
        </p:nvPicPr>
        <p:blipFill>
          <a:blip r:embed="rId4"/>
          <a:stretch>
            <a:fillRect/>
          </a:stretch>
        </p:blipFill>
        <p:spPr>
          <a:xfrm>
            <a:off x="6995160" y="2569464"/>
            <a:ext cx="274320" cy="274320"/>
          </a:xfrm>
          <a:prstGeom prst="rect">
            <a:avLst/>
          </a:prstGeom>
        </p:spPr>
      </p:pic>
      <p:sp>
        <p:nvSpPr>
          <p:cNvPr id="13" name="Text 9"/>
          <p:cNvSpPr/>
          <p:nvPr/>
        </p:nvSpPr>
        <p:spPr>
          <a:xfrm>
            <a:off x="7635240" y="2249424"/>
            <a:ext cx="3840480" cy="54864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Page 1 — “Is demand for care going up?”</a:t>
            </a:r>
            <a:endParaRPr lang="en-US" sz="1400" dirty="0"/>
          </a:p>
        </p:txBody>
      </p:sp>
      <p:sp>
        <p:nvSpPr>
          <p:cNvPr id="14" name="Text 10"/>
          <p:cNvSpPr/>
          <p:nvPr/>
        </p:nvSpPr>
        <p:spPr>
          <a:xfrm>
            <a:off x="7635240" y="2761488"/>
            <a:ext cx="3840480" cy="502920"/>
          </a:xfrm>
          <a:prstGeom prst="rect">
            <a:avLst/>
          </a:prstGeom>
          <a:noFill/>
          <a:ln/>
        </p:spPr>
        <p:txBody>
          <a:bodyPr wrap="square" rtlCol="0" anchor="ctr"/>
          <a:lstStyle/>
          <a:p>
            <a:pPr marL="0" indent="0">
              <a:lnSpc>
                <a:spcPts val="1300"/>
              </a:lnSpc>
              <a:buNone/>
            </a:pPr>
            <a:r>
              <a:rPr lang="en-US" sz="1400" dirty="0">
                <a:solidFill>
                  <a:srgbClr val="64748B"/>
                </a:solidFill>
                <a:latin typeface="Calibri" pitchFamily="34" charset="0"/>
                <a:ea typeface="Calibri" pitchFamily="34" charset="-122"/>
                <a:cs typeface="Calibri" pitchFamily="34" charset="-120"/>
              </a:rPr>
              <a:t>Lincolnshire's population, and how much older it's getting.</a:t>
            </a:r>
            <a:endParaRPr lang="en-US" sz="1400" dirty="0"/>
          </a:p>
        </p:txBody>
      </p:sp>
      <p:sp>
        <p:nvSpPr>
          <p:cNvPr id="15" name="Shape 11"/>
          <p:cNvSpPr/>
          <p:nvPr/>
        </p:nvSpPr>
        <p:spPr>
          <a:xfrm>
            <a:off x="6537960" y="342900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16" name="Shape 12"/>
          <p:cNvSpPr/>
          <p:nvPr/>
        </p:nvSpPr>
        <p:spPr>
          <a:xfrm>
            <a:off x="6812280" y="3712464"/>
            <a:ext cx="566928" cy="566928"/>
          </a:xfrm>
          <a:prstGeom prst="ellipse">
            <a:avLst/>
          </a:prstGeom>
          <a:solidFill>
            <a:srgbClr val="0E8C86"/>
          </a:solidFill>
          <a:ln/>
        </p:spPr>
      </p:sp>
      <p:pic>
        <p:nvPicPr>
          <p:cNvPr id="17" name="Image 2" descr="preencoded.png"/>
          <p:cNvPicPr>
            <a:picLocks noChangeAspect="1"/>
          </p:cNvPicPr>
          <p:nvPr/>
        </p:nvPicPr>
        <p:blipFill>
          <a:blip r:embed="rId5"/>
          <a:stretch>
            <a:fillRect/>
          </a:stretch>
        </p:blipFill>
        <p:spPr>
          <a:xfrm>
            <a:off x="6958584" y="3858768"/>
            <a:ext cx="274320" cy="274320"/>
          </a:xfrm>
          <a:prstGeom prst="rect">
            <a:avLst/>
          </a:prstGeom>
        </p:spPr>
      </p:pic>
      <p:sp>
        <p:nvSpPr>
          <p:cNvPr id="18" name="Text 13"/>
          <p:cNvSpPr/>
          <p:nvPr/>
        </p:nvSpPr>
        <p:spPr>
          <a:xfrm>
            <a:off x="7635240" y="3575304"/>
            <a:ext cx="3840480" cy="54864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Page 2 — “</a:t>
            </a:r>
            <a:r>
              <a:rPr lang="en-GB" sz="1400" b="1" dirty="0">
                <a:solidFill>
                  <a:srgbClr val="17233D"/>
                </a:solidFill>
                <a:latin typeface="Calibri" pitchFamily="34" charset="0"/>
                <a:ea typeface="Calibri" pitchFamily="34" charset="-122"/>
                <a:cs typeface="Calibri" pitchFamily="34" charset="-120"/>
              </a:rPr>
              <a:t>How well is the council actually doing?”</a:t>
            </a:r>
            <a:endParaRPr lang="en-US" sz="1400" dirty="0"/>
          </a:p>
        </p:txBody>
      </p:sp>
      <p:sp>
        <p:nvSpPr>
          <p:cNvPr id="19" name="Text 14"/>
          <p:cNvSpPr/>
          <p:nvPr/>
        </p:nvSpPr>
        <p:spPr>
          <a:xfrm>
            <a:off x="7635240" y="4087368"/>
            <a:ext cx="3840480" cy="502920"/>
          </a:xfrm>
          <a:prstGeom prst="rect">
            <a:avLst/>
          </a:prstGeom>
          <a:noFill/>
          <a:ln/>
        </p:spPr>
        <p:txBody>
          <a:bodyPr wrap="square" rtlCol="0" anchor="ctr"/>
          <a:lstStyle/>
          <a:p>
            <a:pPr marL="0" indent="0">
              <a:lnSpc>
                <a:spcPts val="1300"/>
              </a:lnSpc>
              <a:buNone/>
            </a:pPr>
            <a:r>
              <a:rPr lang="en-US" sz="1400" dirty="0">
                <a:solidFill>
                  <a:srgbClr val="64748B"/>
                </a:solidFill>
                <a:latin typeface="Calibri" pitchFamily="34" charset="0"/>
                <a:ea typeface="Calibri" pitchFamily="34" charset="-122"/>
                <a:cs typeface="Calibri" pitchFamily="34" charset="-120"/>
              </a:rPr>
              <a:t>Real outcomes, compared honestly against England.</a:t>
            </a:r>
            <a:endParaRPr lang="en-US" sz="1400" dirty="0"/>
          </a:p>
        </p:txBody>
      </p:sp>
      <p:sp>
        <p:nvSpPr>
          <p:cNvPr id="20" name="Shape 15"/>
          <p:cNvSpPr/>
          <p:nvPr/>
        </p:nvSpPr>
        <p:spPr>
          <a:xfrm>
            <a:off x="6537960" y="4754880"/>
            <a:ext cx="4983480" cy="1207008"/>
          </a:xfrm>
          <a:prstGeom prst="roundRect">
            <a:avLst>
              <a:gd name="adj" fmla="val 606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1" name="Shape 16"/>
          <p:cNvSpPr/>
          <p:nvPr/>
        </p:nvSpPr>
        <p:spPr>
          <a:xfrm>
            <a:off x="6812280" y="5038344"/>
            <a:ext cx="566928" cy="566928"/>
          </a:xfrm>
          <a:prstGeom prst="ellipse">
            <a:avLst/>
          </a:prstGeom>
          <a:solidFill>
            <a:srgbClr val="0E8C86"/>
          </a:solidFill>
          <a:ln/>
        </p:spPr>
      </p:sp>
      <p:pic>
        <p:nvPicPr>
          <p:cNvPr id="22" name="Image 3" descr="preencoded.png"/>
          <p:cNvPicPr>
            <a:picLocks noChangeAspect="1"/>
          </p:cNvPicPr>
          <p:nvPr/>
        </p:nvPicPr>
        <p:blipFill>
          <a:blip r:embed="rId6"/>
          <a:stretch>
            <a:fillRect/>
          </a:stretch>
        </p:blipFill>
        <p:spPr>
          <a:xfrm>
            <a:off x="6963249" y="5175504"/>
            <a:ext cx="274320" cy="274320"/>
          </a:xfrm>
          <a:prstGeom prst="rect">
            <a:avLst/>
          </a:prstGeom>
        </p:spPr>
      </p:pic>
      <p:sp>
        <p:nvSpPr>
          <p:cNvPr id="23" name="Text 17"/>
          <p:cNvSpPr/>
          <p:nvPr/>
        </p:nvSpPr>
        <p:spPr>
          <a:xfrm>
            <a:off x="7635240" y="4901184"/>
            <a:ext cx="3840480" cy="54864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Page 3 — “Is the local care market healthy?”</a:t>
            </a:r>
            <a:endParaRPr lang="en-US" sz="1400" dirty="0"/>
          </a:p>
        </p:txBody>
      </p:sp>
      <p:sp>
        <p:nvSpPr>
          <p:cNvPr id="24" name="Text 18"/>
          <p:cNvSpPr/>
          <p:nvPr/>
        </p:nvSpPr>
        <p:spPr>
          <a:xfrm>
            <a:off x="7635240" y="5413248"/>
            <a:ext cx="3840480" cy="502920"/>
          </a:xfrm>
          <a:prstGeom prst="rect">
            <a:avLst/>
          </a:prstGeom>
          <a:noFill/>
          <a:ln/>
        </p:spPr>
        <p:txBody>
          <a:bodyPr wrap="square" rtlCol="0" anchor="ctr"/>
          <a:lstStyle/>
          <a:p>
            <a:pPr marL="0" indent="0">
              <a:lnSpc>
                <a:spcPts val="1300"/>
              </a:lnSpc>
              <a:buNone/>
            </a:pPr>
            <a:r>
              <a:rPr lang="en-US" sz="1400" dirty="0">
                <a:solidFill>
                  <a:srgbClr val="64748B"/>
                </a:solidFill>
                <a:latin typeface="Calibri" pitchFamily="34" charset="0"/>
                <a:ea typeface="Calibri" pitchFamily="34" charset="-122"/>
                <a:cs typeface="Calibri" pitchFamily="34" charset="-120"/>
              </a:rPr>
              <a:t>Every care home in the county, mapped by quality.</a:t>
            </a:r>
            <a:endParaRPr lang="en-US" sz="1400" dirty="0"/>
          </a:p>
        </p:txBody>
      </p:sp>
      <p:sp>
        <p:nvSpPr>
          <p:cNvPr id="25" name="Text 19"/>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
        <p:nvSpPr>
          <p:cNvPr id="26" name="Text 20"/>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32" name="Image 2" descr="preencoded.png">
            <a:extLst>
              <a:ext uri="{FF2B5EF4-FFF2-40B4-BE49-F238E27FC236}">
                <a16:creationId xmlns:a16="http://schemas.microsoft.com/office/drawing/2014/main" id="{6DCA1CE4-377A-C597-EC7E-F689AE58A063}"/>
              </a:ext>
            </a:extLst>
          </p:cNvPr>
          <p:cNvPicPr>
            <a:picLocks noChangeAspect="1"/>
          </p:cNvPicPr>
          <p:nvPr/>
        </p:nvPicPr>
        <p:blipFill>
          <a:blip r:embed="rId7"/>
          <a:stretch>
            <a:fillRect/>
          </a:stretch>
        </p:blipFill>
        <p:spPr>
          <a:xfrm>
            <a:off x="6958584" y="2532888"/>
            <a:ext cx="274320" cy="2743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mbria" panose="02040503050406030204" pitchFamily="18" charset="0"/>
                <a:ea typeface="Cambria" panose="02040503050406030204" pitchFamily="18" charset="0"/>
                <a:cs typeface="Calibri" pitchFamily="34" charset="-120"/>
              </a:rPr>
              <a:t>02  HOW IT WORKS</a:t>
            </a:r>
            <a:endParaRPr lang="en-US" sz="1100" dirty="0">
              <a:latin typeface="Cambria" panose="02040503050406030204" pitchFamily="18" charset="0"/>
              <a:ea typeface="Cambria" panose="02040503050406030204" pitchFamily="18" charset="0"/>
            </a:endParaRPr>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GB" sz="2500" b="1" dirty="0">
                <a:solidFill>
                  <a:srgbClr val="17233D"/>
                </a:solidFill>
                <a:latin typeface="Cambria" pitchFamily="34" charset="0"/>
                <a:ea typeface="Cambria" pitchFamily="34" charset="-122"/>
                <a:cs typeface="Cambria" pitchFamily="34" charset="-120"/>
              </a:rPr>
              <a:t>From Raw Data to Useful Information</a:t>
            </a:r>
            <a:endParaRPr lang="en-US" sz="2500" dirty="0"/>
          </a:p>
        </p:txBody>
      </p:sp>
      <p:sp>
        <p:nvSpPr>
          <p:cNvPr id="6" name="Text 3"/>
          <p:cNvSpPr/>
          <p:nvPr/>
        </p:nvSpPr>
        <p:spPr>
          <a:xfrm>
            <a:off x="640080" y="1481328"/>
            <a:ext cx="10881360" cy="365760"/>
          </a:xfrm>
          <a:prstGeom prst="rect">
            <a:avLst/>
          </a:prstGeom>
          <a:noFill/>
          <a:ln/>
        </p:spPr>
        <p:txBody>
          <a:bodyPr wrap="square"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Think of it like a factory line. Raw data comes in one end; a finished dashboard comes out the other.</a:t>
            </a:r>
            <a:endParaRPr lang="en-US" sz="1400" dirty="0"/>
          </a:p>
        </p:txBody>
      </p:sp>
      <p:sp>
        <p:nvSpPr>
          <p:cNvPr id="7" name="Shape 4"/>
          <p:cNvSpPr/>
          <p:nvPr/>
        </p:nvSpPr>
        <p:spPr>
          <a:xfrm>
            <a:off x="640080"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txBody>
          <a:bodyPr/>
          <a:lstStyle/>
          <a:p>
            <a:endParaRPr lang="en-GB" dirty="0"/>
          </a:p>
        </p:txBody>
      </p:sp>
      <p:sp>
        <p:nvSpPr>
          <p:cNvPr id="8" name="Text 5"/>
          <p:cNvSpPr/>
          <p:nvPr/>
        </p:nvSpPr>
        <p:spPr>
          <a:xfrm>
            <a:off x="914400" y="2112264"/>
            <a:ext cx="2953512" cy="365760"/>
          </a:xfrm>
          <a:prstGeom prst="rect">
            <a:avLst/>
          </a:prstGeom>
          <a:noFill/>
          <a:ln/>
        </p:spPr>
        <p:txBody>
          <a:bodyPr wrap="square" rtlCol="0" anchor="ctr"/>
          <a:lstStyle/>
          <a:p>
            <a:pPr marL="0" indent="0">
              <a:buNone/>
            </a:pPr>
            <a:r>
              <a:rPr lang="en-US" b="1" dirty="0">
                <a:solidFill>
                  <a:srgbClr val="0A6B66"/>
                </a:solidFill>
                <a:latin typeface="Cambria" pitchFamily="34" charset="0"/>
                <a:ea typeface="Cambria" pitchFamily="34" charset="-122"/>
                <a:cs typeface="Cambria" pitchFamily="34" charset="-120"/>
              </a:rPr>
              <a:t>ASCOF</a:t>
            </a:r>
            <a:endParaRPr lang="en-US" dirty="0"/>
          </a:p>
        </p:txBody>
      </p:sp>
      <p:sp>
        <p:nvSpPr>
          <p:cNvPr id="9" name="Text 6"/>
          <p:cNvSpPr/>
          <p:nvPr/>
        </p:nvSpPr>
        <p:spPr>
          <a:xfrm>
            <a:off x="914400" y="2468880"/>
            <a:ext cx="3044952" cy="256032"/>
          </a:xfrm>
          <a:prstGeom prst="rect">
            <a:avLst/>
          </a:prstGeom>
          <a:noFill/>
          <a:ln/>
        </p:spPr>
        <p:txBody>
          <a:bodyPr wrap="square"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DHSC / NHS England</a:t>
            </a:r>
            <a:endParaRPr lang="en-US" sz="1400" dirty="0"/>
          </a:p>
        </p:txBody>
      </p:sp>
      <p:sp>
        <p:nvSpPr>
          <p:cNvPr id="10" name="Text 7"/>
          <p:cNvSpPr/>
          <p:nvPr/>
        </p:nvSpPr>
        <p:spPr>
          <a:xfrm>
            <a:off x="914400" y="2715768"/>
            <a:ext cx="3044952" cy="4572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Outcomes at council, region and England level</a:t>
            </a:r>
            <a:endParaRPr lang="en-US" sz="1200" dirty="0"/>
          </a:p>
        </p:txBody>
      </p:sp>
      <p:sp>
        <p:nvSpPr>
          <p:cNvPr id="11" name="Shape 8"/>
          <p:cNvSpPr/>
          <p:nvPr/>
        </p:nvSpPr>
        <p:spPr>
          <a:xfrm>
            <a:off x="4416552"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sp>
      <p:sp>
        <p:nvSpPr>
          <p:cNvPr id="12" name="Text 9"/>
          <p:cNvSpPr/>
          <p:nvPr/>
        </p:nvSpPr>
        <p:spPr>
          <a:xfrm>
            <a:off x="4690872" y="2112264"/>
            <a:ext cx="2953512" cy="365760"/>
          </a:xfrm>
          <a:prstGeom prst="rect">
            <a:avLst/>
          </a:prstGeom>
          <a:noFill/>
          <a:ln/>
        </p:spPr>
        <p:txBody>
          <a:bodyPr wrap="square" rtlCol="0" anchor="ctr"/>
          <a:lstStyle/>
          <a:p>
            <a:pPr marL="0" indent="0">
              <a:buNone/>
            </a:pPr>
            <a:r>
              <a:rPr lang="en-US" b="1" dirty="0">
                <a:solidFill>
                  <a:srgbClr val="0A6B66"/>
                </a:solidFill>
                <a:latin typeface="Cambria" pitchFamily="34" charset="0"/>
                <a:ea typeface="Cambria" pitchFamily="34" charset="-122"/>
                <a:cs typeface="Cambria" pitchFamily="34" charset="-120"/>
              </a:rPr>
              <a:t>ONS</a:t>
            </a:r>
            <a:endParaRPr lang="en-US" dirty="0"/>
          </a:p>
        </p:txBody>
      </p:sp>
      <p:sp>
        <p:nvSpPr>
          <p:cNvPr id="13" name="Text 10"/>
          <p:cNvSpPr/>
          <p:nvPr/>
        </p:nvSpPr>
        <p:spPr>
          <a:xfrm>
            <a:off x="4690872" y="2468880"/>
            <a:ext cx="3044952" cy="256032"/>
          </a:xfrm>
          <a:prstGeom prst="rect">
            <a:avLst/>
          </a:prstGeom>
          <a:noFill/>
          <a:ln/>
        </p:spPr>
        <p:txBody>
          <a:bodyPr wrap="square"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Population &amp; projections</a:t>
            </a:r>
            <a:endParaRPr lang="en-US" sz="1400" dirty="0"/>
          </a:p>
        </p:txBody>
      </p:sp>
      <p:sp>
        <p:nvSpPr>
          <p:cNvPr id="14" name="Text 11"/>
          <p:cNvSpPr/>
          <p:nvPr/>
        </p:nvSpPr>
        <p:spPr>
          <a:xfrm>
            <a:off x="4690871" y="2715768"/>
            <a:ext cx="3121285" cy="4572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Demand: the ageing population by area &amp; year</a:t>
            </a:r>
            <a:endParaRPr lang="en-US" sz="1200" dirty="0"/>
          </a:p>
        </p:txBody>
      </p:sp>
      <p:sp>
        <p:nvSpPr>
          <p:cNvPr id="15" name="Shape 12"/>
          <p:cNvSpPr/>
          <p:nvPr/>
        </p:nvSpPr>
        <p:spPr>
          <a:xfrm>
            <a:off x="8193024" y="1965960"/>
            <a:ext cx="3502152" cy="1234440"/>
          </a:xfrm>
          <a:prstGeom prst="roundRect">
            <a:avLst>
              <a:gd name="adj" fmla="val 5926"/>
            </a:avLst>
          </a:prstGeom>
          <a:solidFill>
            <a:srgbClr val="F5F8FB"/>
          </a:solidFill>
          <a:ln/>
          <a:effectLst>
            <a:outerShdw blurRad="88900" dist="25400" dir="5400000" algn="bl" rotWithShape="0">
              <a:srgbClr val="000000">
                <a:alpha val="12000"/>
              </a:srgbClr>
            </a:outerShdw>
          </a:effectLst>
        </p:spPr>
      </p:sp>
      <p:sp>
        <p:nvSpPr>
          <p:cNvPr id="16" name="Text 13"/>
          <p:cNvSpPr/>
          <p:nvPr/>
        </p:nvSpPr>
        <p:spPr>
          <a:xfrm>
            <a:off x="8467344" y="2112264"/>
            <a:ext cx="2953512" cy="365760"/>
          </a:xfrm>
          <a:prstGeom prst="rect">
            <a:avLst/>
          </a:prstGeom>
          <a:noFill/>
          <a:ln/>
        </p:spPr>
        <p:txBody>
          <a:bodyPr wrap="square" rtlCol="0" anchor="ctr"/>
          <a:lstStyle/>
          <a:p>
            <a:pPr marL="0" indent="0">
              <a:buNone/>
            </a:pPr>
            <a:r>
              <a:rPr lang="en-US" b="1" dirty="0">
                <a:solidFill>
                  <a:srgbClr val="0A6B66"/>
                </a:solidFill>
                <a:latin typeface="Cambria" pitchFamily="34" charset="0"/>
                <a:ea typeface="Cambria" pitchFamily="34" charset="-122"/>
                <a:cs typeface="Cambria" pitchFamily="34" charset="-120"/>
              </a:rPr>
              <a:t>CQC</a:t>
            </a:r>
            <a:endParaRPr lang="en-US" dirty="0"/>
          </a:p>
        </p:txBody>
      </p:sp>
      <p:sp>
        <p:nvSpPr>
          <p:cNvPr id="17" name="Text 14"/>
          <p:cNvSpPr/>
          <p:nvPr/>
        </p:nvSpPr>
        <p:spPr>
          <a:xfrm>
            <a:off x="8467344" y="2468880"/>
            <a:ext cx="3044952" cy="256032"/>
          </a:xfrm>
          <a:prstGeom prst="rect">
            <a:avLst/>
          </a:prstGeom>
          <a:noFill/>
          <a:ln/>
        </p:spPr>
        <p:txBody>
          <a:bodyPr wrap="square" rtlCol="0" anchor="ctr"/>
          <a:lstStyle/>
          <a:p>
            <a:pPr marL="0" indent="0">
              <a:buNone/>
            </a:pPr>
            <a:r>
              <a:rPr lang="en-US" sz="1400" b="1" dirty="0">
                <a:solidFill>
                  <a:srgbClr val="64748B"/>
                </a:solidFill>
                <a:latin typeface="Calibri" pitchFamily="34" charset="0"/>
                <a:ea typeface="Calibri" pitchFamily="34" charset="-122"/>
                <a:cs typeface="Calibri" pitchFamily="34" charset="-120"/>
              </a:rPr>
              <a:t>Care directory &amp; ratings</a:t>
            </a:r>
            <a:endParaRPr lang="en-US" sz="1400" dirty="0"/>
          </a:p>
        </p:txBody>
      </p:sp>
      <p:sp>
        <p:nvSpPr>
          <p:cNvPr id="18" name="Text 15"/>
          <p:cNvSpPr/>
          <p:nvPr/>
        </p:nvSpPr>
        <p:spPr>
          <a:xfrm>
            <a:off x="8467344" y="2715768"/>
            <a:ext cx="3044952" cy="4572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Provider quality across the county</a:t>
            </a:r>
            <a:endParaRPr lang="en-US" sz="1200" dirty="0"/>
          </a:p>
        </p:txBody>
      </p:sp>
      <p:sp>
        <p:nvSpPr>
          <p:cNvPr id="19" name="Text 16"/>
          <p:cNvSpPr/>
          <p:nvPr/>
        </p:nvSpPr>
        <p:spPr>
          <a:xfrm>
            <a:off x="640080" y="3383280"/>
            <a:ext cx="731520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Three stages, three tools</a:t>
            </a:r>
            <a:endParaRPr lang="en-US" sz="1600" dirty="0"/>
          </a:p>
        </p:txBody>
      </p:sp>
      <p:sp>
        <p:nvSpPr>
          <p:cNvPr id="20" name="Shape 17"/>
          <p:cNvSpPr/>
          <p:nvPr/>
        </p:nvSpPr>
        <p:spPr>
          <a:xfrm>
            <a:off x="640080"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1" name="Shape 18"/>
          <p:cNvSpPr/>
          <p:nvPr/>
        </p:nvSpPr>
        <p:spPr>
          <a:xfrm>
            <a:off x="896112" y="4014216"/>
            <a:ext cx="566928" cy="566928"/>
          </a:xfrm>
          <a:prstGeom prst="ellipse">
            <a:avLst/>
          </a:prstGeom>
          <a:solidFill>
            <a:srgbClr val="0E8C86"/>
          </a:solidFill>
          <a:ln/>
        </p:spPr>
      </p:sp>
      <p:pic>
        <p:nvPicPr>
          <p:cNvPr id="22" name="Image 1" descr="preencoded.png"/>
          <p:cNvPicPr>
            <a:picLocks noChangeAspect="1"/>
          </p:cNvPicPr>
          <p:nvPr/>
        </p:nvPicPr>
        <p:blipFill>
          <a:blip r:embed="rId4"/>
          <a:stretch>
            <a:fillRect/>
          </a:stretch>
        </p:blipFill>
        <p:spPr>
          <a:xfrm>
            <a:off x="1042416" y="4160520"/>
            <a:ext cx="274320" cy="274320"/>
          </a:xfrm>
          <a:prstGeom prst="rect">
            <a:avLst/>
          </a:prstGeom>
        </p:spPr>
      </p:pic>
      <p:sp>
        <p:nvSpPr>
          <p:cNvPr id="23" name="Text 19"/>
          <p:cNvSpPr/>
          <p:nvPr/>
        </p:nvSpPr>
        <p:spPr>
          <a:xfrm>
            <a:off x="1600200" y="4087368"/>
            <a:ext cx="2359152" cy="45720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1. Clean  —  Python</a:t>
            </a:r>
            <a:endParaRPr lang="en-US" sz="1400" dirty="0"/>
          </a:p>
        </p:txBody>
      </p:sp>
      <p:sp>
        <p:nvSpPr>
          <p:cNvPr id="24" name="Text 20"/>
          <p:cNvSpPr/>
          <p:nvPr/>
        </p:nvSpPr>
        <p:spPr>
          <a:xfrm>
            <a:off x="896112" y="4690872"/>
            <a:ext cx="2999232" cy="640080"/>
          </a:xfrm>
          <a:prstGeom prst="rect">
            <a:avLst/>
          </a:prstGeom>
          <a:noFill/>
          <a:ln/>
        </p:spPr>
        <p:txBody>
          <a:bodyPr wrap="square" rtlCol="0" anchor="ctr"/>
          <a:lstStyle/>
          <a:p>
            <a:pPr marL="0" indent="0">
              <a:lnSpc>
                <a:spcPts val="1250"/>
              </a:lnSpc>
              <a:buNone/>
            </a:pPr>
            <a:r>
              <a:rPr lang="en-GB" sz="1200" dirty="0">
                <a:solidFill>
                  <a:srgbClr val="64748B"/>
                </a:solidFill>
                <a:latin typeface="Calibri" pitchFamily="34" charset="0"/>
                <a:ea typeface="Calibri" pitchFamily="34" charset="-122"/>
                <a:cs typeface="Calibri" pitchFamily="34" charset="-120"/>
              </a:rPr>
              <a:t>Python cleaned the data and made sure all files used the same format</a:t>
            </a:r>
            <a:r>
              <a:rPr lang="en-US" sz="1200" dirty="0">
                <a:solidFill>
                  <a:srgbClr val="64748B"/>
                </a:solidFill>
                <a:latin typeface="Calibri" pitchFamily="34" charset="0"/>
                <a:ea typeface="Calibri" pitchFamily="34" charset="-122"/>
                <a:cs typeface="Calibri" pitchFamily="34" charset="-120"/>
              </a:rPr>
              <a:t>.</a:t>
            </a:r>
            <a:endParaRPr lang="en-US" sz="1200" dirty="0"/>
          </a:p>
        </p:txBody>
      </p:sp>
      <p:pic>
        <p:nvPicPr>
          <p:cNvPr id="25" name="Image 2" descr="preencoded.png"/>
          <p:cNvPicPr>
            <a:picLocks noChangeAspect="1"/>
          </p:cNvPicPr>
          <p:nvPr/>
        </p:nvPicPr>
        <p:blipFill>
          <a:blip r:embed="rId5"/>
          <a:stretch>
            <a:fillRect/>
          </a:stretch>
        </p:blipFill>
        <p:spPr>
          <a:xfrm>
            <a:off x="4169664" y="4453128"/>
            <a:ext cx="237744" cy="237744"/>
          </a:xfrm>
          <a:prstGeom prst="rect">
            <a:avLst/>
          </a:prstGeom>
        </p:spPr>
      </p:pic>
      <p:sp>
        <p:nvSpPr>
          <p:cNvPr id="26" name="Shape 21"/>
          <p:cNvSpPr/>
          <p:nvPr/>
        </p:nvSpPr>
        <p:spPr>
          <a:xfrm>
            <a:off x="4416552"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27" name="Shape 22"/>
          <p:cNvSpPr/>
          <p:nvPr/>
        </p:nvSpPr>
        <p:spPr>
          <a:xfrm>
            <a:off x="4672584" y="4014216"/>
            <a:ext cx="566928" cy="566928"/>
          </a:xfrm>
          <a:prstGeom prst="ellipse">
            <a:avLst/>
          </a:prstGeom>
          <a:solidFill>
            <a:srgbClr val="0E8C86"/>
          </a:solidFill>
          <a:ln/>
        </p:spPr>
      </p:sp>
      <p:pic>
        <p:nvPicPr>
          <p:cNvPr id="28" name="Image 3" descr="preencoded.png"/>
          <p:cNvPicPr>
            <a:picLocks noChangeAspect="1"/>
          </p:cNvPicPr>
          <p:nvPr/>
        </p:nvPicPr>
        <p:blipFill>
          <a:blip r:embed="rId6"/>
          <a:stretch>
            <a:fillRect/>
          </a:stretch>
        </p:blipFill>
        <p:spPr>
          <a:xfrm>
            <a:off x="4818888" y="4160520"/>
            <a:ext cx="274320" cy="274320"/>
          </a:xfrm>
          <a:prstGeom prst="rect">
            <a:avLst/>
          </a:prstGeom>
        </p:spPr>
      </p:pic>
      <p:sp>
        <p:nvSpPr>
          <p:cNvPr id="29" name="Text 23"/>
          <p:cNvSpPr/>
          <p:nvPr/>
        </p:nvSpPr>
        <p:spPr>
          <a:xfrm>
            <a:off x="5376672" y="4087368"/>
            <a:ext cx="2359152" cy="45720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2. Combine  —  SQL</a:t>
            </a:r>
            <a:endParaRPr lang="en-US" sz="1400" dirty="0"/>
          </a:p>
        </p:txBody>
      </p:sp>
      <p:sp>
        <p:nvSpPr>
          <p:cNvPr id="30" name="Text 24"/>
          <p:cNvSpPr/>
          <p:nvPr/>
        </p:nvSpPr>
        <p:spPr>
          <a:xfrm>
            <a:off x="4672584" y="4690872"/>
            <a:ext cx="2999232" cy="640080"/>
          </a:xfrm>
          <a:prstGeom prst="rect">
            <a:avLst/>
          </a:prstGeom>
          <a:noFill/>
          <a:ln/>
        </p:spPr>
        <p:txBody>
          <a:bodyPr wrap="square" rtlCol="0" anchor="ctr"/>
          <a:lstStyle/>
          <a:p>
            <a:pPr marL="0" indent="0">
              <a:lnSpc>
                <a:spcPts val="1250"/>
              </a:lnSpc>
              <a:buNone/>
            </a:pPr>
            <a:r>
              <a:rPr lang="en-GB" sz="1200" dirty="0">
                <a:solidFill>
                  <a:srgbClr val="64748B"/>
                </a:solidFill>
                <a:latin typeface="Calibri" pitchFamily="34" charset="0"/>
                <a:ea typeface="Calibri" pitchFamily="34" charset="-122"/>
                <a:cs typeface="Calibri" pitchFamily="34" charset="-120"/>
              </a:rPr>
              <a:t>SQL combined all three datasets into one reliable dataset.</a:t>
            </a:r>
            <a:endParaRPr lang="en-US" sz="1200" dirty="0"/>
          </a:p>
        </p:txBody>
      </p:sp>
      <p:pic>
        <p:nvPicPr>
          <p:cNvPr id="31" name="Image 4" descr="preencoded.png"/>
          <p:cNvPicPr>
            <a:picLocks noChangeAspect="1"/>
          </p:cNvPicPr>
          <p:nvPr/>
        </p:nvPicPr>
        <p:blipFill>
          <a:blip r:embed="rId5"/>
          <a:stretch>
            <a:fillRect/>
          </a:stretch>
        </p:blipFill>
        <p:spPr>
          <a:xfrm>
            <a:off x="7946136" y="4453128"/>
            <a:ext cx="237744" cy="237744"/>
          </a:xfrm>
          <a:prstGeom prst="rect">
            <a:avLst/>
          </a:prstGeom>
        </p:spPr>
      </p:pic>
      <p:sp>
        <p:nvSpPr>
          <p:cNvPr id="32" name="Shape 25"/>
          <p:cNvSpPr/>
          <p:nvPr/>
        </p:nvSpPr>
        <p:spPr>
          <a:xfrm>
            <a:off x="8193024" y="3794760"/>
            <a:ext cx="3502152" cy="1600200"/>
          </a:xfrm>
          <a:prstGeom prst="roundRect">
            <a:avLst>
              <a:gd name="adj" fmla="val 4571"/>
            </a:avLst>
          </a:prstGeom>
          <a:solidFill>
            <a:srgbClr val="FFFFFF"/>
          </a:solidFill>
          <a:ln w="12700">
            <a:solidFill>
              <a:srgbClr val="E2E8F0"/>
            </a:solidFill>
            <a:prstDash val="solid"/>
          </a:ln>
          <a:effectLst>
            <a:outerShdw blurRad="88900" dist="25400" dir="5400000" algn="bl" rotWithShape="0">
              <a:srgbClr val="000000">
                <a:alpha val="12000"/>
              </a:srgbClr>
            </a:outerShdw>
          </a:effectLst>
        </p:spPr>
      </p:sp>
      <p:sp>
        <p:nvSpPr>
          <p:cNvPr id="33" name="Shape 26"/>
          <p:cNvSpPr/>
          <p:nvPr/>
        </p:nvSpPr>
        <p:spPr>
          <a:xfrm>
            <a:off x="8449056" y="4014216"/>
            <a:ext cx="566928" cy="566928"/>
          </a:xfrm>
          <a:prstGeom prst="ellipse">
            <a:avLst/>
          </a:prstGeom>
          <a:solidFill>
            <a:srgbClr val="0E8C86"/>
          </a:solidFill>
          <a:ln/>
        </p:spPr>
      </p:sp>
      <p:pic>
        <p:nvPicPr>
          <p:cNvPr id="34" name="Image 5" descr="preencoded.png"/>
          <p:cNvPicPr>
            <a:picLocks noChangeAspect="1"/>
          </p:cNvPicPr>
          <p:nvPr/>
        </p:nvPicPr>
        <p:blipFill>
          <a:blip r:embed="rId7"/>
          <a:stretch>
            <a:fillRect/>
          </a:stretch>
        </p:blipFill>
        <p:spPr>
          <a:xfrm>
            <a:off x="8595360" y="4160520"/>
            <a:ext cx="274320" cy="274320"/>
          </a:xfrm>
          <a:prstGeom prst="rect">
            <a:avLst/>
          </a:prstGeom>
        </p:spPr>
      </p:pic>
      <p:sp>
        <p:nvSpPr>
          <p:cNvPr id="35" name="Text 27"/>
          <p:cNvSpPr/>
          <p:nvPr/>
        </p:nvSpPr>
        <p:spPr>
          <a:xfrm>
            <a:off x="9153144" y="4087368"/>
            <a:ext cx="2359152" cy="457200"/>
          </a:xfrm>
          <a:prstGeom prst="rect">
            <a:avLst/>
          </a:prstGeom>
          <a:noFill/>
          <a:ln/>
        </p:spPr>
        <p:txBody>
          <a:bodyPr wrap="square" rtlCol="0" anchor="ctr"/>
          <a:lstStyle/>
          <a:p>
            <a:pPr marL="0" indent="0">
              <a:lnSpc>
                <a:spcPts val="1500"/>
              </a:lnSpc>
              <a:buNone/>
            </a:pPr>
            <a:r>
              <a:rPr lang="en-US" sz="1400" b="1" dirty="0">
                <a:solidFill>
                  <a:srgbClr val="17233D"/>
                </a:solidFill>
                <a:latin typeface="Calibri" pitchFamily="34" charset="0"/>
                <a:ea typeface="Calibri" pitchFamily="34" charset="-122"/>
                <a:cs typeface="Calibri" pitchFamily="34" charset="-120"/>
              </a:rPr>
              <a:t>3. Display  —  Power BI</a:t>
            </a:r>
            <a:endParaRPr lang="en-US" sz="1400" dirty="0"/>
          </a:p>
        </p:txBody>
      </p:sp>
      <p:sp>
        <p:nvSpPr>
          <p:cNvPr id="36" name="Text 28"/>
          <p:cNvSpPr/>
          <p:nvPr/>
        </p:nvSpPr>
        <p:spPr>
          <a:xfrm>
            <a:off x="8449056" y="4690872"/>
            <a:ext cx="2999232" cy="640080"/>
          </a:xfrm>
          <a:prstGeom prst="rect">
            <a:avLst/>
          </a:prstGeom>
          <a:noFill/>
          <a:ln/>
        </p:spPr>
        <p:txBody>
          <a:bodyPr wrap="square" rtlCol="0" anchor="ctr"/>
          <a:lstStyle/>
          <a:p>
            <a:pPr marL="0" indent="0">
              <a:lnSpc>
                <a:spcPts val="1250"/>
              </a:lnSpc>
              <a:buNone/>
            </a:pPr>
            <a:r>
              <a:rPr lang="en-US" sz="1200" dirty="0">
                <a:solidFill>
                  <a:srgbClr val="64748B"/>
                </a:solidFill>
                <a:latin typeface="Calibri" pitchFamily="34" charset="0"/>
                <a:ea typeface="Calibri" pitchFamily="34" charset="-122"/>
                <a:cs typeface="Calibri" pitchFamily="34" charset="-120"/>
              </a:rPr>
              <a:t>Power BI turned the combined, clean data into the interactive charts, maps and filters.</a:t>
            </a:r>
            <a:endParaRPr lang="en-US" sz="1200" dirty="0"/>
          </a:p>
        </p:txBody>
      </p:sp>
      <p:sp>
        <p:nvSpPr>
          <p:cNvPr id="37" name="Shape 29"/>
          <p:cNvSpPr/>
          <p:nvPr/>
        </p:nvSpPr>
        <p:spPr>
          <a:xfrm>
            <a:off x="640080" y="5532120"/>
            <a:ext cx="10927080" cy="777240"/>
          </a:xfrm>
          <a:prstGeom prst="roundRect">
            <a:avLst>
              <a:gd name="adj" fmla="val 7059"/>
            </a:avLst>
          </a:prstGeom>
          <a:solidFill>
            <a:srgbClr val="DCEEEC"/>
          </a:solidFill>
          <a:ln/>
        </p:spPr>
      </p:sp>
      <p:pic>
        <p:nvPicPr>
          <p:cNvPr id="38" name="Image 6" descr="preencoded.png"/>
          <p:cNvPicPr>
            <a:picLocks noChangeAspect="1"/>
          </p:cNvPicPr>
          <p:nvPr/>
        </p:nvPicPr>
        <p:blipFill>
          <a:blip r:embed="rId8"/>
          <a:stretch>
            <a:fillRect/>
          </a:stretch>
        </p:blipFill>
        <p:spPr>
          <a:xfrm>
            <a:off x="914400" y="5742432"/>
            <a:ext cx="310896" cy="310896"/>
          </a:xfrm>
          <a:prstGeom prst="rect">
            <a:avLst/>
          </a:prstGeom>
        </p:spPr>
      </p:pic>
      <p:sp>
        <p:nvSpPr>
          <p:cNvPr id="39" name="Text 30"/>
          <p:cNvSpPr/>
          <p:nvPr/>
        </p:nvSpPr>
        <p:spPr>
          <a:xfrm>
            <a:off x="1417320" y="5614416"/>
            <a:ext cx="9875520" cy="685800"/>
          </a:xfrm>
          <a:prstGeom prst="rect">
            <a:avLst/>
          </a:prstGeom>
          <a:noFill/>
          <a:ln/>
        </p:spPr>
        <p:txBody>
          <a:bodyPr wrap="square" rtlCol="0" anchor="ctr"/>
          <a:lstStyle/>
          <a:p>
            <a:pPr marL="0" indent="0">
              <a:lnSpc>
                <a:spcPts val="1500"/>
              </a:lnSpc>
              <a:buNone/>
            </a:pPr>
            <a:r>
              <a:rPr lang="en-US" sz="1200" b="1" i="1" dirty="0">
                <a:solidFill>
                  <a:srgbClr val="0A6B66"/>
                </a:solidFill>
                <a:latin typeface="Calibri" pitchFamily="34" charset="0"/>
                <a:ea typeface="Calibri" pitchFamily="34" charset="-122"/>
                <a:cs typeface="Calibri" pitchFamily="34" charset="-120"/>
              </a:rPr>
              <a:t>Nothing personal in this data:  </a:t>
            </a:r>
            <a:r>
              <a:rPr lang="en-US" sz="1200" i="1" dirty="0">
                <a:solidFill>
                  <a:srgbClr val="27455C"/>
                </a:solidFill>
                <a:latin typeface="Calibri" pitchFamily="34" charset="0"/>
                <a:ea typeface="Calibri" pitchFamily="34" charset="-122"/>
                <a:cs typeface="Calibri" pitchFamily="34" charset="-120"/>
              </a:rPr>
              <a:t>Every source here is public and already totalled up, so no individual is identifiable anywhere in this build. I'd bring that same care around GDPR and Freedom of Information requests to the real, person-level data this role works with.</a:t>
            </a:r>
            <a:endParaRPr lang="en-US" sz="1200" dirty="0"/>
          </a:p>
        </p:txBody>
      </p:sp>
      <p:sp>
        <p:nvSpPr>
          <p:cNvPr id="40" name="Text 31"/>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sp>
        <p:nvSpPr>
          <p:cNvPr id="41" name="Text 32"/>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1  |  Demand: An ageing county</a:t>
            </a:r>
            <a:endParaRPr lang="en-US" sz="2500" dirty="0"/>
          </a:p>
        </p:txBody>
      </p:sp>
      <p:pic>
        <p:nvPicPr>
          <p:cNvPr id="6" name="Image 1" descr="/home/claude/screenshots_v2/demand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800100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Straight from the live dashboard</a:t>
            </a:r>
            <a:endParaRPr lang="en-US" sz="1400" dirty="0"/>
          </a:p>
        </p:txBody>
      </p:sp>
      <p:pic>
        <p:nvPicPr>
          <p:cNvPr id="9" name="Image 2" descr="preencoded.png"/>
          <p:cNvPicPr>
            <a:picLocks noChangeAspect="1"/>
          </p:cNvPicPr>
          <p:nvPr/>
        </p:nvPicPr>
        <p:blipFill>
          <a:blip r:embed="rId5"/>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24.1% today</a:t>
            </a:r>
            <a:endParaRPr lang="en-US" sz="1400" dirty="0"/>
          </a:p>
        </p:txBody>
      </p:sp>
      <p:sp>
        <p:nvSpPr>
          <p:cNvPr id="11" name="Text 6"/>
          <p:cNvSpPr/>
          <p:nvPr/>
        </p:nvSpPr>
        <p:spPr>
          <a:xfrm>
            <a:off x="8385048" y="2276856"/>
            <a:ext cx="3154680" cy="685800"/>
          </a:xfrm>
          <a:prstGeom prst="rect">
            <a:avLst/>
          </a:prstGeom>
          <a:noFill/>
          <a:ln/>
        </p:spPr>
        <p:txBody>
          <a:bodyPr wrap="square" rtlCol="0" anchor="ctr"/>
          <a:lstStyle/>
          <a:p>
            <a:pPr marL="0" indent="0">
              <a:lnSpc>
                <a:spcPts val="1400"/>
              </a:lnSpc>
              <a:buNone/>
            </a:pPr>
            <a:r>
              <a:rPr lang="en-US" sz="1200" dirty="0">
                <a:solidFill>
                  <a:srgbClr val="64748B"/>
                </a:solidFill>
                <a:latin typeface="Calibri" pitchFamily="34" charset="0"/>
                <a:ea typeface="Calibri" pitchFamily="34" charset="-122"/>
                <a:cs typeface="Calibri" pitchFamily="34" charset="-120"/>
              </a:rPr>
              <a:t>Lincolnshire's 65+ share, already well above England's 18.5%.</a:t>
            </a:r>
            <a:endParaRPr lang="en-US" sz="1200" dirty="0"/>
          </a:p>
        </p:txBody>
      </p:sp>
      <p:pic>
        <p:nvPicPr>
          <p:cNvPr id="12" name="Image 3" descr="preencoded.png"/>
          <p:cNvPicPr>
            <a:picLocks noChangeAspect="1"/>
          </p:cNvPicPr>
          <p:nvPr/>
        </p:nvPicPr>
        <p:blipFill>
          <a:blip r:embed="rId5"/>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26.7% by 2030</a:t>
            </a:r>
            <a:endParaRPr lang="en-US" sz="1400" dirty="0"/>
          </a:p>
        </p:txBody>
      </p:sp>
      <p:sp>
        <p:nvSpPr>
          <p:cNvPr id="14" name="Text 8"/>
          <p:cNvSpPr/>
          <p:nvPr/>
        </p:nvSpPr>
        <p:spPr>
          <a:xfrm>
            <a:off x="8385048" y="3419856"/>
            <a:ext cx="3154680" cy="685800"/>
          </a:xfrm>
          <a:prstGeom prst="rect">
            <a:avLst/>
          </a:prstGeom>
          <a:noFill/>
          <a:ln/>
        </p:spPr>
        <p:txBody>
          <a:bodyPr wrap="square" rtlCol="0" anchor="ctr"/>
          <a:lstStyle/>
          <a:p>
            <a:pPr>
              <a:lnSpc>
                <a:spcPts val="1400"/>
              </a:lnSpc>
            </a:pPr>
            <a:r>
              <a:rPr lang="en-US" sz="1200" dirty="0">
                <a:solidFill>
                  <a:srgbClr val="64748B"/>
                </a:solidFill>
                <a:latin typeface="Calibri" pitchFamily="34" charset="0"/>
                <a:ea typeface="Calibri" pitchFamily="34" charset="-122"/>
                <a:cs typeface="Calibri" pitchFamily="34" charset="-120"/>
              </a:rPr>
              <a:t>ONS projects the share itself keeps climbing, not just the headcount.</a:t>
            </a:r>
          </a:p>
        </p:txBody>
      </p:sp>
      <p:pic>
        <p:nvPicPr>
          <p:cNvPr id="15" name="Image 4" descr="preencoded.png"/>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Click a district to explore it</a:t>
            </a:r>
            <a:endParaRPr lang="en-US" sz="1400" dirty="0"/>
          </a:p>
        </p:txBody>
      </p:sp>
      <p:sp>
        <p:nvSpPr>
          <p:cNvPr id="17" name="Text 10"/>
          <p:cNvSpPr/>
          <p:nvPr/>
        </p:nvSpPr>
        <p:spPr>
          <a:xfrm>
            <a:off x="8385048" y="4562856"/>
            <a:ext cx="3154680" cy="685800"/>
          </a:xfrm>
          <a:prstGeom prst="rect">
            <a:avLst/>
          </a:prstGeom>
          <a:noFill/>
          <a:ln/>
        </p:spPr>
        <p:txBody>
          <a:bodyPr wrap="square" rtlCol="0" anchor="ctr"/>
          <a:lstStyle/>
          <a:p>
            <a:pPr indent="0">
              <a:lnSpc>
                <a:spcPts val="1400"/>
              </a:lnSpc>
              <a:buNone/>
            </a:pPr>
            <a:r>
              <a:rPr lang="en-US" sz="1200" dirty="0">
                <a:solidFill>
                  <a:srgbClr val="64748B"/>
                </a:solidFill>
                <a:latin typeface="Calibri" pitchFamily="34" charset="0"/>
                <a:ea typeface="Calibri" pitchFamily="34" charset="-122"/>
                <a:cs typeface="Calibri" pitchFamily="34" charset="-120"/>
              </a:rPr>
              <a:t>See any of the 7 districts on its own, without leaving the page.</a:t>
            </a:r>
          </a:p>
        </p:txBody>
      </p:sp>
      <p:sp>
        <p:nvSpPr>
          <p:cNvPr id="18" name="Shape 11"/>
          <p:cNvSpPr/>
          <p:nvPr/>
        </p:nvSpPr>
        <p:spPr>
          <a:xfrm>
            <a:off x="640079" y="5532120"/>
            <a:ext cx="10927080" cy="777240"/>
          </a:xfrm>
          <a:prstGeom prst="roundRect">
            <a:avLst>
              <a:gd name="adj" fmla="val 7059"/>
            </a:avLst>
          </a:prstGeom>
          <a:solidFill>
            <a:srgbClr val="DCEEEC"/>
          </a:solidFill>
          <a:ln/>
        </p:spPr>
      </p:sp>
      <p:sp>
        <p:nvSpPr>
          <p:cNvPr id="20" name="Text 12"/>
          <p:cNvSpPr/>
          <p:nvPr/>
        </p:nvSpPr>
        <p:spPr>
          <a:xfrm>
            <a:off x="1417320" y="5577840"/>
            <a:ext cx="9875520" cy="685800"/>
          </a:xfrm>
          <a:prstGeom prst="rect">
            <a:avLst/>
          </a:prstGeom>
          <a:noFill/>
          <a:ln/>
        </p:spPr>
        <p:txBody>
          <a:bodyPr wrap="square" rtlCol="0" anchor="ctr"/>
          <a:lstStyle/>
          <a:p>
            <a:pPr marL="0" indent="0">
              <a:lnSpc>
                <a:spcPts val="1450"/>
              </a:lnSpc>
              <a:buNone/>
            </a:pPr>
            <a:r>
              <a:rPr lang="en-US" sz="1200" b="1" i="1" dirty="0">
                <a:solidFill>
                  <a:srgbClr val="0A6B66"/>
                </a:solidFill>
                <a:latin typeface="Calibri" pitchFamily="34" charset="0"/>
                <a:ea typeface="Calibri" pitchFamily="34" charset="-122"/>
                <a:cs typeface="Calibri" pitchFamily="34" charset="-120"/>
              </a:rPr>
              <a:t>Why this matters: </a:t>
            </a:r>
            <a:r>
              <a:rPr lang="en-GB" sz="1200" i="1" dirty="0">
                <a:solidFill>
                  <a:srgbClr val="27455C"/>
                </a:solidFill>
                <a:latin typeface="Calibri" pitchFamily="34" charset="0"/>
                <a:ea typeface="Calibri" pitchFamily="34" charset="-122"/>
                <a:cs typeface="Calibri" pitchFamily="34" charset="-120"/>
              </a:rPr>
              <a:t>The proportion of people aged 65+ in Lincolnshire is already higher than the national average and is expected to increase from 24.1% today to 26.7% by 2030</a:t>
            </a:r>
            <a:r>
              <a:rPr lang="en-US" sz="1200" i="1" dirty="0">
                <a:solidFill>
                  <a:srgbClr val="27455C"/>
                </a:solidFill>
                <a:latin typeface="Calibri" pitchFamily="34" charset="0"/>
                <a:ea typeface="Calibri" pitchFamily="34" charset="-122"/>
                <a:cs typeface="Calibri" pitchFamily="34" charset="-120"/>
              </a:rPr>
              <a:t>. </a:t>
            </a:r>
            <a:r>
              <a:rPr lang="en-GB" sz="1200" i="1" dirty="0">
                <a:solidFill>
                  <a:srgbClr val="27455C"/>
                </a:solidFill>
                <a:latin typeface="Calibri" pitchFamily="34" charset="0"/>
                <a:ea typeface="Calibri" pitchFamily="34" charset="-122"/>
                <a:cs typeface="Calibri" pitchFamily="34" charset="-120"/>
              </a:rPr>
              <a:t>This page helps managers understand how future demand for Adult Social Care is likely to change.</a:t>
            </a:r>
            <a:endParaRPr lang="en-US" sz="1200" i="1" dirty="0">
              <a:solidFill>
                <a:srgbClr val="27455C"/>
              </a:solidFill>
              <a:latin typeface="Calibri" pitchFamily="34" charset="0"/>
              <a:ea typeface="Calibri" pitchFamily="34" charset="-122"/>
              <a:cs typeface="Calibri" pitchFamily="34" charset="-120"/>
            </a:endParaRPr>
          </a:p>
        </p:txBody>
      </p:sp>
      <p:sp>
        <p:nvSpPr>
          <p:cNvPr id="21" name="Text 13"/>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
        <p:nvSpPr>
          <p:cNvPr id="22" name="Text 14"/>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24" name="Image 2" descr="preencoded.png">
            <a:extLst>
              <a:ext uri="{FF2B5EF4-FFF2-40B4-BE49-F238E27FC236}">
                <a16:creationId xmlns:a16="http://schemas.microsoft.com/office/drawing/2014/main" id="{8B3A5663-1140-4355-4EA6-D51E6C76B223}"/>
              </a:ext>
            </a:extLst>
          </p:cNvPr>
          <p:cNvPicPr>
            <a:picLocks noChangeAspect="1"/>
          </p:cNvPicPr>
          <p:nvPr/>
        </p:nvPicPr>
        <p:blipFill>
          <a:blip r:embed="rId6"/>
          <a:stretch>
            <a:fillRect/>
          </a:stretch>
        </p:blipFill>
        <p:spPr>
          <a:xfrm>
            <a:off x="786384" y="662940"/>
            <a:ext cx="274320" cy="274320"/>
          </a:xfrm>
          <a:prstGeom prst="rect">
            <a:avLst/>
          </a:prstGeom>
        </p:spPr>
      </p:pic>
      <p:pic>
        <p:nvPicPr>
          <p:cNvPr id="25" name="Image 6" descr="preencoded.png">
            <a:extLst>
              <a:ext uri="{FF2B5EF4-FFF2-40B4-BE49-F238E27FC236}">
                <a16:creationId xmlns:a16="http://schemas.microsoft.com/office/drawing/2014/main" id="{B5484226-F117-13F1-7223-3B0FE9D3E6EE}"/>
              </a:ext>
            </a:extLst>
          </p:cNvPr>
          <p:cNvPicPr>
            <a:picLocks noChangeAspect="1"/>
          </p:cNvPicPr>
          <p:nvPr/>
        </p:nvPicPr>
        <p:blipFill>
          <a:blip r:embed="rId5"/>
          <a:stretch>
            <a:fillRect/>
          </a:stretch>
        </p:blipFill>
        <p:spPr>
          <a:xfrm>
            <a:off x="914400" y="5742432"/>
            <a:ext cx="310896" cy="31089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2  |  Outcomes: Lincolnshire vs England</a:t>
            </a:r>
            <a:endParaRPr lang="en-US" sz="2500" dirty="0"/>
          </a:p>
        </p:txBody>
      </p:sp>
      <p:pic>
        <p:nvPicPr>
          <p:cNvPr id="6" name="Image 1" descr="/home/claude/screenshots_v2/outcomes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Text 4"/>
          <p:cNvSpPr/>
          <p:nvPr/>
        </p:nvSpPr>
        <p:spPr>
          <a:xfrm>
            <a:off x="797814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What this page shows</a:t>
            </a:r>
            <a:endParaRPr lang="en-US" sz="1400" dirty="0"/>
          </a:p>
        </p:txBody>
      </p:sp>
      <p:pic>
        <p:nvPicPr>
          <p:cNvPr id="9" name="Image 2" descr="preencoded.png"/>
          <p:cNvPicPr>
            <a:picLocks noChangeAspect="1"/>
          </p:cNvPicPr>
          <p:nvPr/>
        </p:nvPicPr>
        <p:blipFill>
          <a:blip r:embed="rId5"/>
          <a:stretch>
            <a:fillRect/>
          </a:stretch>
        </p:blipFill>
        <p:spPr>
          <a:xfrm>
            <a:off x="8001000" y="1984248"/>
            <a:ext cx="274320" cy="274320"/>
          </a:xfrm>
          <a:prstGeom prst="rect">
            <a:avLst/>
          </a:prstGeom>
        </p:spPr>
      </p:pic>
      <p:sp>
        <p:nvSpPr>
          <p:cNvPr id="10" name="Text 5"/>
          <p:cNvSpPr/>
          <p:nvPr/>
        </p:nvSpPr>
        <p:spPr>
          <a:xfrm>
            <a:off x="8385048" y="1965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Key Findings</a:t>
            </a:r>
            <a:endParaRPr lang="en-US" sz="1400" dirty="0"/>
          </a:p>
        </p:txBody>
      </p:sp>
      <p:sp>
        <p:nvSpPr>
          <p:cNvPr id="11" name="Text 6"/>
          <p:cNvSpPr/>
          <p:nvPr/>
        </p:nvSpPr>
        <p:spPr>
          <a:xfrm>
            <a:off x="8385048" y="2276856"/>
            <a:ext cx="3154680" cy="68580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Ahead of England on reablement and safeguarding. </a:t>
            </a:r>
            <a:r>
              <a:rPr lang="en-GB" sz="1200" dirty="0">
                <a:solidFill>
                  <a:srgbClr val="64748B"/>
                </a:solidFill>
                <a:latin typeface="Calibri" pitchFamily="34" charset="0"/>
                <a:ea typeface="Calibri" pitchFamily="34" charset="-122"/>
                <a:cs typeface="Calibri" pitchFamily="34" charset="-120"/>
              </a:rPr>
              <a:t>Behind England on staff turnover and on admissions to care for 18–64-year-olds</a:t>
            </a:r>
            <a:r>
              <a:rPr lang="en-US" sz="1200" dirty="0">
                <a:solidFill>
                  <a:srgbClr val="64748B"/>
                </a:solidFill>
                <a:latin typeface="Calibri" pitchFamily="34" charset="0"/>
                <a:ea typeface="Calibri" pitchFamily="34" charset="-122"/>
                <a:cs typeface="Calibri" pitchFamily="34" charset="-120"/>
              </a:rPr>
              <a:t>.</a:t>
            </a:r>
            <a:endParaRPr lang="en-US" sz="1200" dirty="0"/>
          </a:p>
        </p:txBody>
      </p:sp>
      <p:pic>
        <p:nvPicPr>
          <p:cNvPr id="12" name="Image 3" descr="preencoded.png"/>
          <p:cNvPicPr>
            <a:picLocks noChangeAspect="1"/>
          </p:cNvPicPr>
          <p:nvPr/>
        </p:nvPicPr>
        <p:blipFill>
          <a:blip r:embed="rId5"/>
          <a:stretch>
            <a:fillRect/>
          </a:stretch>
        </p:blipFill>
        <p:spPr>
          <a:xfrm>
            <a:off x="8001000" y="3127248"/>
            <a:ext cx="274320" cy="274320"/>
          </a:xfrm>
          <a:prstGeom prst="rect">
            <a:avLst/>
          </a:prstGeom>
        </p:spPr>
      </p:pic>
      <p:sp>
        <p:nvSpPr>
          <p:cNvPr id="13" name="Text 7"/>
          <p:cNvSpPr/>
          <p:nvPr/>
        </p:nvSpPr>
        <p:spPr>
          <a:xfrm>
            <a:off x="8385048" y="3108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Fair comparisons, not just numbers</a:t>
            </a:r>
            <a:endParaRPr lang="en-US" sz="1400" dirty="0"/>
          </a:p>
        </p:txBody>
      </p:sp>
      <p:sp>
        <p:nvSpPr>
          <p:cNvPr id="14" name="Text 8"/>
          <p:cNvSpPr/>
          <p:nvPr/>
        </p:nvSpPr>
        <p:spPr>
          <a:xfrm>
            <a:off x="8385048" y="3419856"/>
            <a:ext cx="3154680" cy="685800"/>
          </a:xfrm>
          <a:prstGeom prst="rect">
            <a:avLst/>
          </a:prstGeom>
          <a:noFill/>
          <a:ln/>
        </p:spPr>
        <p:txBody>
          <a:bodyPr wrap="square" rtlCol="0" anchor="ctr"/>
          <a:lstStyle/>
          <a:p>
            <a:pPr>
              <a:lnSpc>
                <a:spcPts val="1350"/>
              </a:lnSpc>
            </a:pPr>
            <a:r>
              <a:rPr lang="en-US" sz="1200" dirty="0">
                <a:solidFill>
                  <a:srgbClr val="64748B"/>
                </a:solidFill>
                <a:latin typeface="Calibri" pitchFamily="34" charset="0"/>
                <a:ea typeface="Calibri" pitchFamily="34" charset="-122"/>
                <a:cs typeface="Calibri" pitchFamily="34" charset="-120"/>
              </a:rPr>
              <a:t>Every measure sits right next to England's figure, so it's obvious whether we're ahead or behind.</a:t>
            </a:r>
          </a:p>
        </p:txBody>
      </p:sp>
      <p:pic>
        <p:nvPicPr>
          <p:cNvPr id="15" name="Image 4" descr="preencoded.png"/>
          <p:cNvPicPr>
            <a:picLocks noChangeAspect="1"/>
          </p:cNvPicPr>
          <p:nvPr/>
        </p:nvPicPr>
        <p:blipFill>
          <a:blip r:embed="rId5"/>
          <a:stretch>
            <a:fillRect/>
          </a:stretch>
        </p:blipFill>
        <p:spPr>
          <a:xfrm>
            <a:off x="8001000" y="4270248"/>
            <a:ext cx="274320" cy="274320"/>
          </a:xfrm>
          <a:prstGeom prst="rect">
            <a:avLst/>
          </a:prstGeom>
        </p:spPr>
      </p:pic>
      <p:sp>
        <p:nvSpPr>
          <p:cNvPr id="16" name="Text 9"/>
          <p:cNvSpPr/>
          <p:nvPr/>
        </p:nvSpPr>
        <p:spPr>
          <a:xfrm>
            <a:off x="8385048" y="4251960"/>
            <a:ext cx="310896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Explore Individual Measures</a:t>
            </a:r>
            <a:endParaRPr lang="en-US" sz="1400" dirty="0"/>
          </a:p>
        </p:txBody>
      </p:sp>
      <p:sp>
        <p:nvSpPr>
          <p:cNvPr id="17" name="Text 10"/>
          <p:cNvSpPr/>
          <p:nvPr/>
        </p:nvSpPr>
        <p:spPr>
          <a:xfrm>
            <a:off x="8385048" y="4562856"/>
            <a:ext cx="3154680" cy="685800"/>
          </a:xfrm>
          <a:prstGeom prst="rect">
            <a:avLst/>
          </a:prstGeom>
          <a:noFill/>
          <a:ln/>
        </p:spPr>
        <p:txBody>
          <a:bodyPr wrap="square" rtlCol="0" anchor="ctr"/>
          <a:lstStyle/>
          <a:p>
            <a:pPr indent="0">
              <a:lnSpc>
                <a:spcPts val="1350"/>
              </a:lnSpc>
              <a:buNone/>
            </a:pPr>
            <a:r>
              <a:rPr lang="en-US" sz="1200" dirty="0">
                <a:solidFill>
                  <a:srgbClr val="64748B"/>
                </a:solidFill>
                <a:latin typeface="Calibri" pitchFamily="34" charset="0"/>
                <a:ea typeface="Calibri" pitchFamily="34" charset="-122"/>
                <a:cs typeface="Calibri" pitchFamily="34" charset="-120"/>
              </a:rPr>
              <a:t>Choose any one measure and both charts update to show just that comparison.</a:t>
            </a:r>
          </a:p>
        </p:txBody>
      </p:sp>
      <p:sp>
        <p:nvSpPr>
          <p:cNvPr id="18" name="Shape 11"/>
          <p:cNvSpPr/>
          <p:nvPr/>
        </p:nvSpPr>
        <p:spPr>
          <a:xfrm>
            <a:off x="640080" y="5532120"/>
            <a:ext cx="10927080" cy="777240"/>
          </a:xfrm>
          <a:prstGeom prst="roundRect">
            <a:avLst>
              <a:gd name="adj" fmla="val 7059"/>
            </a:avLst>
          </a:prstGeom>
          <a:solidFill>
            <a:srgbClr val="DCEEEC"/>
          </a:solidFill>
          <a:ln/>
        </p:spPr>
      </p:sp>
      <p:sp>
        <p:nvSpPr>
          <p:cNvPr id="19" name="Text 12"/>
          <p:cNvSpPr/>
          <p:nvPr/>
        </p:nvSpPr>
        <p:spPr>
          <a:xfrm>
            <a:off x="1417320" y="5596128"/>
            <a:ext cx="9874057" cy="685800"/>
          </a:xfrm>
          <a:prstGeom prst="rect">
            <a:avLst/>
          </a:prstGeom>
          <a:noFill/>
          <a:ln/>
        </p:spPr>
        <p:txBody>
          <a:bodyPr wrap="square" rtlCol="0" anchor="ctr"/>
          <a:lstStyle/>
          <a:p>
            <a:pPr marL="0" indent="0">
              <a:lnSpc>
                <a:spcPts val="1400"/>
              </a:lnSpc>
              <a:buNone/>
            </a:pPr>
            <a:r>
              <a:rPr lang="en-US" sz="1200" b="1" i="1" dirty="0">
                <a:solidFill>
                  <a:srgbClr val="0A6B66"/>
                </a:solidFill>
                <a:latin typeface="Calibri" pitchFamily="34" charset="0"/>
                <a:ea typeface="Calibri" pitchFamily="34" charset="-122"/>
                <a:cs typeface="Calibri" pitchFamily="34" charset="-120"/>
              </a:rPr>
              <a:t>Understanding the data:  </a:t>
            </a:r>
            <a:r>
              <a:rPr lang="en-US" sz="1200" i="1" dirty="0">
                <a:solidFill>
                  <a:srgbClr val="334155"/>
                </a:solidFill>
                <a:latin typeface="Calibri" pitchFamily="34" charset="0"/>
                <a:ea typeface="Calibri" pitchFamily="34" charset="-122"/>
                <a:cs typeface="Calibri" pitchFamily="34" charset="-120"/>
              </a:rPr>
              <a:t>These 2024/25 measures come from the new client-level dataset (CLD), which replaced SALT from April 2024, so they should not be compared with pre-2024 figures. Self-funders are not captured, which most affects wealthier areas.</a:t>
            </a:r>
            <a:endParaRPr lang="en-US" sz="1200" dirty="0"/>
          </a:p>
        </p:txBody>
      </p:sp>
      <p:sp>
        <p:nvSpPr>
          <p:cNvPr id="20" name="Text 13"/>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
        <p:nvSpPr>
          <p:cNvPr id="21" name="Text 14"/>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23" name="Image 6" descr="preencoded.png">
            <a:extLst>
              <a:ext uri="{FF2B5EF4-FFF2-40B4-BE49-F238E27FC236}">
                <a16:creationId xmlns:a16="http://schemas.microsoft.com/office/drawing/2014/main" id="{56D75ECA-C25B-6628-A3D4-2EE07B114045}"/>
              </a:ext>
            </a:extLst>
          </p:cNvPr>
          <p:cNvPicPr>
            <a:picLocks noChangeAspect="1"/>
          </p:cNvPicPr>
          <p:nvPr/>
        </p:nvPicPr>
        <p:blipFill>
          <a:blip r:embed="rId5"/>
          <a:stretch>
            <a:fillRect/>
          </a:stretch>
        </p:blipFill>
        <p:spPr>
          <a:xfrm>
            <a:off x="914400" y="5742432"/>
            <a:ext cx="310896" cy="31089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03  THE DASHBOARD</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Page 3  |  Care provider quality across the county</a:t>
            </a:r>
            <a:endParaRPr lang="en-US" sz="2500" dirty="0"/>
          </a:p>
        </p:txBody>
      </p:sp>
      <p:pic>
        <p:nvPicPr>
          <p:cNvPr id="6" name="Image 1" descr="/home/claude/screenshots_v2/providers_v2.png"/>
          <p:cNvPicPr>
            <a:picLocks noChangeAspect="1"/>
          </p:cNvPicPr>
          <p:nvPr/>
        </p:nvPicPr>
        <p:blipFill>
          <a:blip r:embed="rId4"/>
          <a:srcRect/>
          <a:stretch/>
        </p:blipFill>
        <p:spPr>
          <a:xfrm>
            <a:off x="640080" y="1417320"/>
            <a:ext cx="7132320" cy="4041648"/>
          </a:xfrm>
          <a:prstGeom prst="rect">
            <a:avLst/>
          </a:prstGeom>
        </p:spPr>
      </p:pic>
      <p:sp>
        <p:nvSpPr>
          <p:cNvPr id="7" name="Shape 3"/>
          <p:cNvSpPr/>
          <p:nvPr/>
        </p:nvSpPr>
        <p:spPr>
          <a:xfrm>
            <a:off x="640080" y="1417320"/>
            <a:ext cx="7132320" cy="4041648"/>
          </a:xfrm>
          <a:prstGeom prst="rect">
            <a:avLst/>
          </a:prstGeom>
          <a:ln w="12700">
            <a:solidFill>
              <a:srgbClr val="E2E8F0"/>
            </a:solidFill>
            <a:prstDash val="solid"/>
          </a:ln>
        </p:spPr>
      </p:sp>
      <p:sp>
        <p:nvSpPr>
          <p:cNvPr id="8" name="Shape 4"/>
          <p:cNvSpPr/>
          <p:nvPr/>
        </p:nvSpPr>
        <p:spPr>
          <a:xfrm>
            <a:off x="640080" y="5532120"/>
            <a:ext cx="10927080" cy="777240"/>
          </a:xfrm>
          <a:prstGeom prst="roundRect">
            <a:avLst>
              <a:gd name="adj" fmla="val 8000"/>
            </a:avLst>
          </a:prstGeom>
          <a:solidFill>
            <a:srgbClr val="DCEEEC"/>
          </a:solidFill>
          <a:ln/>
        </p:spPr>
        <p:txBody>
          <a:bodyPr/>
          <a:lstStyle/>
          <a:p>
            <a:endParaRPr lang="en-GB" dirty="0"/>
          </a:p>
        </p:txBody>
      </p:sp>
      <p:sp>
        <p:nvSpPr>
          <p:cNvPr id="9" name="Text 5"/>
          <p:cNvSpPr/>
          <p:nvPr/>
        </p:nvSpPr>
        <p:spPr>
          <a:xfrm>
            <a:off x="1417320" y="5532120"/>
            <a:ext cx="9860280" cy="685800"/>
          </a:xfrm>
          <a:prstGeom prst="rect">
            <a:avLst/>
          </a:prstGeom>
          <a:noFill/>
          <a:ln/>
        </p:spPr>
        <p:txBody>
          <a:bodyPr wrap="square" rtlCol="0" anchor="ctr"/>
          <a:lstStyle/>
          <a:p>
            <a:pPr marL="0" indent="0">
              <a:buNone/>
            </a:pPr>
            <a:r>
              <a:rPr lang="en-US" sz="1600" b="1" i="1" dirty="0">
                <a:solidFill>
                  <a:srgbClr val="0A6B66"/>
                </a:solidFill>
                <a:latin typeface="Calibri" pitchFamily="34" charset="0"/>
                <a:ea typeface="Calibri" pitchFamily="34" charset="-122"/>
                <a:cs typeface="Calibri" pitchFamily="34" charset="-120"/>
              </a:rPr>
              <a:t>259 rated homes  |  77.2% good or outstanding, vs 81.7% England (ASCOF 6B)</a:t>
            </a:r>
          </a:p>
        </p:txBody>
      </p:sp>
      <p:sp>
        <p:nvSpPr>
          <p:cNvPr id="10" name="Text 6"/>
          <p:cNvSpPr/>
          <p:nvPr/>
        </p:nvSpPr>
        <p:spPr>
          <a:xfrm>
            <a:off x="8001000" y="1463040"/>
            <a:ext cx="3520440" cy="320040"/>
          </a:xfrm>
          <a:prstGeom prst="rect">
            <a:avLst/>
          </a:prstGeom>
          <a:noFill/>
          <a:ln/>
        </p:spPr>
        <p:txBody>
          <a:bodyPr wrap="square" rtlCol="0" anchor="ctr"/>
          <a:lstStyle/>
          <a:p>
            <a:pPr marL="0" indent="0">
              <a:buNone/>
            </a:pPr>
            <a:r>
              <a:rPr lang="en-US" sz="1400" b="1" dirty="0">
                <a:solidFill>
                  <a:srgbClr val="17233D"/>
                </a:solidFill>
                <a:latin typeface="Calibri" pitchFamily="34" charset="0"/>
                <a:ea typeface="Calibri" pitchFamily="34" charset="-122"/>
                <a:cs typeface="Calibri" pitchFamily="34" charset="-120"/>
              </a:rPr>
              <a:t>Built from the CQC care directory</a:t>
            </a:r>
            <a:endParaRPr lang="en-US" sz="1400" dirty="0"/>
          </a:p>
        </p:txBody>
      </p:sp>
      <p:pic>
        <p:nvPicPr>
          <p:cNvPr id="12" name="Image 2" descr="preencoded.png"/>
          <p:cNvPicPr>
            <a:picLocks noChangeAspect="1"/>
          </p:cNvPicPr>
          <p:nvPr/>
        </p:nvPicPr>
        <p:blipFill>
          <a:blip r:embed="rId5"/>
          <a:stretch>
            <a:fillRect/>
          </a:stretch>
        </p:blipFill>
        <p:spPr>
          <a:xfrm>
            <a:off x="8119872" y="2084832"/>
            <a:ext cx="219456" cy="219456"/>
          </a:xfrm>
          <a:prstGeom prst="rect">
            <a:avLst/>
          </a:prstGeom>
        </p:spPr>
      </p:pic>
      <p:sp>
        <p:nvSpPr>
          <p:cNvPr id="13" name="Text 8"/>
          <p:cNvSpPr/>
          <p:nvPr/>
        </p:nvSpPr>
        <p:spPr>
          <a:xfrm>
            <a:off x="8385048" y="1965960"/>
            <a:ext cx="2926080" cy="292608"/>
          </a:xfrm>
          <a:prstGeom prst="rect">
            <a:avLst/>
          </a:prstGeom>
          <a:noFill/>
          <a:ln/>
        </p:spPr>
        <p:txBody>
          <a:bodyPr wrap="square" rtlCol="0" anchor="ctr"/>
          <a:lstStyle/>
          <a:p>
            <a:pPr marL="0" indent="0">
              <a:buNone/>
            </a:pPr>
            <a:r>
              <a:rPr lang="en-US" sz="1400" b="1" dirty="0">
                <a:solidFill>
                  <a:srgbClr val="0A6B66"/>
                </a:solidFill>
                <a:latin typeface="Calibri" pitchFamily="34" charset="0"/>
                <a:ea typeface="Calibri" pitchFamily="34" charset="-122"/>
                <a:cs typeface="Calibri" pitchFamily="34" charset="-120"/>
              </a:rPr>
              <a:t>Quality Ratings</a:t>
            </a:r>
            <a:endParaRPr lang="en-US" sz="1400" dirty="0">
              <a:solidFill>
                <a:srgbClr val="0A6B66"/>
              </a:solidFill>
            </a:endParaRPr>
          </a:p>
        </p:txBody>
      </p:sp>
      <p:sp>
        <p:nvSpPr>
          <p:cNvPr id="14" name="Text 9"/>
          <p:cNvSpPr/>
          <p:nvPr/>
        </p:nvSpPr>
        <p:spPr>
          <a:xfrm>
            <a:off x="8385048" y="2276856"/>
            <a:ext cx="2971800" cy="77724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259 rated Lincolnshire care homes: 184 Good, 16 Outstanding, 56 Requires Improvement, 3 Inadequate.</a:t>
            </a:r>
            <a:endParaRPr lang="en-US" sz="1200" dirty="0"/>
          </a:p>
        </p:txBody>
      </p:sp>
      <p:pic>
        <p:nvPicPr>
          <p:cNvPr id="16" name="Image 3" descr="preencoded.png"/>
          <p:cNvPicPr>
            <a:picLocks noChangeAspect="1"/>
          </p:cNvPicPr>
          <p:nvPr/>
        </p:nvPicPr>
        <p:blipFill>
          <a:blip r:embed="rId3"/>
          <a:stretch>
            <a:fillRect/>
          </a:stretch>
        </p:blipFill>
        <p:spPr>
          <a:xfrm>
            <a:off x="8119872" y="3319272"/>
            <a:ext cx="219456" cy="219456"/>
          </a:xfrm>
          <a:prstGeom prst="rect">
            <a:avLst/>
          </a:prstGeom>
        </p:spPr>
      </p:pic>
      <p:sp>
        <p:nvSpPr>
          <p:cNvPr id="17" name="Text 11"/>
          <p:cNvSpPr/>
          <p:nvPr/>
        </p:nvSpPr>
        <p:spPr>
          <a:xfrm>
            <a:off x="8385048" y="3108960"/>
            <a:ext cx="292608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Care Provider Locations</a:t>
            </a:r>
            <a:endParaRPr lang="en-US" sz="1300" dirty="0">
              <a:solidFill>
                <a:srgbClr val="0A6B66"/>
              </a:solidFill>
            </a:endParaRPr>
          </a:p>
        </p:txBody>
      </p:sp>
      <p:sp>
        <p:nvSpPr>
          <p:cNvPr id="18" name="Text 12"/>
          <p:cNvSpPr/>
          <p:nvPr/>
        </p:nvSpPr>
        <p:spPr>
          <a:xfrm>
            <a:off x="8385048" y="3419856"/>
            <a:ext cx="2971800" cy="777240"/>
          </a:xfrm>
          <a:prstGeom prst="rect">
            <a:avLst/>
          </a:prstGeom>
          <a:noFill/>
          <a:ln/>
        </p:spPr>
        <p:txBody>
          <a:bodyPr wrap="square" rtlCol="0" anchor="ctr"/>
          <a:lstStyle/>
          <a:p>
            <a:pPr marL="0" indent="0">
              <a:lnSpc>
                <a:spcPts val="1350"/>
              </a:lnSpc>
              <a:buNone/>
            </a:pPr>
            <a:r>
              <a:rPr lang="en-US" sz="1200" dirty="0">
                <a:solidFill>
                  <a:srgbClr val="64748B"/>
                </a:solidFill>
                <a:latin typeface="Calibri" pitchFamily="34" charset="0"/>
                <a:ea typeface="Calibri" pitchFamily="34" charset="-122"/>
                <a:cs typeface="Calibri" pitchFamily="34" charset="-120"/>
              </a:rPr>
              <a:t>Mapped by postcode, so clusters of weaker-rated homes are visible at a glance.</a:t>
            </a:r>
            <a:endParaRPr lang="en-US" sz="1200" dirty="0"/>
          </a:p>
        </p:txBody>
      </p:sp>
      <p:pic>
        <p:nvPicPr>
          <p:cNvPr id="20" name="Image 4" descr="preencoded.png"/>
          <p:cNvPicPr>
            <a:picLocks noChangeAspect="1"/>
          </p:cNvPicPr>
          <p:nvPr/>
        </p:nvPicPr>
        <p:blipFill>
          <a:blip r:embed="rId6"/>
          <a:stretch>
            <a:fillRect/>
          </a:stretch>
        </p:blipFill>
        <p:spPr>
          <a:xfrm>
            <a:off x="8119872" y="4553712"/>
            <a:ext cx="219456" cy="219456"/>
          </a:xfrm>
          <a:prstGeom prst="rect">
            <a:avLst/>
          </a:prstGeom>
        </p:spPr>
      </p:pic>
      <p:sp>
        <p:nvSpPr>
          <p:cNvPr id="21" name="Text 14"/>
          <p:cNvSpPr/>
          <p:nvPr/>
        </p:nvSpPr>
        <p:spPr>
          <a:xfrm>
            <a:off x="8385048" y="4251960"/>
            <a:ext cx="2926080" cy="292608"/>
          </a:xfrm>
          <a:prstGeom prst="rect">
            <a:avLst/>
          </a:prstGeom>
          <a:noFill/>
          <a:ln/>
        </p:spPr>
        <p:txBody>
          <a:bodyPr wrap="square" rtlCol="0" anchor="ctr"/>
          <a:lstStyle/>
          <a:p>
            <a:pPr marL="0" indent="0">
              <a:buNone/>
            </a:pPr>
            <a:r>
              <a:rPr lang="en-US" sz="1300" b="1" dirty="0">
                <a:solidFill>
                  <a:srgbClr val="0A6B66"/>
                </a:solidFill>
                <a:latin typeface="Calibri" pitchFamily="34" charset="0"/>
                <a:ea typeface="Calibri" pitchFamily="34" charset="-122"/>
                <a:cs typeface="Calibri" pitchFamily="34" charset="-120"/>
              </a:rPr>
              <a:t>Supporting Better Planning</a:t>
            </a:r>
            <a:endParaRPr lang="en-US" sz="1300" dirty="0">
              <a:solidFill>
                <a:srgbClr val="0A6B66"/>
              </a:solidFill>
            </a:endParaRPr>
          </a:p>
        </p:txBody>
      </p:sp>
      <p:sp>
        <p:nvSpPr>
          <p:cNvPr id="22" name="Text 15"/>
          <p:cNvSpPr/>
          <p:nvPr/>
        </p:nvSpPr>
        <p:spPr>
          <a:xfrm>
            <a:off x="8385048" y="4562856"/>
            <a:ext cx="2971800" cy="777240"/>
          </a:xfrm>
          <a:prstGeom prst="rect">
            <a:avLst/>
          </a:prstGeom>
          <a:noFill/>
          <a:ln/>
        </p:spPr>
        <p:txBody>
          <a:bodyPr wrap="square" rtlCol="0" anchor="ctr"/>
          <a:lstStyle/>
          <a:p>
            <a:pPr>
              <a:lnSpc>
                <a:spcPts val="1350"/>
              </a:lnSpc>
            </a:pPr>
            <a:r>
              <a:rPr lang="en-US" sz="1200" dirty="0">
                <a:solidFill>
                  <a:srgbClr val="64748B"/>
                </a:solidFill>
                <a:latin typeface="Calibri" pitchFamily="34" charset="0"/>
                <a:ea typeface="Calibri" pitchFamily="34" charset="-122"/>
                <a:cs typeface="Calibri" pitchFamily="34" charset="-120"/>
              </a:rPr>
              <a:t>Links to Page 1, so you can see care quality alongside where demand is highest.</a:t>
            </a:r>
          </a:p>
        </p:txBody>
      </p:sp>
      <p:sp>
        <p:nvSpPr>
          <p:cNvPr id="23" name="Text 16"/>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
        <p:nvSpPr>
          <p:cNvPr id="24" name="Text 17"/>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pic>
        <p:nvPicPr>
          <p:cNvPr id="26" name="Image 6" descr="preencoded.png">
            <a:extLst>
              <a:ext uri="{FF2B5EF4-FFF2-40B4-BE49-F238E27FC236}">
                <a16:creationId xmlns:a16="http://schemas.microsoft.com/office/drawing/2014/main" id="{FBA1512A-DEB4-AC9C-73EF-4F6863598337}"/>
              </a:ext>
            </a:extLst>
          </p:cNvPr>
          <p:cNvPicPr>
            <a:picLocks noChangeAspect="1"/>
          </p:cNvPicPr>
          <p:nvPr/>
        </p:nvPicPr>
        <p:blipFill>
          <a:blip r:embed="rId7"/>
          <a:stretch>
            <a:fillRect/>
          </a:stretch>
        </p:blipFill>
        <p:spPr>
          <a:xfrm>
            <a:off x="914400" y="5742432"/>
            <a:ext cx="310896" cy="310896"/>
          </a:xfrm>
          <a:prstGeom prst="rect">
            <a:avLst/>
          </a:prstGeom>
        </p:spPr>
      </p:pic>
      <p:pic>
        <p:nvPicPr>
          <p:cNvPr id="28" name="Image 2" descr="preencoded.png">
            <a:extLst>
              <a:ext uri="{FF2B5EF4-FFF2-40B4-BE49-F238E27FC236}">
                <a16:creationId xmlns:a16="http://schemas.microsoft.com/office/drawing/2014/main" id="{C2A3BA45-3C6B-5090-5F1E-F539E2EF6D5F}"/>
              </a:ext>
            </a:extLst>
          </p:cNvPr>
          <p:cNvPicPr>
            <a:picLocks noChangeAspect="1"/>
          </p:cNvPicPr>
          <p:nvPr/>
        </p:nvPicPr>
        <p:blipFill>
          <a:blip r:embed="rId7"/>
          <a:stretch>
            <a:fillRect/>
          </a:stretch>
        </p:blipFill>
        <p:spPr>
          <a:xfrm>
            <a:off x="8001000" y="1984248"/>
            <a:ext cx="274320" cy="274320"/>
          </a:xfrm>
          <a:prstGeom prst="rect">
            <a:avLst/>
          </a:prstGeom>
        </p:spPr>
      </p:pic>
      <p:pic>
        <p:nvPicPr>
          <p:cNvPr id="30" name="Image 2" descr="preencoded.png">
            <a:extLst>
              <a:ext uri="{FF2B5EF4-FFF2-40B4-BE49-F238E27FC236}">
                <a16:creationId xmlns:a16="http://schemas.microsoft.com/office/drawing/2014/main" id="{61672593-9EA6-503C-54FA-1B4568629AA1}"/>
              </a:ext>
            </a:extLst>
          </p:cNvPr>
          <p:cNvPicPr>
            <a:picLocks noChangeAspect="1"/>
          </p:cNvPicPr>
          <p:nvPr/>
        </p:nvPicPr>
        <p:blipFill>
          <a:blip r:embed="rId7"/>
          <a:stretch>
            <a:fillRect/>
          </a:stretch>
        </p:blipFill>
        <p:spPr>
          <a:xfrm>
            <a:off x="8001000" y="4270248"/>
            <a:ext cx="274320" cy="274320"/>
          </a:xfrm>
          <a:prstGeom prst="rect">
            <a:avLst/>
          </a:prstGeom>
        </p:spPr>
      </p:pic>
      <p:pic>
        <p:nvPicPr>
          <p:cNvPr id="32" name="Image 2" descr="preencoded.png">
            <a:extLst>
              <a:ext uri="{FF2B5EF4-FFF2-40B4-BE49-F238E27FC236}">
                <a16:creationId xmlns:a16="http://schemas.microsoft.com/office/drawing/2014/main" id="{EAC9F882-55CC-718B-A8B3-A67FDCA2BEDB}"/>
              </a:ext>
            </a:extLst>
          </p:cNvPr>
          <p:cNvPicPr>
            <a:picLocks noChangeAspect="1"/>
          </p:cNvPicPr>
          <p:nvPr/>
        </p:nvPicPr>
        <p:blipFill>
          <a:blip r:embed="rId7"/>
          <a:stretch>
            <a:fillRect/>
          </a:stretch>
        </p:blipFill>
        <p:spPr>
          <a:xfrm>
            <a:off x="8001000" y="3127248"/>
            <a:ext cx="274320" cy="274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04  MANAGING THE WORK</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Delivering it end to end</a:t>
            </a:r>
            <a:endParaRPr lang="en-US" sz="2500" dirty="0"/>
          </a:p>
        </p:txBody>
      </p:sp>
      <p:sp>
        <p:nvSpPr>
          <p:cNvPr id="24" name="Shape 18"/>
          <p:cNvSpPr/>
          <p:nvPr/>
        </p:nvSpPr>
        <p:spPr>
          <a:xfrm>
            <a:off x="640080" y="4434840"/>
            <a:ext cx="11052858" cy="1600200"/>
          </a:xfrm>
          <a:prstGeom prst="roundRect">
            <a:avLst>
              <a:gd name="adj" fmla="val 4571"/>
            </a:avLst>
          </a:prstGeom>
          <a:solidFill>
            <a:srgbClr val="DCEEEC"/>
          </a:solidFill>
          <a:ln/>
          <a:effectLst>
            <a:outerShdw blurRad="88900" dist="25400" dir="5400000" algn="bl" rotWithShape="0">
              <a:srgbClr val="000000">
                <a:alpha val="12000"/>
              </a:srgbClr>
            </a:outerShdw>
          </a:effectLst>
        </p:spPr>
      </p:sp>
      <p:sp>
        <p:nvSpPr>
          <p:cNvPr id="25" name="Shape 19"/>
          <p:cNvSpPr/>
          <p:nvPr/>
        </p:nvSpPr>
        <p:spPr>
          <a:xfrm>
            <a:off x="960120" y="4892040"/>
            <a:ext cx="566928" cy="566928"/>
          </a:xfrm>
          <a:prstGeom prst="ellipse">
            <a:avLst/>
          </a:prstGeom>
          <a:solidFill>
            <a:srgbClr val="0E8C86"/>
          </a:solidFill>
          <a:ln/>
        </p:spPr>
      </p:sp>
      <p:pic>
        <p:nvPicPr>
          <p:cNvPr id="26" name="Image 4" descr="preencoded.png"/>
          <p:cNvPicPr>
            <a:picLocks noChangeAspect="1"/>
          </p:cNvPicPr>
          <p:nvPr/>
        </p:nvPicPr>
        <p:blipFill>
          <a:blip r:embed="rId4"/>
          <a:stretch>
            <a:fillRect/>
          </a:stretch>
        </p:blipFill>
        <p:spPr>
          <a:xfrm>
            <a:off x="1078992" y="5000330"/>
            <a:ext cx="329184" cy="329184"/>
          </a:xfrm>
          <a:prstGeom prst="rect">
            <a:avLst/>
          </a:prstGeom>
        </p:spPr>
      </p:pic>
      <p:sp>
        <p:nvSpPr>
          <p:cNvPr id="27" name="Text 20"/>
          <p:cNvSpPr/>
          <p:nvPr/>
        </p:nvSpPr>
        <p:spPr>
          <a:xfrm>
            <a:off x="1874520" y="4617720"/>
            <a:ext cx="9144000" cy="365760"/>
          </a:xfrm>
          <a:prstGeom prst="rect">
            <a:avLst/>
          </a:prstGeom>
          <a:noFill/>
          <a:ln/>
        </p:spPr>
        <p:txBody>
          <a:bodyPr wrap="square" rtlCol="0" anchor="ctr"/>
          <a:lstStyle/>
          <a:p>
            <a:pPr marL="0" indent="0">
              <a:buNone/>
            </a:pPr>
            <a:r>
              <a:rPr lang="en-US" sz="1600" b="1" dirty="0">
                <a:solidFill>
                  <a:srgbClr val="17233D"/>
                </a:solidFill>
                <a:latin typeface="Calibri" pitchFamily="34" charset="0"/>
                <a:ea typeface="Calibri" pitchFamily="34" charset="-122"/>
                <a:cs typeface="Calibri" pitchFamily="34" charset="-120"/>
              </a:rPr>
              <a:t>Managing people, not just data</a:t>
            </a:r>
            <a:endParaRPr lang="en-US" sz="1600" dirty="0"/>
          </a:p>
        </p:txBody>
      </p:sp>
      <p:sp>
        <p:nvSpPr>
          <p:cNvPr id="28" name="Text 21"/>
          <p:cNvSpPr/>
          <p:nvPr/>
        </p:nvSpPr>
        <p:spPr>
          <a:xfrm>
            <a:off x="1874520" y="5029200"/>
            <a:ext cx="9281160" cy="914400"/>
          </a:xfrm>
          <a:prstGeom prst="rect">
            <a:avLst/>
          </a:prstGeom>
          <a:noFill/>
          <a:ln/>
        </p:spPr>
        <p:txBody>
          <a:bodyPr wrap="square" rtlCol="0" anchor="t"/>
          <a:lstStyle/>
          <a:p>
            <a:pPr marL="0" indent="0">
              <a:lnSpc>
                <a:spcPts val="1700"/>
              </a:lnSpc>
              <a:buNone/>
            </a:pPr>
            <a:r>
              <a:rPr lang="en-US" sz="1400" dirty="0">
                <a:solidFill>
                  <a:srgbClr val="0A6B66"/>
                </a:solidFill>
                <a:latin typeface="Calibri" pitchFamily="34" charset="0"/>
                <a:ea typeface="Calibri" pitchFamily="34" charset="-122"/>
                <a:cs typeface="Calibri" pitchFamily="34" charset="-120"/>
              </a:rPr>
              <a:t>Alongside this I lead a shift team as a Team Leader, coordinating people under time pressure, briefing them clearly and holding standards. That is the same skill this role asks for: partnering with service teams across the council and keeping several work streams moving at once.</a:t>
            </a:r>
            <a:endParaRPr lang="en-US" sz="1400" dirty="0">
              <a:solidFill>
                <a:srgbClr val="0A6B66"/>
              </a:solidFill>
            </a:endParaRPr>
          </a:p>
        </p:txBody>
      </p:sp>
      <p:sp>
        <p:nvSpPr>
          <p:cNvPr id="29" name="Text 22"/>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sp>
        <p:nvSpPr>
          <p:cNvPr id="30" name="Text 23"/>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grpSp>
        <p:nvGrpSpPr>
          <p:cNvPr id="51" name="Group 50">
            <a:extLst>
              <a:ext uri="{FF2B5EF4-FFF2-40B4-BE49-F238E27FC236}">
                <a16:creationId xmlns:a16="http://schemas.microsoft.com/office/drawing/2014/main" id="{21038956-D716-E2E2-3435-5B84889FE102}"/>
              </a:ext>
            </a:extLst>
          </p:cNvPr>
          <p:cNvGrpSpPr/>
          <p:nvPr/>
        </p:nvGrpSpPr>
        <p:grpSpPr>
          <a:xfrm>
            <a:off x="637842" y="1528953"/>
            <a:ext cx="11055096" cy="2514600"/>
            <a:chOff x="640080" y="1645920"/>
            <a:chExt cx="11055096" cy="2514600"/>
          </a:xfrm>
        </p:grpSpPr>
        <p:sp>
          <p:nvSpPr>
            <p:cNvPr id="52" name="Shape 3">
              <a:extLst>
                <a:ext uri="{FF2B5EF4-FFF2-40B4-BE49-F238E27FC236}">
                  <a16:creationId xmlns:a16="http://schemas.microsoft.com/office/drawing/2014/main" id="{8B5E78F8-C64F-5A6E-B51A-6C50602EF759}"/>
                </a:ext>
              </a:extLst>
            </p:cNvPr>
            <p:cNvSpPr/>
            <p:nvPr/>
          </p:nvSpPr>
          <p:spPr>
            <a:xfrm>
              <a:off x="640080"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53" name="Text 4">
              <a:extLst>
                <a:ext uri="{FF2B5EF4-FFF2-40B4-BE49-F238E27FC236}">
                  <a16:creationId xmlns:a16="http://schemas.microsoft.com/office/drawing/2014/main" id="{5C2592EF-6C52-FA30-9660-131315579700}"/>
                </a:ext>
              </a:extLst>
            </p:cNvPr>
            <p:cNvSpPr/>
            <p:nvPr/>
          </p:nvSpPr>
          <p:spPr>
            <a:xfrm>
              <a:off x="3227832"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01</a:t>
              </a:r>
              <a:endParaRPr lang="en-US" sz="3000" dirty="0"/>
            </a:p>
          </p:txBody>
        </p:sp>
        <p:sp>
          <p:nvSpPr>
            <p:cNvPr id="54" name="Shape 5">
              <a:extLst>
                <a:ext uri="{FF2B5EF4-FFF2-40B4-BE49-F238E27FC236}">
                  <a16:creationId xmlns:a16="http://schemas.microsoft.com/office/drawing/2014/main" id="{51E6B281-82A2-E3FC-163C-F2A25A841E02}"/>
                </a:ext>
              </a:extLst>
            </p:cNvPr>
            <p:cNvSpPr/>
            <p:nvPr/>
          </p:nvSpPr>
          <p:spPr>
            <a:xfrm>
              <a:off x="914400" y="1920240"/>
              <a:ext cx="566928" cy="566928"/>
            </a:xfrm>
            <a:prstGeom prst="ellipse">
              <a:avLst/>
            </a:prstGeom>
            <a:solidFill>
              <a:srgbClr val="0E8C86"/>
            </a:solidFill>
            <a:ln/>
          </p:spPr>
        </p:sp>
        <p:pic>
          <p:nvPicPr>
            <p:cNvPr id="55" name="Image 1" descr="preencoded.png">
              <a:extLst>
                <a:ext uri="{FF2B5EF4-FFF2-40B4-BE49-F238E27FC236}">
                  <a16:creationId xmlns:a16="http://schemas.microsoft.com/office/drawing/2014/main" id="{D327573C-8E97-0A00-B8D5-39AB8BD74661}"/>
                </a:ext>
              </a:extLst>
            </p:cNvPr>
            <p:cNvPicPr>
              <a:picLocks noChangeAspect="1"/>
            </p:cNvPicPr>
            <p:nvPr/>
          </p:nvPicPr>
          <p:blipFill>
            <a:blip r:embed="rId5"/>
            <a:stretch>
              <a:fillRect/>
            </a:stretch>
          </p:blipFill>
          <p:spPr>
            <a:xfrm>
              <a:off x="1033272" y="2036254"/>
              <a:ext cx="329184" cy="329184"/>
            </a:xfrm>
            <a:prstGeom prst="rect">
              <a:avLst/>
            </a:prstGeom>
          </p:spPr>
        </p:pic>
        <p:sp>
          <p:nvSpPr>
            <p:cNvPr id="56" name="Text 6">
              <a:extLst>
                <a:ext uri="{FF2B5EF4-FFF2-40B4-BE49-F238E27FC236}">
                  <a16:creationId xmlns:a16="http://schemas.microsoft.com/office/drawing/2014/main" id="{FA5B6C3A-C3A5-4B6F-1A9D-B95662BD4B6A}"/>
                </a:ext>
              </a:extLst>
            </p:cNvPr>
            <p:cNvSpPr/>
            <p:nvPr/>
          </p:nvSpPr>
          <p:spPr>
            <a:xfrm>
              <a:off x="932688" y="2697480"/>
              <a:ext cx="2953512" cy="365760"/>
            </a:xfrm>
            <a:prstGeom prst="rect">
              <a:avLst/>
            </a:prstGeom>
            <a:noFill/>
            <a:ln/>
          </p:spPr>
          <p:txBody>
            <a:bodyPr wrap="square" rtlCol="0" anchor="ctr"/>
            <a:lstStyle/>
            <a:p>
              <a:pPr marL="0" indent="0">
                <a:buNone/>
              </a:pPr>
              <a:r>
                <a:rPr lang="en-US" b="1" dirty="0">
                  <a:solidFill>
                    <a:srgbClr val="17233D"/>
                  </a:solidFill>
                  <a:latin typeface="Calibri" pitchFamily="34" charset="0"/>
                  <a:ea typeface="Calibri" pitchFamily="34" charset="-122"/>
                  <a:cs typeface="Calibri" pitchFamily="34" charset="-120"/>
                </a:rPr>
                <a:t>Scoped</a:t>
              </a:r>
              <a:endParaRPr lang="en-US" dirty="0"/>
            </a:p>
          </p:txBody>
        </p:sp>
        <p:sp>
          <p:nvSpPr>
            <p:cNvPr id="57" name="Text 7">
              <a:extLst>
                <a:ext uri="{FF2B5EF4-FFF2-40B4-BE49-F238E27FC236}">
                  <a16:creationId xmlns:a16="http://schemas.microsoft.com/office/drawing/2014/main" id="{A7086EAE-2B06-48C6-1470-E6616432DF7C}"/>
                </a:ext>
              </a:extLst>
            </p:cNvPr>
            <p:cNvSpPr/>
            <p:nvPr/>
          </p:nvSpPr>
          <p:spPr>
            <a:xfrm>
              <a:off x="932688"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Agreed the three questions the dashboard had to answer, then worked back to the data each one needed.</a:t>
              </a:r>
              <a:endParaRPr lang="en-US" sz="1200" dirty="0"/>
            </a:p>
          </p:txBody>
        </p:sp>
        <p:sp>
          <p:nvSpPr>
            <p:cNvPr id="58" name="Shape 8">
              <a:extLst>
                <a:ext uri="{FF2B5EF4-FFF2-40B4-BE49-F238E27FC236}">
                  <a16:creationId xmlns:a16="http://schemas.microsoft.com/office/drawing/2014/main" id="{2756C83D-E77C-9D0A-4353-DB699EC03C31}"/>
                </a:ext>
              </a:extLst>
            </p:cNvPr>
            <p:cNvSpPr/>
            <p:nvPr/>
          </p:nvSpPr>
          <p:spPr>
            <a:xfrm>
              <a:off x="4416552"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59" name="Text 9">
              <a:extLst>
                <a:ext uri="{FF2B5EF4-FFF2-40B4-BE49-F238E27FC236}">
                  <a16:creationId xmlns:a16="http://schemas.microsoft.com/office/drawing/2014/main" id="{D22BF6CD-D2B5-2E69-30E4-357244BBA568}"/>
                </a:ext>
              </a:extLst>
            </p:cNvPr>
            <p:cNvSpPr/>
            <p:nvPr/>
          </p:nvSpPr>
          <p:spPr>
            <a:xfrm>
              <a:off x="7004304"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02</a:t>
              </a:r>
              <a:endParaRPr lang="en-US" sz="3000" dirty="0"/>
            </a:p>
          </p:txBody>
        </p:sp>
        <p:sp>
          <p:nvSpPr>
            <p:cNvPr id="60" name="Shape 10">
              <a:extLst>
                <a:ext uri="{FF2B5EF4-FFF2-40B4-BE49-F238E27FC236}">
                  <a16:creationId xmlns:a16="http://schemas.microsoft.com/office/drawing/2014/main" id="{50756226-F74D-62AB-F1D9-62A43B255AF8}"/>
                </a:ext>
              </a:extLst>
            </p:cNvPr>
            <p:cNvSpPr/>
            <p:nvPr/>
          </p:nvSpPr>
          <p:spPr>
            <a:xfrm>
              <a:off x="4690872" y="1920240"/>
              <a:ext cx="566928" cy="566928"/>
            </a:xfrm>
            <a:prstGeom prst="ellipse">
              <a:avLst/>
            </a:prstGeom>
            <a:solidFill>
              <a:srgbClr val="0E8C86"/>
            </a:solidFill>
            <a:ln/>
          </p:spPr>
        </p:sp>
        <p:pic>
          <p:nvPicPr>
            <p:cNvPr id="61" name="Image 2" descr="preencoded.png">
              <a:extLst>
                <a:ext uri="{FF2B5EF4-FFF2-40B4-BE49-F238E27FC236}">
                  <a16:creationId xmlns:a16="http://schemas.microsoft.com/office/drawing/2014/main" id="{DF2509FF-BF93-3A0E-64CE-506CFFCE5F1C}"/>
                </a:ext>
              </a:extLst>
            </p:cNvPr>
            <p:cNvPicPr>
              <a:picLocks noChangeAspect="1"/>
            </p:cNvPicPr>
            <p:nvPr/>
          </p:nvPicPr>
          <p:blipFill>
            <a:blip r:embed="rId6"/>
            <a:stretch>
              <a:fillRect/>
            </a:stretch>
          </p:blipFill>
          <p:spPr>
            <a:xfrm>
              <a:off x="4809744" y="2071116"/>
              <a:ext cx="329184" cy="329184"/>
            </a:xfrm>
            <a:prstGeom prst="rect">
              <a:avLst/>
            </a:prstGeom>
          </p:spPr>
        </p:pic>
        <p:sp>
          <p:nvSpPr>
            <p:cNvPr id="62" name="Text 11">
              <a:extLst>
                <a:ext uri="{FF2B5EF4-FFF2-40B4-BE49-F238E27FC236}">
                  <a16:creationId xmlns:a16="http://schemas.microsoft.com/office/drawing/2014/main" id="{A8529A11-5357-4A27-70FF-03494079900A}"/>
                </a:ext>
              </a:extLst>
            </p:cNvPr>
            <p:cNvSpPr/>
            <p:nvPr/>
          </p:nvSpPr>
          <p:spPr>
            <a:xfrm>
              <a:off x="4709160" y="2697480"/>
              <a:ext cx="2953512" cy="365760"/>
            </a:xfrm>
            <a:prstGeom prst="rect">
              <a:avLst/>
            </a:prstGeom>
            <a:noFill/>
            <a:ln/>
          </p:spPr>
          <p:txBody>
            <a:bodyPr wrap="square" rtlCol="0" anchor="ctr"/>
            <a:lstStyle/>
            <a:p>
              <a:pPr marL="0" indent="0">
                <a:buNone/>
              </a:pPr>
              <a:r>
                <a:rPr lang="en-US" b="1" dirty="0">
                  <a:solidFill>
                    <a:srgbClr val="17233D"/>
                  </a:solidFill>
                  <a:latin typeface="Calibri" pitchFamily="34" charset="0"/>
                  <a:ea typeface="Calibri" pitchFamily="34" charset="-122"/>
                  <a:cs typeface="Calibri" pitchFamily="34" charset="-120"/>
                </a:rPr>
                <a:t>Prioritised</a:t>
              </a:r>
              <a:endParaRPr lang="en-US" dirty="0"/>
            </a:p>
          </p:txBody>
        </p:sp>
        <p:sp>
          <p:nvSpPr>
            <p:cNvPr id="63" name="Text 12">
              <a:extLst>
                <a:ext uri="{FF2B5EF4-FFF2-40B4-BE49-F238E27FC236}">
                  <a16:creationId xmlns:a16="http://schemas.microsoft.com/office/drawing/2014/main" id="{E0E7A830-61A7-FFB4-81A4-C9286DAA40BD}"/>
                </a:ext>
              </a:extLst>
            </p:cNvPr>
            <p:cNvSpPr/>
            <p:nvPr/>
          </p:nvSpPr>
          <p:spPr>
            <a:xfrm>
              <a:off x="4709160"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Built the shared model and the demand page first, so there was something usable early, then layered outcomes and providers.</a:t>
              </a:r>
              <a:endParaRPr lang="en-US" sz="1200" dirty="0"/>
            </a:p>
          </p:txBody>
        </p:sp>
        <p:sp>
          <p:nvSpPr>
            <p:cNvPr id="64" name="Shape 13">
              <a:extLst>
                <a:ext uri="{FF2B5EF4-FFF2-40B4-BE49-F238E27FC236}">
                  <a16:creationId xmlns:a16="http://schemas.microsoft.com/office/drawing/2014/main" id="{ACADC574-5C13-B79C-C6E8-149130D415D5}"/>
                </a:ext>
              </a:extLst>
            </p:cNvPr>
            <p:cNvSpPr/>
            <p:nvPr/>
          </p:nvSpPr>
          <p:spPr>
            <a:xfrm>
              <a:off x="8193024" y="1645920"/>
              <a:ext cx="3502152" cy="2514600"/>
            </a:xfrm>
            <a:prstGeom prst="roundRect">
              <a:avLst>
                <a:gd name="adj" fmla="val 2909"/>
              </a:avLst>
            </a:prstGeom>
            <a:solidFill>
              <a:srgbClr val="F5F8FB"/>
            </a:solidFill>
            <a:ln/>
            <a:effectLst>
              <a:outerShdw blurRad="88900" dist="25400" dir="5400000" algn="bl" rotWithShape="0">
                <a:srgbClr val="000000">
                  <a:alpha val="12000"/>
                </a:srgbClr>
              </a:outerShdw>
            </a:effectLst>
          </p:spPr>
        </p:sp>
        <p:sp>
          <p:nvSpPr>
            <p:cNvPr id="65" name="Text 14">
              <a:extLst>
                <a:ext uri="{FF2B5EF4-FFF2-40B4-BE49-F238E27FC236}">
                  <a16:creationId xmlns:a16="http://schemas.microsoft.com/office/drawing/2014/main" id="{8B3D21C8-E86A-9DAB-5410-506FC66F6286}"/>
                </a:ext>
              </a:extLst>
            </p:cNvPr>
            <p:cNvSpPr/>
            <p:nvPr/>
          </p:nvSpPr>
          <p:spPr>
            <a:xfrm>
              <a:off x="10780776" y="1783080"/>
              <a:ext cx="731520" cy="548640"/>
            </a:xfrm>
            <a:prstGeom prst="rect">
              <a:avLst/>
            </a:prstGeom>
            <a:noFill/>
            <a:ln/>
          </p:spPr>
          <p:txBody>
            <a:bodyPr wrap="square" rtlCol="0" anchor="ctr"/>
            <a:lstStyle/>
            <a:p>
              <a:pPr marL="0" indent="0" algn="r">
                <a:buNone/>
              </a:pPr>
              <a:r>
                <a:rPr lang="en-US" sz="3000" b="1" dirty="0">
                  <a:solidFill>
                    <a:srgbClr val="CBD8E6"/>
                  </a:solidFill>
                  <a:latin typeface="Cambria" pitchFamily="34" charset="0"/>
                  <a:ea typeface="Cambria" pitchFamily="34" charset="-122"/>
                  <a:cs typeface="Cambria" pitchFamily="34" charset="-120"/>
                </a:rPr>
                <a:t>03</a:t>
              </a:r>
              <a:endParaRPr lang="en-US" sz="3000" dirty="0"/>
            </a:p>
          </p:txBody>
        </p:sp>
        <p:sp>
          <p:nvSpPr>
            <p:cNvPr id="68" name="Text 16">
              <a:extLst>
                <a:ext uri="{FF2B5EF4-FFF2-40B4-BE49-F238E27FC236}">
                  <a16:creationId xmlns:a16="http://schemas.microsoft.com/office/drawing/2014/main" id="{FAB23F3C-D146-1FE3-4A7F-8E1543D80789}"/>
                </a:ext>
              </a:extLst>
            </p:cNvPr>
            <p:cNvSpPr/>
            <p:nvPr/>
          </p:nvSpPr>
          <p:spPr>
            <a:xfrm>
              <a:off x="8485632" y="2697480"/>
              <a:ext cx="2953512" cy="365760"/>
            </a:xfrm>
            <a:prstGeom prst="rect">
              <a:avLst/>
            </a:prstGeom>
            <a:noFill/>
            <a:ln/>
          </p:spPr>
          <p:txBody>
            <a:bodyPr wrap="square" rtlCol="0" anchor="ctr"/>
            <a:lstStyle/>
            <a:p>
              <a:pPr marL="0" indent="0">
                <a:buNone/>
              </a:pPr>
              <a:r>
                <a:rPr lang="en-US" b="1" dirty="0">
                  <a:solidFill>
                    <a:srgbClr val="17233D"/>
                  </a:solidFill>
                  <a:latin typeface="Calibri" pitchFamily="34" charset="0"/>
                  <a:ea typeface="Calibri" pitchFamily="34" charset="-122"/>
                  <a:cs typeface="Calibri" pitchFamily="34" charset="-120"/>
                </a:rPr>
                <a:t>Delivered</a:t>
              </a:r>
              <a:endParaRPr lang="en-US" dirty="0"/>
            </a:p>
          </p:txBody>
        </p:sp>
        <p:sp>
          <p:nvSpPr>
            <p:cNvPr id="69" name="Text 17">
              <a:extLst>
                <a:ext uri="{FF2B5EF4-FFF2-40B4-BE49-F238E27FC236}">
                  <a16:creationId xmlns:a16="http://schemas.microsoft.com/office/drawing/2014/main" id="{A18F5DEC-63D5-FF37-D072-70690BFCBC0F}"/>
                </a:ext>
              </a:extLst>
            </p:cNvPr>
            <p:cNvSpPr/>
            <p:nvPr/>
          </p:nvSpPr>
          <p:spPr>
            <a:xfrm>
              <a:off x="8485632" y="3108960"/>
              <a:ext cx="2999232" cy="960120"/>
            </a:xfrm>
            <a:prstGeom prst="rect">
              <a:avLst/>
            </a:prstGeom>
            <a:noFill/>
            <a:ln/>
          </p:spPr>
          <p:txBody>
            <a:bodyPr wrap="square" rtlCol="0" anchor="t"/>
            <a:lstStyle/>
            <a:p>
              <a:pPr marL="0" indent="0">
                <a:lnSpc>
                  <a:spcPts val="1500"/>
                </a:lnSpc>
                <a:buNone/>
              </a:pPr>
              <a:r>
                <a:rPr lang="en-US" sz="1200" dirty="0">
                  <a:solidFill>
                    <a:srgbClr val="64748B"/>
                  </a:solidFill>
                  <a:latin typeface="Calibri" pitchFamily="34" charset="0"/>
                  <a:ea typeface="Calibri" pitchFamily="34" charset="-122"/>
                  <a:cs typeface="Calibri" pitchFamily="34" charset="-120"/>
                </a:rPr>
                <a:t>Three linked pages, checked against the published source figures, documented on GitHub.</a:t>
              </a:r>
              <a:endParaRPr lang="en-US" sz="1200" dirty="0"/>
            </a:p>
          </p:txBody>
        </p:sp>
      </p:grpSp>
      <p:pic>
        <p:nvPicPr>
          <p:cNvPr id="72" name="Image 3" descr="preencoded.png">
            <a:extLst>
              <a:ext uri="{FF2B5EF4-FFF2-40B4-BE49-F238E27FC236}">
                <a16:creationId xmlns:a16="http://schemas.microsoft.com/office/drawing/2014/main" id="{05FE43E3-FB1C-725A-A336-CAFF5614E63B}"/>
              </a:ext>
            </a:extLst>
          </p:cNvPr>
          <p:cNvPicPr>
            <a:picLocks noChangeAspect="1"/>
          </p:cNvPicPr>
          <p:nvPr/>
        </p:nvPicPr>
        <p:blipFill>
          <a:blip r:embed="rId7"/>
          <a:stretch>
            <a:fillRect/>
          </a:stretch>
        </p:blipFill>
        <p:spPr>
          <a:xfrm>
            <a:off x="8483394" y="1803654"/>
            <a:ext cx="566928" cy="5669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3" name="Image 0" descr="preencoded.png"/>
          <p:cNvPicPr>
            <a:picLocks noChangeAspect="1"/>
          </p:cNvPicPr>
          <p:nvPr/>
        </p:nvPicPr>
        <p:blipFill>
          <a:blip r:embed="rId3"/>
          <a:stretch>
            <a:fillRect/>
          </a:stretch>
        </p:blipFill>
        <p:spPr>
          <a:xfrm>
            <a:off x="786384" y="649224"/>
            <a:ext cx="274320" cy="274320"/>
          </a:xfrm>
          <a:prstGeom prst="rect">
            <a:avLst/>
          </a:prstGeom>
        </p:spPr>
      </p:pic>
      <p:sp>
        <p:nvSpPr>
          <p:cNvPr id="4" name="Text 1"/>
          <p:cNvSpPr/>
          <p:nvPr/>
        </p:nvSpPr>
        <p:spPr>
          <a:xfrm>
            <a:off x="1417320" y="457200"/>
            <a:ext cx="10058400" cy="274320"/>
          </a:xfrm>
          <a:prstGeom prst="rect">
            <a:avLst/>
          </a:prstGeom>
          <a:noFill/>
          <a:ln/>
        </p:spPr>
        <p:txBody>
          <a:bodyPr wrap="square" lIns="0" tIns="0" rIns="0" bIns="0" rtlCol="0" anchor="ctr"/>
          <a:lstStyle/>
          <a:p>
            <a:pPr marL="0" indent="0">
              <a:buNone/>
            </a:pPr>
            <a:r>
              <a:rPr lang="en-US" sz="1100" b="1" kern="0" spc="200" dirty="0">
                <a:solidFill>
                  <a:srgbClr val="0E8C86"/>
                </a:solidFill>
                <a:latin typeface="Calibri" pitchFamily="34" charset="0"/>
                <a:ea typeface="Calibri" pitchFamily="34" charset="-122"/>
                <a:cs typeface="Calibri" pitchFamily="34" charset="-120"/>
              </a:rPr>
              <a:t>05  COMMUNICATION</a:t>
            </a:r>
            <a:endParaRPr lang="en-US" sz="1100" dirty="0"/>
          </a:p>
        </p:txBody>
      </p:sp>
      <p:sp>
        <p:nvSpPr>
          <p:cNvPr id="5" name="Text 2"/>
          <p:cNvSpPr/>
          <p:nvPr/>
        </p:nvSpPr>
        <p:spPr>
          <a:xfrm>
            <a:off x="1417320" y="694944"/>
            <a:ext cx="10607040" cy="548640"/>
          </a:xfrm>
          <a:prstGeom prst="rect">
            <a:avLst/>
          </a:prstGeom>
          <a:noFill/>
          <a:ln/>
        </p:spPr>
        <p:txBody>
          <a:bodyPr wrap="square" lIns="0" tIns="0" rIns="0" bIns="0" rtlCol="0" anchor="ctr"/>
          <a:lstStyle/>
          <a:p>
            <a:pPr marL="0" indent="0">
              <a:buNone/>
            </a:pPr>
            <a:r>
              <a:rPr lang="en-US" sz="2500" b="1" dirty="0">
                <a:solidFill>
                  <a:srgbClr val="17233D"/>
                </a:solidFill>
                <a:latin typeface="Cambria" pitchFamily="34" charset="0"/>
                <a:ea typeface="Cambria" pitchFamily="34" charset="-122"/>
                <a:cs typeface="Cambria" pitchFamily="34" charset="-120"/>
              </a:rPr>
              <a:t>Technical depth, plain-English delivery</a:t>
            </a:r>
            <a:endParaRPr lang="en-US" sz="2500" dirty="0"/>
          </a:p>
        </p:txBody>
      </p:sp>
      <p:sp>
        <p:nvSpPr>
          <p:cNvPr id="6" name="Shape 3"/>
          <p:cNvSpPr/>
          <p:nvPr/>
        </p:nvSpPr>
        <p:spPr>
          <a:xfrm>
            <a:off x="640080" y="1645920"/>
            <a:ext cx="5257800" cy="4114800"/>
          </a:xfrm>
          <a:prstGeom prst="roundRect">
            <a:avLst>
              <a:gd name="adj" fmla="val 1778"/>
            </a:avLst>
          </a:prstGeom>
          <a:solidFill>
            <a:srgbClr val="0A6B66"/>
          </a:solidFill>
          <a:ln/>
          <a:effectLst>
            <a:outerShdw blurRad="88900" dist="25400" dir="5400000" algn="bl" rotWithShape="0">
              <a:srgbClr val="000000">
                <a:alpha val="12000"/>
              </a:srgbClr>
            </a:outerShdw>
          </a:effectLst>
        </p:spPr>
        <p:txBody>
          <a:bodyPr/>
          <a:lstStyle/>
          <a:p>
            <a:endParaRPr lang="en-GB" dirty="0"/>
          </a:p>
        </p:txBody>
      </p:sp>
      <p:sp>
        <p:nvSpPr>
          <p:cNvPr id="7" name="Shape 4"/>
          <p:cNvSpPr/>
          <p:nvPr/>
        </p:nvSpPr>
        <p:spPr>
          <a:xfrm>
            <a:off x="960120" y="1965960"/>
            <a:ext cx="566928" cy="566928"/>
          </a:xfrm>
          <a:prstGeom prst="ellipse">
            <a:avLst/>
          </a:prstGeom>
          <a:solidFill>
            <a:srgbClr val="F5F8FB"/>
          </a:solidFill>
          <a:ln/>
        </p:spPr>
      </p:sp>
      <p:pic>
        <p:nvPicPr>
          <p:cNvPr id="8" name="Image 1" descr="preencoded.png"/>
          <p:cNvPicPr>
            <a:picLocks noChangeAspect="1"/>
          </p:cNvPicPr>
          <p:nvPr/>
        </p:nvPicPr>
        <p:blipFill>
          <a:blip r:embed="rId4">
            <a:duotone>
              <a:prstClr val="black"/>
              <a:srgbClr val="0A6B66">
                <a:tint val="45000"/>
                <a:satMod val="400000"/>
              </a:srgbClr>
            </a:duotone>
            <a:alphaModFix/>
            <a:extLst>
              <a:ext uri="{BEBA8EAE-BF5A-486C-A8C5-ECC9F3942E4B}">
                <a14:imgProps xmlns:a14="http://schemas.microsoft.com/office/drawing/2010/main">
                  <a14:imgLayer r:embed="rId5">
                    <a14:imgEffect>
                      <a14:saturation sat="101000"/>
                    </a14:imgEffect>
                    <a14:imgEffect>
                      <a14:brightnessContrast contrast="-100000"/>
                    </a14:imgEffect>
                  </a14:imgLayer>
                </a14:imgProps>
              </a:ext>
            </a:extLst>
          </a:blip>
          <a:stretch>
            <a:fillRect/>
          </a:stretch>
        </p:blipFill>
        <p:spPr>
          <a:xfrm>
            <a:off x="1088136" y="2093976"/>
            <a:ext cx="310896" cy="310896"/>
          </a:xfrm>
          <a:prstGeom prst="rect">
            <a:avLst/>
          </a:prstGeom>
          <a:noFill/>
          <a:effectLst>
            <a:outerShdw blurRad="50800" dist="50800" dir="5400000" algn="ctr" rotWithShape="0">
              <a:schemeClr val="bg1">
                <a:lumMod val="95000"/>
              </a:schemeClr>
            </a:outerShdw>
          </a:effectLst>
        </p:spPr>
      </p:pic>
      <p:sp>
        <p:nvSpPr>
          <p:cNvPr id="9" name="Text 5"/>
          <p:cNvSpPr/>
          <p:nvPr/>
        </p:nvSpPr>
        <p:spPr>
          <a:xfrm>
            <a:off x="1783080" y="2084832"/>
            <a:ext cx="3931920" cy="411480"/>
          </a:xfrm>
          <a:prstGeom prst="rect">
            <a:avLst/>
          </a:prstGeom>
          <a:noFill/>
          <a:ln/>
        </p:spPr>
        <p:txBody>
          <a:bodyPr wrap="square"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Behind the Dashboard</a:t>
            </a:r>
            <a:endParaRPr lang="en-US" sz="1800" dirty="0">
              <a:solidFill>
                <a:schemeClr val="bg1"/>
              </a:solidFill>
            </a:endParaRPr>
          </a:p>
        </p:txBody>
      </p:sp>
      <p:sp>
        <p:nvSpPr>
          <p:cNvPr id="10" name="Text 6"/>
          <p:cNvSpPr/>
          <p:nvPr/>
        </p:nvSpPr>
        <p:spPr>
          <a:xfrm>
            <a:off x="109728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US" sz="1400" b="1" dirty="0">
                <a:solidFill>
                  <a:schemeClr val="bg1"/>
                </a:solidFill>
                <a:ea typeface="Calibri" pitchFamily="34" charset="-122"/>
                <a:cs typeface="Calibri" pitchFamily="34" charset="-120"/>
              </a:rPr>
              <a:t>SQL and Python to clean and join three sources</a:t>
            </a:r>
            <a:endParaRPr lang="en-US" sz="1400" b="1" dirty="0">
              <a:solidFill>
                <a:schemeClr val="bg1"/>
              </a:solidFill>
            </a:endParaRPr>
          </a:p>
          <a:p>
            <a:pPr marL="342900" indent="-342900">
              <a:lnSpc>
                <a:spcPts val="1900"/>
              </a:lnSpc>
              <a:spcAft>
                <a:spcPts val="900"/>
              </a:spcAft>
              <a:buSzPct val="100000"/>
              <a:buChar char="•"/>
            </a:pPr>
            <a:r>
              <a:rPr lang="en-US" sz="1400" b="1" dirty="0">
                <a:solidFill>
                  <a:schemeClr val="bg1"/>
                </a:solidFill>
                <a:ea typeface="Calibri" pitchFamily="34" charset="-122"/>
                <a:cs typeface="Calibri" pitchFamily="34" charset="-120"/>
              </a:rPr>
              <a:t>One shared way of matching up area and time, not separate spreadsheets</a:t>
            </a:r>
            <a:endParaRPr lang="en-US" sz="1400" b="1" dirty="0">
              <a:solidFill>
                <a:schemeClr val="bg1"/>
              </a:solidFill>
            </a:endParaRPr>
          </a:p>
          <a:p>
            <a:pPr marL="342900" indent="-342900">
              <a:lnSpc>
                <a:spcPts val="1900"/>
              </a:lnSpc>
              <a:spcAft>
                <a:spcPts val="900"/>
              </a:spcAft>
              <a:buSzPct val="100000"/>
              <a:buChar char="•"/>
            </a:pPr>
            <a:r>
              <a:rPr lang="en-US" sz="1400" b="1" dirty="0">
                <a:solidFill>
                  <a:schemeClr val="bg1"/>
                </a:solidFill>
                <a:ea typeface="Calibri" pitchFamily="34" charset="-122"/>
                <a:cs typeface="Calibri" pitchFamily="34" charset="-120"/>
              </a:rPr>
              <a:t>Formulas that work out rates and year-on-year change automatically</a:t>
            </a:r>
            <a:endParaRPr lang="en-US" sz="1400" b="1" dirty="0">
              <a:solidFill>
                <a:schemeClr val="bg1"/>
              </a:solidFill>
            </a:endParaRPr>
          </a:p>
          <a:p>
            <a:pPr marL="342900" indent="-342900">
              <a:lnSpc>
                <a:spcPts val="1900"/>
              </a:lnSpc>
              <a:buSzPct val="100000"/>
              <a:buChar char="•"/>
            </a:pPr>
            <a:r>
              <a:rPr lang="en-US" sz="1400" b="1" dirty="0">
                <a:solidFill>
                  <a:schemeClr val="bg1"/>
                </a:solidFill>
                <a:ea typeface="Calibri" pitchFamily="34" charset="-122"/>
                <a:cs typeface="Calibri" pitchFamily="34" charset="-120"/>
              </a:rPr>
              <a:t>Saved and version-tracked on GitHub</a:t>
            </a:r>
            <a:endParaRPr lang="en-US" sz="1400" b="1" dirty="0">
              <a:solidFill>
                <a:schemeClr val="bg1"/>
              </a:solidFill>
            </a:endParaRPr>
          </a:p>
        </p:txBody>
      </p:sp>
      <p:sp>
        <p:nvSpPr>
          <p:cNvPr id="11" name="Shape 7"/>
          <p:cNvSpPr/>
          <p:nvPr/>
        </p:nvSpPr>
        <p:spPr>
          <a:xfrm>
            <a:off x="6263640" y="1645920"/>
            <a:ext cx="5257800" cy="4114800"/>
          </a:xfrm>
          <a:prstGeom prst="roundRect">
            <a:avLst>
              <a:gd name="adj" fmla="val 1778"/>
            </a:avLst>
          </a:prstGeom>
          <a:solidFill>
            <a:srgbClr val="F5F8FB"/>
          </a:solidFill>
          <a:ln w="12700">
            <a:solidFill>
              <a:srgbClr val="E2E8F0"/>
            </a:solidFill>
            <a:prstDash val="solid"/>
          </a:ln>
          <a:effectLst>
            <a:outerShdw blurRad="88900" dist="25400" dir="5400000" algn="bl" rotWithShape="0">
              <a:srgbClr val="000000">
                <a:alpha val="12000"/>
              </a:srgbClr>
            </a:outerShdw>
          </a:effectLst>
        </p:spPr>
      </p:sp>
      <p:sp>
        <p:nvSpPr>
          <p:cNvPr id="12" name="Shape 8"/>
          <p:cNvSpPr/>
          <p:nvPr/>
        </p:nvSpPr>
        <p:spPr>
          <a:xfrm>
            <a:off x="6583680" y="1965960"/>
            <a:ext cx="566928" cy="566928"/>
          </a:xfrm>
          <a:prstGeom prst="ellipse">
            <a:avLst/>
          </a:prstGeom>
          <a:solidFill>
            <a:srgbClr val="0E8C86"/>
          </a:solidFill>
          <a:ln/>
        </p:spPr>
      </p:sp>
      <p:pic>
        <p:nvPicPr>
          <p:cNvPr id="13" name="Image 2" descr="preencoded.png"/>
          <p:cNvPicPr>
            <a:picLocks noChangeAspect="1"/>
          </p:cNvPicPr>
          <p:nvPr/>
        </p:nvPicPr>
        <p:blipFill>
          <a:blip r:embed="rId6"/>
          <a:stretch>
            <a:fillRect/>
          </a:stretch>
        </p:blipFill>
        <p:spPr>
          <a:xfrm>
            <a:off x="6711696" y="2066917"/>
            <a:ext cx="310896" cy="310896"/>
          </a:xfrm>
          <a:prstGeom prst="rect">
            <a:avLst/>
          </a:prstGeom>
        </p:spPr>
      </p:pic>
      <p:sp>
        <p:nvSpPr>
          <p:cNvPr id="14" name="Text 9"/>
          <p:cNvSpPr/>
          <p:nvPr/>
        </p:nvSpPr>
        <p:spPr>
          <a:xfrm>
            <a:off x="7406640" y="2084832"/>
            <a:ext cx="3931920" cy="411480"/>
          </a:xfrm>
          <a:prstGeom prst="rect">
            <a:avLst/>
          </a:prstGeom>
          <a:noFill/>
          <a:ln/>
        </p:spPr>
        <p:txBody>
          <a:bodyPr wrap="square" rtlCol="0" anchor="ctr"/>
          <a:lstStyle/>
          <a:p>
            <a:pPr marL="0" indent="0">
              <a:buNone/>
            </a:pPr>
            <a:r>
              <a:rPr lang="en-GB" sz="1800" b="1" dirty="0">
                <a:solidFill>
                  <a:srgbClr val="17233D"/>
                </a:solidFill>
                <a:latin typeface="Calibri" pitchFamily="34" charset="0"/>
                <a:ea typeface="Calibri" pitchFamily="34" charset="-122"/>
                <a:cs typeface="Calibri" pitchFamily="34" charset="-120"/>
              </a:rPr>
              <a:t>What a service lead sees</a:t>
            </a:r>
            <a:endParaRPr lang="en-US" sz="1800" dirty="0"/>
          </a:p>
        </p:txBody>
      </p:sp>
      <p:sp>
        <p:nvSpPr>
          <p:cNvPr id="15" name="Text 10"/>
          <p:cNvSpPr/>
          <p:nvPr/>
        </p:nvSpPr>
        <p:spPr>
          <a:xfrm>
            <a:off x="6720840" y="2880360"/>
            <a:ext cx="4434840" cy="2651760"/>
          </a:xfrm>
          <a:prstGeom prst="rect">
            <a:avLst/>
          </a:prstGeom>
          <a:noFill/>
          <a:ln/>
        </p:spPr>
        <p:txBody>
          <a:bodyPr wrap="square" rtlCol="0" anchor="t"/>
          <a:lstStyle/>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Headlines in </a:t>
            </a:r>
            <a:r>
              <a:rPr lang="en-US" sz="1400" b="1" dirty="0">
                <a:solidFill>
                  <a:srgbClr val="1E293B"/>
                </a:solidFill>
                <a:latin typeface="Calibri" pitchFamily="34" charset="0"/>
                <a:ea typeface="Calibri" pitchFamily="34" charset="-122"/>
                <a:cs typeface="Calibri" pitchFamily="34" charset="-120"/>
              </a:rPr>
              <a:t>Plain-language</a:t>
            </a:r>
            <a:r>
              <a:rPr lang="en-GB" sz="1400" b="1" dirty="0">
                <a:solidFill>
                  <a:srgbClr val="1E293B"/>
                </a:solidFill>
                <a:latin typeface="Calibri" pitchFamily="34" charset="0"/>
                <a:ea typeface="Calibri" pitchFamily="34" charset="-122"/>
                <a:cs typeface="Calibri" pitchFamily="34" charset="-120"/>
              </a:rPr>
              <a:t>, not technical terms</a:t>
            </a:r>
          </a:p>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Clear notes wherever the data has limits</a:t>
            </a:r>
          </a:p>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Colours chosen so everyone can read them, including colour-blind viewers</a:t>
            </a:r>
          </a:p>
          <a:p>
            <a:pPr marL="342900" indent="-342900">
              <a:lnSpc>
                <a:spcPts val="1900"/>
              </a:lnSpc>
              <a:spcAft>
                <a:spcPts val="900"/>
              </a:spcAft>
              <a:buSzPct val="100000"/>
              <a:buChar char="•"/>
            </a:pPr>
            <a:r>
              <a:rPr lang="en-GB" sz="1400" b="1" dirty="0">
                <a:solidFill>
                  <a:srgbClr val="1E293B"/>
                </a:solidFill>
                <a:latin typeface="Calibri" pitchFamily="34" charset="0"/>
                <a:ea typeface="Calibri" pitchFamily="34" charset="-122"/>
                <a:cs typeface="Calibri" pitchFamily="34" charset="-120"/>
              </a:rPr>
              <a:t>Filters anyone can click to find their own answer</a:t>
            </a:r>
            <a:endParaRPr lang="en-US" sz="1400" b="1" dirty="0"/>
          </a:p>
        </p:txBody>
      </p:sp>
      <p:sp>
        <p:nvSpPr>
          <p:cNvPr id="16" name="Text 11"/>
          <p:cNvSpPr/>
          <p:nvPr/>
        </p:nvSpPr>
        <p:spPr>
          <a:xfrm>
            <a:off x="11155680" y="6400800"/>
            <a:ext cx="548640" cy="274320"/>
          </a:xfrm>
          <a:prstGeom prst="rect">
            <a:avLst/>
          </a:prstGeom>
          <a:noFill/>
          <a:ln/>
        </p:spPr>
        <p:txBody>
          <a:bodyPr wrap="square"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
        <p:nvSpPr>
          <p:cNvPr id="17" name="Text 12"/>
          <p:cNvSpPr/>
          <p:nvPr/>
        </p:nvSpPr>
        <p:spPr>
          <a:xfrm>
            <a:off x="640080" y="6400800"/>
            <a:ext cx="6400800" cy="27432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Susairaj Anthony  |  Adult Social Care Performance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17320" y="457200"/>
            <a:ext cx="10058400" cy="169277"/>
          </a:xfrm>
          <a:prstGeom prst="rect">
            <a:avLst/>
          </a:prstGeom>
          <a:noFill/>
        </p:spPr>
        <p:txBody>
          <a:bodyPr wrap="square" lIns="0" tIns="0" rIns="0" bIns="0" anchor="t">
            <a:spAutoFit/>
          </a:bodyPr>
          <a:lstStyle/>
          <a:p>
            <a:pPr algn="l"/>
            <a:r>
              <a:rPr lang="en-GB" sz="1100" b="1" kern="0" spc="200" dirty="0">
                <a:solidFill>
                  <a:srgbClr val="0E8C86"/>
                </a:solidFill>
                <a:latin typeface="Calibri" pitchFamily="34" charset="0"/>
                <a:ea typeface="Calibri" pitchFamily="34" charset="-122"/>
                <a:cs typeface="Calibri" pitchFamily="34" charset="-120"/>
              </a:rPr>
              <a:t>06  THE ANSWERS</a:t>
            </a:r>
          </a:p>
        </p:txBody>
      </p:sp>
      <p:sp>
        <p:nvSpPr>
          <p:cNvPr id="5" name="TextBox 4"/>
          <p:cNvSpPr txBox="1"/>
          <p:nvPr/>
        </p:nvSpPr>
        <p:spPr>
          <a:xfrm>
            <a:off x="1417320" y="694944"/>
            <a:ext cx="10607040" cy="548640"/>
          </a:xfrm>
          <a:prstGeom prst="rect">
            <a:avLst/>
          </a:prstGeom>
          <a:noFill/>
        </p:spPr>
        <p:txBody>
          <a:bodyPr wrap="square" lIns="0" tIns="0" rIns="0" bIns="0" anchor="t">
            <a:spAutoFit/>
          </a:bodyPr>
          <a:lstStyle/>
          <a:p>
            <a:pPr algn="l"/>
            <a:r>
              <a:rPr sz="2500" b="1" dirty="0">
                <a:solidFill>
                  <a:srgbClr val="17233D"/>
                </a:solidFill>
                <a:latin typeface="Cambria"/>
              </a:rPr>
              <a:t>Bringing It Back to the Three Questions</a:t>
            </a:r>
          </a:p>
        </p:txBody>
      </p:sp>
      <p:sp>
        <p:nvSpPr>
          <p:cNvPr id="6" name="Rounded Rectangle 5"/>
          <p:cNvSpPr/>
          <p:nvPr/>
        </p:nvSpPr>
        <p:spPr>
          <a:xfrm>
            <a:off x="640080" y="1554480"/>
            <a:ext cx="10881360" cy="96012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691640" y="1682495"/>
            <a:ext cx="9646920" cy="365760"/>
          </a:xfrm>
          <a:prstGeom prst="rect">
            <a:avLst/>
          </a:prstGeom>
          <a:noFill/>
        </p:spPr>
        <p:txBody>
          <a:bodyPr wrap="square" lIns="0" tIns="0" rIns="0" bIns="0" anchor="t">
            <a:spAutoFit/>
          </a:bodyPr>
          <a:lstStyle/>
          <a:p>
            <a:pPr algn="l"/>
            <a:r>
              <a:rPr sz="1400" b="1" dirty="0">
                <a:solidFill>
                  <a:srgbClr val="17233D"/>
                </a:solidFill>
                <a:latin typeface="Calibri"/>
              </a:rPr>
              <a:t>Is demand for care going up?</a:t>
            </a:r>
          </a:p>
        </p:txBody>
      </p:sp>
      <p:sp>
        <p:nvSpPr>
          <p:cNvPr id="10" name="TextBox 9"/>
          <p:cNvSpPr txBox="1"/>
          <p:nvPr/>
        </p:nvSpPr>
        <p:spPr>
          <a:xfrm>
            <a:off x="1691640" y="2048256"/>
            <a:ext cx="9692640" cy="199927"/>
          </a:xfrm>
          <a:prstGeom prst="rect">
            <a:avLst/>
          </a:prstGeom>
          <a:noFill/>
        </p:spPr>
        <p:txBody>
          <a:bodyPr wrap="square" lIns="0" tIns="0" rIns="0" bIns="0" anchor="t">
            <a:spAutoFit/>
          </a:bodyPr>
          <a:lstStyle/>
          <a:p>
            <a:pPr algn="l">
              <a:lnSpc>
                <a:spcPct val="115000"/>
              </a:lnSpc>
            </a:pPr>
            <a:r>
              <a:rPr sz="1200" b="0" dirty="0">
                <a:solidFill>
                  <a:srgbClr val="64748B"/>
                </a:solidFill>
                <a:latin typeface="Calibri"/>
              </a:rPr>
              <a:t>Yes. 24.1% of Lincolnshire is aged 65+ today, rising to 26.7% by 2030.</a:t>
            </a:r>
          </a:p>
        </p:txBody>
      </p:sp>
      <p:sp>
        <p:nvSpPr>
          <p:cNvPr id="11" name="Rounded Rectangle 10"/>
          <p:cNvSpPr/>
          <p:nvPr/>
        </p:nvSpPr>
        <p:spPr>
          <a:xfrm>
            <a:off x="640080" y="2651760"/>
            <a:ext cx="10881360" cy="96012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91640" y="2779776"/>
            <a:ext cx="9646920" cy="365760"/>
          </a:xfrm>
          <a:prstGeom prst="rect">
            <a:avLst/>
          </a:prstGeom>
          <a:noFill/>
        </p:spPr>
        <p:txBody>
          <a:bodyPr wrap="square" lIns="0" tIns="0" rIns="0" bIns="0" anchor="t">
            <a:spAutoFit/>
          </a:bodyPr>
          <a:lstStyle/>
          <a:p>
            <a:pPr algn="l"/>
            <a:r>
              <a:rPr sz="1400" b="1">
                <a:solidFill>
                  <a:srgbClr val="17233D"/>
                </a:solidFill>
                <a:latin typeface="Calibri"/>
              </a:rPr>
              <a:t>How well is the council actually doing?</a:t>
            </a:r>
          </a:p>
        </p:txBody>
      </p:sp>
      <p:sp>
        <p:nvSpPr>
          <p:cNvPr id="15" name="TextBox 14"/>
          <p:cNvSpPr txBox="1"/>
          <p:nvPr/>
        </p:nvSpPr>
        <p:spPr>
          <a:xfrm>
            <a:off x="1691640" y="3145536"/>
            <a:ext cx="9692640" cy="199927"/>
          </a:xfrm>
          <a:prstGeom prst="rect">
            <a:avLst/>
          </a:prstGeom>
          <a:noFill/>
        </p:spPr>
        <p:txBody>
          <a:bodyPr wrap="square" lIns="0" tIns="0" rIns="0" bIns="0" anchor="t">
            <a:spAutoFit/>
          </a:bodyPr>
          <a:lstStyle/>
          <a:p>
            <a:pPr algn="l">
              <a:lnSpc>
                <a:spcPct val="115000"/>
              </a:lnSpc>
            </a:pPr>
            <a:r>
              <a:rPr sz="1200" b="0" dirty="0">
                <a:solidFill>
                  <a:srgbClr val="64748B"/>
                </a:solidFill>
                <a:latin typeface="Calibri"/>
              </a:rPr>
              <a:t>Mostly ahead of England, but workforce turnover and </a:t>
            </a:r>
            <a:r>
              <a:rPr lang="en-GB" sz="1200" b="0" dirty="0">
                <a:solidFill>
                  <a:srgbClr val="64748B"/>
                </a:solidFill>
                <a:latin typeface="Calibri"/>
              </a:rPr>
              <a:t>care </a:t>
            </a:r>
            <a:r>
              <a:rPr sz="1200" b="0" dirty="0">
                <a:solidFill>
                  <a:srgbClr val="64748B"/>
                </a:solidFill>
                <a:latin typeface="Calibri"/>
              </a:rPr>
              <a:t>admissions for 18–</a:t>
            </a:r>
            <a:r>
              <a:rPr lang="en-GB" sz="1200" b="0" dirty="0">
                <a:solidFill>
                  <a:srgbClr val="64748B"/>
                </a:solidFill>
                <a:latin typeface="Calibri"/>
              </a:rPr>
              <a:t>64-year-olds</a:t>
            </a:r>
            <a:r>
              <a:rPr sz="1200" b="0" dirty="0">
                <a:solidFill>
                  <a:srgbClr val="64748B"/>
                </a:solidFill>
                <a:latin typeface="Calibri"/>
              </a:rPr>
              <a:t> need attention.</a:t>
            </a:r>
          </a:p>
        </p:txBody>
      </p:sp>
      <p:sp>
        <p:nvSpPr>
          <p:cNvPr id="16" name="Rounded Rectangle 15"/>
          <p:cNvSpPr/>
          <p:nvPr/>
        </p:nvSpPr>
        <p:spPr>
          <a:xfrm>
            <a:off x="640080" y="3749039"/>
            <a:ext cx="10881360" cy="960120"/>
          </a:xfrm>
          <a:prstGeom prst="roundRect">
            <a:avLst>
              <a:gd name="adj" fmla="val 6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91640" y="3877055"/>
            <a:ext cx="9646920" cy="365760"/>
          </a:xfrm>
          <a:prstGeom prst="rect">
            <a:avLst/>
          </a:prstGeom>
          <a:noFill/>
        </p:spPr>
        <p:txBody>
          <a:bodyPr wrap="square" lIns="0" tIns="0" rIns="0" bIns="0" anchor="t">
            <a:spAutoFit/>
          </a:bodyPr>
          <a:lstStyle/>
          <a:p>
            <a:pPr algn="l"/>
            <a:r>
              <a:rPr sz="1400" b="1">
                <a:solidFill>
                  <a:srgbClr val="17233D"/>
                </a:solidFill>
                <a:latin typeface="Calibri"/>
              </a:rPr>
              <a:t>Is the local care market healthy?</a:t>
            </a:r>
          </a:p>
        </p:txBody>
      </p:sp>
      <p:sp>
        <p:nvSpPr>
          <p:cNvPr id="20" name="TextBox 19"/>
          <p:cNvSpPr txBox="1"/>
          <p:nvPr/>
        </p:nvSpPr>
        <p:spPr>
          <a:xfrm>
            <a:off x="1691640" y="4242816"/>
            <a:ext cx="9692640" cy="199927"/>
          </a:xfrm>
          <a:prstGeom prst="rect">
            <a:avLst/>
          </a:prstGeom>
          <a:noFill/>
        </p:spPr>
        <p:txBody>
          <a:bodyPr wrap="square" lIns="0" tIns="0" rIns="0" bIns="0" anchor="t">
            <a:spAutoFit/>
          </a:bodyPr>
          <a:lstStyle/>
          <a:p>
            <a:pPr algn="l">
              <a:lnSpc>
                <a:spcPct val="115000"/>
              </a:lnSpc>
            </a:pPr>
            <a:r>
              <a:rPr sz="1200" b="0" dirty="0">
                <a:solidFill>
                  <a:srgbClr val="64748B"/>
                </a:solidFill>
                <a:latin typeface="Calibri"/>
              </a:rPr>
              <a:t>Mostly. 77.2% of homes are rated Good or Outstanding, just behind England's 81.7%.</a:t>
            </a:r>
          </a:p>
        </p:txBody>
      </p:sp>
      <p:sp>
        <p:nvSpPr>
          <p:cNvPr id="21" name="Rounded Rectangle 20"/>
          <p:cNvSpPr/>
          <p:nvPr/>
        </p:nvSpPr>
        <p:spPr>
          <a:xfrm>
            <a:off x="640080" y="4846320"/>
            <a:ext cx="10927080" cy="777240"/>
          </a:xfrm>
          <a:prstGeom prst="roundRect">
            <a:avLst>
              <a:gd name="adj" fmla="val 6000"/>
            </a:avLst>
          </a:prstGeom>
          <a:solidFill>
            <a:srgbClr val="DCE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image.png"/>
          <p:cNvPicPr>
            <a:picLocks noChangeAspect="1"/>
          </p:cNvPicPr>
          <p:nvPr/>
        </p:nvPicPr>
        <p:blipFill>
          <a:blip r:embed="rId3"/>
          <a:stretch>
            <a:fillRect/>
          </a:stretch>
        </p:blipFill>
        <p:spPr>
          <a:xfrm>
            <a:off x="914400" y="5056632"/>
            <a:ext cx="310896" cy="310896"/>
          </a:xfrm>
          <a:prstGeom prst="rect">
            <a:avLst/>
          </a:prstGeom>
        </p:spPr>
      </p:pic>
      <p:sp>
        <p:nvSpPr>
          <p:cNvPr id="23" name="TextBox 22"/>
          <p:cNvSpPr txBox="1"/>
          <p:nvPr/>
        </p:nvSpPr>
        <p:spPr>
          <a:xfrm>
            <a:off x="1417320" y="4892040"/>
            <a:ext cx="9875520" cy="685800"/>
          </a:xfrm>
          <a:prstGeom prst="rect">
            <a:avLst/>
          </a:prstGeom>
          <a:noFill/>
        </p:spPr>
        <p:txBody>
          <a:bodyPr wrap="square" lIns="0" tIns="0" rIns="0" bIns="0" anchor="ctr">
            <a:spAutoFit/>
          </a:bodyPr>
          <a:lstStyle/>
          <a:p>
            <a:pPr algn="l">
              <a:lnSpc>
                <a:spcPct val="115000"/>
              </a:lnSpc>
            </a:pPr>
            <a:r>
              <a:rPr sz="1200" b="1" dirty="0">
                <a:solidFill>
                  <a:srgbClr val="0A6B66"/>
                </a:solidFill>
                <a:latin typeface="Calibri"/>
              </a:rPr>
              <a:t>Read together:  </a:t>
            </a:r>
            <a:r>
              <a:rPr sz="1200" b="0" dirty="0">
                <a:solidFill>
                  <a:srgbClr val="27455C"/>
                </a:solidFill>
                <a:latin typeface="Calibri"/>
              </a:rPr>
              <a:t>On their own, none of these tells the full story. Together, they show not just how a service is performing, but whether it can keep up with what's coming, and whether the local market can deliver it. That's how a real planning decision gets made.</a:t>
            </a:r>
          </a:p>
        </p:txBody>
      </p:sp>
      <p:sp>
        <p:nvSpPr>
          <p:cNvPr id="24" name="TextBox 23"/>
          <p:cNvSpPr txBox="1"/>
          <p:nvPr/>
        </p:nvSpPr>
        <p:spPr>
          <a:xfrm>
            <a:off x="11155680" y="6400800"/>
            <a:ext cx="548640" cy="274320"/>
          </a:xfrm>
          <a:prstGeom prst="rect">
            <a:avLst/>
          </a:prstGeom>
          <a:noFill/>
        </p:spPr>
        <p:txBody>
          <a:bodyPr wrap="square" lIns="0" tIns="0" rIns="0" bIns="0" anchor="t">
            <a:spAutoFit/>
          </a:bodyPr>
          <a:lstStyle/>
          <a:p>
            <a:pPr algn="l"/>
            <a:r>
              <a:rPr sz="1000" b="0">
                <a:solidFill>
                  <a:srgbClr val="64748B"/>
                </a:solidFill>
                <a:latin typeface="Calibri"/>
              </a:rPr>
              <a:t>09</a:t>
            </a:r>
          </a:p>
        </p:txBody>
      </p:sp>
      <p:sp>
        <p:nvSpPr>
          <p:cNvPr id="25" name="TextBox 24"/>
          <p:cNvSpPr txBox="1"/>
          <p:nvPr/>
        </p:nvSpPr>
        <p:spPr>
          <a:xfrm>
            <a:off x="640080" y="6400800"/>
            <a:ext cx="6400800" cy="274320"/>
          </a:xfrm>
          <a:prstGeom prst="rect">
            <a:avLst/>
          </a:prstGeom>
          <a:noFill/>
        </p:spPr>
        <p:txBody>
          <a:bodyPr wrap="square" lIns="0" tIns="0" rIns="0" bIns="0" anchor="t">
            <a:spAutoFit/>
          </a:bodyPr>
          <a:lstStyle/>
          <a:p>
            <a:pPr algn="l"/>
            <a:r>
              <a:rPr sz="1000" b="0">
                <a:solidFill>
                  <a:srgbClr val="64748B"/>
                </a:solidFill>
                <a:latin typeface="Calibri"/>
              </a:rPr>
              <a:t>Susairaj Anthony  |  Adult Social Care Performance</a:t>
            </a:r>
          </a:p>
        </p:txBody>
      </p:sp>
      <p:grpSp>
        <p:nvGrpSpPr>
          <p:cNvPr id="31" name="Group 30">
            <a:extLst>
              <a:ext uri="{FF2B5EF4-FFF2-40B4-BE49-F238E27FC236}">
                <a16:creationId xmlns:a16="http://schemas.microsoft.com/office/drawing/2014/main" id="{80A74345-7DCC-5746-0250-BE6E8BBF8214}"/>
              </a:ext>
            </a:extLst>
          </p:cNvPr>
          <p:cNvGrpSpPr/>
          <p:nvPr/>
        </p:nvGrpSpPr>
        <p:grpSpPr>
          <a:xfrm>
            <a:off x="914400" y="1755648"/>
            <a:ext cx="566928" cy="566928"/>
            <a:chOff x="6812280" y="2386584"/>
            <a:chExt cx="640080" cy="640080"/>
          </a:xfrm>
        </p:grpSpPr>
        <p:sp>
          <p:nvSpPr>
            <p:cNvPr id="32" name="Shape 8">
              <a:extLst>
                <a:ext uri="{FF2B5EF4-FFF2-40B4-BE49-F238E27FC236}">
                  <a16:creationId xmlns:a16="http://schemas.microsoft.com/office/drawing/2014/main" id="{1345DB80-AAE8-E780-86D2-CE115DB4AEA9}"/>
                </a:ext>
              </a:extLst>
            </p:cNvPr>
            <p:cNvSpPr/>
            <p:nvPr/>
          </p:nvSpPr>
          <p:spPr>
            <a:xfrm>
              <a:off x="6812280" y="2386584"/>
              <a:ext cx="640080" cy="640080"/>
            </a:xfrm>
            <a:prstGeom prst="ellipse">
              <a:avLst/>
            </a:prstGeom>
            <a:solidFill>
              <a:srgbClr val="0E8C86"/>
            </a:solidFill>
            <a:ln/>
          </p:spPr>
        </p:sp>
        <p:pic>
          <p:nvPicPr>
            <p:cNvPr id="33" name="Image 2" descr="preencoded.png">
              <a:extLst>
                <a:ext uri="{FF2B5EF4-FFF2-40B4-BE49-F238E27FC236}">
                  <a16:creationId xmlns:a16="http://schemas.microsoft.com/office/drawing/2014/main" id="{0EE8E16B-46E2-1817-F547-4106C8A488D4}"/>
                </a:ext>
              </a:extLst>
            </p:cNvPr>
            <p:cNvPicPr>
              <a:picLocks noChangeAspect="1"/>
            </p:cNvPicPr>
            <p:nvPr/>
          </p:nvPicPr>
          <p:blipFill>
            <a:blip r:embed="rId4"/>
            <a:stretch>
              <a:fillRect/>
            </a:stretch>
          </p:blipFill>
          <p:spPr>
            <a:xfrm>
              <a:off x="6995160" y="2569464"/>
              <a:ext cx="274320" cy="274320"/>
            </a:xfrm>
            <a:prstGeom prst="rect">
              <a:avLst/>
            </a:prstGeom>
          </p:spPr>
        </p:pic>
      </p:grpSp>
      <p:grpSp>
        <p:nvGrpSpPr>
          <p:cNvPr id="43" name="Group 42">
            <a:extLst>
              <a:ext uri="{FF2B5EF4-FFF2-40B4-BE49-F238E27FC236}">
                <a16:creationId xmlns:a16="http://schemas.microsoft.com/office/drawing/2014/main" id="{61854EE1-9F93-B773-6C64-C21DE273C273}"/>
              </a:ext>
            </a:extLst>
          </p:cNvPr>
          <p:cNvGrpSpPr/>
          <p:nvPr/>
        </p:nvGrpSpPr>
        <p:grpSpPr>
          <a:xfrm>
            <a:off x="914400" y="2852928"/>
            <a:ext cx="566928" cy="566928"/>
            <a:chOff x="6812280" y="3712464"/>
            <a:chExt cx="566928" cy="566928"/>
          </a:xfrm>
        </p:grpSpPr>
        <p:sp>
          <p:nvSpPr>
            <p:cNvPr id="40" name="Shape 12">
              <a:extLst>
                <a:ext uri="{FF2B5EF4-FFF2-40B4-BE49-F238E27FC236}">
                  <a16:creationId xmlns:a16="http://schemas.microsoft.com/office/drawing/2014/main" id="{56398790-A1A7-E3F4-7560-6B692DE1CD79}"/>
                </a:ext>
              </a:extLst>
            </p:cNvPr>
            <p:cNvSpPr/>
            <p:nvPr/>
          </p:nvSpPr>
          <p:spPr>
            <a:xfrm>
              <a:off x="6812280" y="3712464"/>
              <a:ext cx="566928" cy="566928"/>
            </a:xfrm>
            <a:prstGeom prst="ellipse">
              <a:avLst/>
            </a:prstGeom>
            <a:solidFill>
              <a:srgbClr val="0E8C86"/>
            </a:solidFill>
            <a:ln/>
          </p:spPr>
        </p:sp>
        <p:pic>
          <p:nvPicPr>
            <p:cNvPr id="42" name="Image 2" descr="preencoded.png">
              <a:extLst>
                <a:ext uri="{FF2B5EF4-FFF2-40B4-BE49-F238E27FC236}">
                  <a16:creationId xmlns:a16="http://schemas.microsoft.com/office/drawing/2014/main" id="{06BAEA9B-467D-4503-C158-8444B6111A16}"/>
                </a:ext>
              </a:extLst>
            </p:cNvPr>
            <p:cNvPicPr>
              <a:picLocks noChangeAspect="1"/>
            </p:cNvPicPr>
            <p:nvPr/>
          </p:nvPicPr>
          <p:blipFill>
            <a:blip r:embed="rId5"/>
            <a:stretch>
              <a:fillRect/>
            </a:stretch>
          </p:blipFill>
          <p:spPr>
            <a:xfrm>
              <a:off x="6958584" y="3858768"/>
              <a:ext cx="274320" cy="274320"/>
            </a:xfrm>
            <a:prstGeom prst="rect">
              <a:avLst/>
            </a:prstGeom>
          </p:spPr>
        </p:pic>
      </p:grpSp>
      <p:grpSp>
        <p:nvGrpSpPr>
          <p:cNvPr id="48" name="Group 47">
            <a:extLst>
              <a:ext uri="{FF2B5EF4-FFF2-40B4-BE49-F238E27FC236}">
                <a16:creationId xmlns:a16="http://schemas.microsoft.com/office/drawing/2014/main" id="{FA980711-AAA4-89B7-9F68-EE6F149111E5}"/>
              </a:ext>
            </a:extLst>
          </p:cNvPr>
          <p:cNvGrpSpPr/>
          <p:nvPr/>
        </p:nvGrpSpPr>
        <p:grpSpPr>
          <a:xfrm>
            <a:off x="914400" y="3950208"/>
            <a:ext cx="566928" cy="566928"/>
            <a:chOff x="882396" y="3967562"/>
            <a:chExt cx="566928" cy="566928"/>
          </a:xfrm>
        </p:grpSpPr>
        <p:sp>
          <p:nvSpPr>
            <p:cNvPr id="45" name="Shape 16">
              <a:extLst>
                <a:ext uri="{FF2B5EF4-FFF2-40B4-BE49-F238E27FC236}">
                  <a16:creationId xmlns:a16="http://schemas.microsoft.com/office/drawing/2014/main" id="{FD91BAFD-2843-03CC-DC96-21C928D00DFE}"/>
                </a:ext>
              </a:extLst>
            </p:cNvPr>
            <p:cNvSpPr/>
            <p:nvPr/>
          </p:nvSpPr>
          <p:spPr>
            <a:xfrm>
              <a:off x="882396" y="3967562"/>
              <a:ext cx="566928" cy="566928"/>
            </a:xfrm>
            <a:prstGeom prst="ellipse">
              <a:avLst/>
            </a:prstGeom>
            <a:solidFill>
              <a:srgbClr val="0E8C86"/>
            </a:solidFill>
            <a:ln/>
          </p:spPr>
        </p:sp>
        <p:pic>
          <p:nvPicPr>
            <p:cNvPr id="47" name="Image 3" descr="preencoded.png">
              <a:extLst>
                <a:ext uri="{FF2B5EF4-FFF2-40B4-BE49-F238E27FC236}">
                  <a16:creationId xmlns:a16="http://schemas.microsoft.com/office/drawing/2014/main" id="{7F71DC3E-3533-A776-9063-AD849CEA0DDB}"/>
                </a:ext>
              </a:extLst>
            </p:cNvPr>
            <p:cNvPicPr>
              <a:picLocks noChangeAspect="1"/>
            </p:cNvPicPr>
            <p:nvPr/>
          </p:nvPicPr>
          <p:blipFill>
            <a:blip r:embed="rId6"/>
            <a:stretch>
              <a:fillRect/>
            </a:stretch>
          </p:blipFill>
          <p:spPr>
            <a:xfrm>
              <a:off x="1033365" y="4104722"/>
              <a:ext cx="274320" cy="274320"/>
            </a:xfrm>
            <a:prstGeom prst="rect">
              <a:avLst/>
            </a:prstGeom>
          </p:spPr>
        </p:pic>
      </p:grpSp>
      <p:sp>
        <p:nvSpPr>
          <p:cNvPr id="50" name="Shape 0">
            <a:extLst>
              <a:ext uri="{FF2B5EF4-FFF2-40B4-BE49-F238E27FC236}">
                <a16:creationId xmlns:a16="http://schemas.microsoft.com/office/drawing/2014/main" id="{2E39931C-2AD0-4CC7-7513-7633C71BDD86}"/>
              </a:ext>
            </a:extLst>
          </p:cNvPr>
          <p:cNvSpPr/>
          <p:nvPr/>
        </p:nvSpPr>
        <p:spPr>
          <a:xfrm>
            <a:off x="640080" y="502920"/>
            <a:ext cx="566928" cy="566928"/>
          </a:xfrm>
          <a:prstGeom prst="ellipse">
            <a:avLst/>
          </a:prstGeom>
          <a:solidFill>
            <a:srgbClr val="0E8C86"/>
          </a:solidFill>
          <a:ln/>
          <a:effectLst>
            <a:outerShdw blurRad="88900" dist="25400" dir="5400000" algn="bl" rotWithShape="0">
              <a:srgbClr val="000000">
                <a:alpha val="12000"/>
              </a:srgbClr>
            </a:outerShdw>
          </a:effectLst>
        </p:spPr>
      </p:sp>
      <p:pic>
        <p:nvPicPr>
          <p:cNvPr id="52" name="Image 0" descr="preencoded.png">
            <a:extLst>
              <a:ext uri="{FF2B5EF4-FFF2-40B4-BE49-F238E27FC236}">
                <a16:creationId xmlns:a16="http://schemas.microsoft.com/office/drawing/2014/main" id="{2B761EF2-E930-991C-D980-B7199AE5300E}"/>
              </a:ext>
            </a:extLst>
          </p:cNvPr>
          <p:cNvPicPr>
            <a:picLocks noChangeAspect="1"/>
          </p:cNvPicPr>
          <p:nvPr/>
        </p:nvPicPr>
        <p:blipFill>
          <a:blip r:embed="rId7"/>
          <a:stretch>
            <a:fillRect/>
          </a:stretch>
        </p:blipFill>
        <p:spPr>
          <a:xfrm>
            <a:off x="786384" y="649224"/>
            <a:ext cx="274320" cy="274320"/>
          </a:xfrm>
          <a:prstGeom prst="rect">
            <a:avLst/>
          </a:prstGeom>
        </p:spPr>
      </p:pic>
    </p:spTree>
    <p:extLst>
      <p:ext uri="{BB962C8B-B14F-4D97-AF65-F5344CB8AC3E}">
        <p14:creationId xmlns:p14="http://schemas.microsoft.com/office/powerpoint/2010/main" val="425272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7233D"/>
        </a:solidFill>
        <a:effectLst/>
      </p:bgPr>
    </p:bg>
    <p:spTree>
      <p:nvGrpSpPr>
        <p:cNvPr id="1" name=""/>
        <p:cNvGrpSpPr/>
        <p:nvPr/>
      </p:nvGrpSpPr>
      <p:grpSpPr>
        <a:xfrm>
          <a:off x="0" y="0"/>
          <a:ext cx="0" cy="0"/>
          <a:chOff x="0" y="0"/>
          <a:chExt cx="0" cy="0"/>
        </a:xfrm>
      </p:grpSpPr>
      <p:sp>
        <p:nvSpPr>
          <p:cNvPr id="2" name="Shape 0"/>
          <p:cNvSpPr/>
          <p:nvPr/>
        </p:nvSpPr>
        <p:spPr>
          <a:xfrm>
            <a:off x="-1463040" y="4480560"/>
            <a:ext cx="3931920" cy="3931920"/>
          </a:xfrm>
          <a:prstGeom prst="ellipse">
            <a:avLst/>
          </a:prstGeom>
          <a:solidFill>
            <a:srgbClr val="1F3A5F"/>
          </a:solidFill>
          <a:ln/>
        </p:spPr>
      </p:sp>
      <p:sp>
        <p:nvSpPr>
          <p:cNvPr id="3" name="Shape 1"/>
          <p:cNvSpPr/>
          <p:nvPr/>
        </p:nvSpPr>
        <p:spPr>
          <a:xfrm>
            <a:off x="10607040" y="-1280160"/>
            <a:ext cx="3108960" cy="3108960"/>
          </a:xfrm>
          <a:prstGeom prst="ellipse">
            <a:avLst/>
          </a:prstGeom>
          <a:solidFill>
            <a:srgbClr val="0A6B66"/>
          </a:solidFill>
          <a:ln/>
        </p:spPr>
      </p:sp>
      <p:sp>
        <p:nvSpPr>
          <p:cNvPr id="4" name="Shape 2"/>
          <p:cNvSpPr/>
          <p:nvPr/>
        </p:nvSpPr>
        <p:spPr>
          <a:xfrm>
            <a:off x="640080" y="685800"/>
            <a:ext cx="731520" cy="731520"/>
          </a:xfrm>
          <a:prstGeom prst="ellipse">
            <a:avLst/>
          </a:prstGeom>
          <a:solidFill>
            <a:srgbClr val="0E8C86"/>
          </a:solidFill>
          <a:ln/>
        </p:spPr>
      </p:sp>
      <p:pic>
        <p:nvPicPr>
          <p:cNvPr id="5" name="Image 0" descr="preencoded.png"/>
          <p:cNvPicPr>
            <a:picLocks noChangeAspect="1"/>
          </p:cNvPicPr>
          <p:nvPr/>
        </p:nvPicPr>
        <p:blipFill>
          <a:blip r:embed="rId3"/>
          <a:stretch>
            <a:fillRect/>
          </a:stretch>
        </p:blipFill>
        <p:spPr>
          <a:xfrm>
            <a:off x="859536" y="905256"/>
            <a:ext cx="292608" cy="292608"/>
          </a:xfrm>
          <a:prstGeom prst="rect">
            <a:avLst/>
          </a:prstGeom>
        </p:spPr>
      </p:pic>
      <p:sp>
        <p:nvSpPr>
          <p:cNvPr id="6" name="Text 3"/>
          <p:cNvSpPr/>
          <p:nvPr/>
        </p:nvSpPr>
        <p:spPr>
          <a:xfrm>
            <a:off x="1600200" y="731520"/>
            <a:ext cx="9144000" cy="548640"/>
          </a:xfrm>
          <a:prstGeom prst="rect">
            <a:avLst/>
          </a:prstGeom>
          <a:noFill/>
          <a:ln/>
        </p:spPr>
        <p:txBody>
          <a:bodyPr wrap="square" rtlCol="0" anchor="ctr"/>
          <a:lstStyle/>
          <a:p>
            <a:pPr marL="0" indent="0">
              <a:buNone/>
            </a:pPr>
            <a:r>
              <a:rPr lang="en-US" sz="2500" b="1" dirty="0">
                <a:solidFill>
                  <a:srgbClr val="F5F8FB"/>
                </a:solidFill>
                <a:latin typeface="Cambria" pitchFamily="34" charset="0"/>
                <a:ea typeface="Cambria" pitchFamily="34" charset="-122"/>
                <a:cs typeface="Cambria" pitchFamily="34" charset="-120"/>
              </a:rPr>
              <a:t>Why this fits the role</a:t>
            </a:r>
            <a:endParaRPr lang="en-US" sz="2500" dirty="0">
              <a:solidFill>
                <a:srgbClr val="F5F8FB"/>
              </a:solidFill>
            </a:endParaRPr>
          </a:p>
        </p:txBody>
      </p:sp>
      <p:sp>
        <p:nvSpPr>
          <p:cNvPr id="7" name="Shape 4"/>
          <p:cNvSpPr/>
          <p:nvPr/>
        </p:nvSpPr>
        <p:spPr>
          <a:xfrm>
            <a:off x="640080" y="1737360"/>
            <a:ext cx="3502152" cy="1234440"/>
          </a:xfrm>
          <a:prstGeom prst="roundRect">
            <a:avLst>
              <a:gd name="adj" fmla="val 5926"/>
            </a:avLst>
          </a:prstGeom>
          <a:solidFill>
            <a:srgbClr val="1F3A5F"/>
          </a:solidFill>
          <a:ln/>
        </p:spPr>
      </p:sp>
      <p:sp>
        <p:nvSpPr>
          <p:cNvPr id="8" name="Text 5"/>
          <p:cNvSpPr/>
          <p:nvPr/>
        </p:nvSpPr>
        <p:spPr>
          <a:xfrm>
            <a:off x="914400" y="1965960"/>
            <a:ext cx="2953512"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Multiple Public Data Sources</a:t>
            </a:r>
            <a:endParaRPr lang="en-US" sz="1400" dirty="0"/>
          </a:p>
        </p:txBody>
      </p:sp>
      <p:sp>
        <p:nvSpPr>
          <p:cNvPr id="9" name="Text 6"/>
          <p:cNvSpPr/>
          <p:nvPr/>
        </p:nvSpPr>
        <p:spPr>
          <a:xfrm>
            <a:off x="914400" y="2359152"/>
            <a:ext cx="2953512" cy="457200"/>
          </a:xfrm>
          <a:prstGeom prst="rect">
            <a:avLst/>
          </a:prstGeom>
          <a:noFill/>
          <a:ln/>
        </p:spPr>
        <p:txBody>
          <a:bodyPr wrap="square" rtlCol="0" anchor="ctr"/>
          <a:lstStyle/>
          <a:p>
            <a:pPr marL="0" indent="0">
              <a:buNone/>
            </a:pPr>
            <a:r>
              <a:rPr lang="en-US" sz="1200" dirty="0">
                <a:solidFill>
                  <a:srgbClr val="F5F8FB"/>
                </a:solidFill>
                <a:latin typeface="Calibri" pitchFamily="34" charset="0"/>
                <a:ea typeface="Calibri" pitchFamily="34" charset="-122"/>
                <a:cs typeface="Calibri" pitchFamily="34" charset="-120"/>
              </a:rPr>
              <a:t>Spread across different places, just like council data</a:t>
            </a:r>
            <a:endParaRPr lang="en-US" sz="1200" dirty="0">
              <a:solidFill>
                <a:srgbClr val="F5F8FB"/>
              </a:solidFill>
            </a:endParaRPr>
          </a:p>
        </p:txBody>
      </p:sp>
      <p:sp>
        <p:nvSpPr>
          <p:cNvPr id="10" name="Text 7"/>
          <p:cNvSpPr/>
          <p:nvPr/>
        </p:nvSpPr>
        <p:spPr>
          <a:xfrm>
            <a:off x="4123944" y="2148840"/>
            <a:ext cx="292608" cy="457200"/>
          </a:xfrm>
          <a:prstGeom prst="rect">
            <a:avLst/>
          </a:prstGeom>
          <a:noFill/>
          <a:ln/>
        </p:spPr>
        <p:txBody>
          <a:bodyPr wrap="square" rtlCol="0" anchor="ctr"/>
          <a:lstStyle/>
          <a:p>
            <a:pPr marL="0" indent="0" algn="ctr">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1" name="Shape 8"/>
          <p:cNvSpPr/>
          <p:nvPr/>
        </p:nvSpPr>
        <p:spPr>
          <a:xfrm>
            <a:off x="4416552" y="1737360"/>
            <a:ext cx="3502152" cy="1234440"/>
          </a:xfrm>
          <a:prstGeom prst="roundRect">
            <a:avLst>
              <a:gd name="adj" fmla="val 5926"/>
            </a:avLst>
          </a:prstGeom>
          <a:solidFill>
            <a:srgbClr val="1F3A5F"/>
          </a:solidFill>
          <a:ln/>
        </p:spPr>
      </p:sp>
      <p:sp>
        <p:nvSpPr>
          <p:cNvPr id="12" name="Text 9"/>
          <p:cNvSpPr/>
          <p:nvPr/>
        </p:nvSpPr>
        <p:spPr>
          <a:xfrm>
            <a:off x="4690872" y="1965960"/>
            <a:ext cx="2953512"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One Interactive Dashboard</a:t>
            </a:r>
            <a:endParaRPr lang="en-US" sz="1400" dirty="0"/>
          </a:p>
        </p:txBody>
      </p:sp>
      <p:sp>
        <p:nvSpPr>
          <p:cNvPr id="13" name="Text 10"/>
          <p:cNvSpPr/>
          <p:nvPr/>
        </p:nvSpPr>
        <p:spPr>
          <a:xfrm>
            <a:off x="4690872" y="2359152"/>
            <a:ext cx="2953512" cy="457200"/>
          </a:xfrm>
          <a:prstGeom prst="rect">
            <a:avLst/>
          </a:prstGeom>
          <a:noFill/>
          <a:ln/>
        </p:spPr>
        <p:txBody>
          <a:bodyPr wrap="square" rtlCol="0" anchor="ctr"/>
          <a:lstStyle/>
          <a:p>
            <a:pPr marL="0" indent="0">
              <a:buNone/>
            </a:pPr>
            <a:r>
              <a:rPr lang="en-US" sz="1200" dirty="0">
                <a:solidFill>
                  <a:srgbClr val="F5F8FB"/>
                </a:solidFill>
                <a:latin typeface="Calibri" pitchFamily="34" charset="0"/>
                <a:ea typeface="Calibri" pitchFamily="34" charset="-122"/>
                <a:cs typeface="Calibri" pitchFamily="34" charset="-120"/>
              </a:rPr>
              <a:t>Brought together in one place people can trust</a:t>
            </a:r>
            <a:endParaRPr lang="en-US" sz="1200" dirty="0">
              <a:solidFill>
                <a:srgbClr val="F5F8FB"/>
              </a:solidFill>
            </a:endParaRPr>
          </a:p>
        </p:txBody>
      </p:sp>
      <p:sp>
        <p:nvSpPr>
          <p:cNvPr id="14" name="Text 11"/>
          <p:cNvSpPr/>
          <p:nvPr/>
        </p:nvSpPr>
        <p:spPr>
          <a:xfrm>
            <a:off x="7900416" y="2148840"/>
            <a:ext cx="292608" cy="457200"/>
          </a:xfrm>
          <a:prstGeom prst="rect">
            <a:avLst/>
          </a:prstGeom>
          <a:noFill/>
          <a:ln/>
        </p:spPr>
        <p:txBody>
          <a:bodyPr wrap="square" rtlCol="0" anchor="ctr"/>
          <a:lstStyle/>
          <a:p>
            <a:pPr marL="0" indent="0" algn="ctr">
              <a:buNone/>
            </a:pPr>
            <a:r>
              <a:rPr lang="en-US" sz="2000" b="1" dirty="0">
                <a:solidFill>
                  <a:srgbClr val="0E8C86"/>
                </a:solidFill>
                <a:latin typeface="Calibri" pitchFamily="34" charset="0"/>
                <a:ea typeface="Calibri" pitchFamily="34" charset="-122"/>
                <a:cs typeface="Calibri" pitchFamily="34" charset="-120"/>
              </a:rPr>
              <a:t>&gt;</a:t>
            </a:r>
            <a:endParaRPr lang="en-US" sz="2000" dirty="0"/>
          </a:p>
        </p:txBody>
      </p:sp>
      <p:sp>
        <p:nvSpPr>
          <p:cNvPr id="15" name="Shape 12"/>
          <p:cNvSpPr/>
          <p:nvPr/>
        </p:nvSpPr>
        <p:spPr>
          <a:xfrm>
            <a:off x="8193024" y="1737360"/>
            <a:ext cx="3502152" cy="1234440"/>
          </a:xfrm>
          <a:prstGeom prst="roundRect">
            <a:avLst>
              <a:gd name="adj" fmla="val 5926"/>
            </a:avLst>
          </a:prstGeom>
          <a:solidFill>
            <a:srgbClr val="1F3A5F"/>
          </a:solidFill>
          <a:ln/>
        </p:spPr>
      </p:sp>
      <p:sp>
        <p:nvSpPr>
          <p:cNvPr id="16" name="Text 13"/>
          <p:cNvSpPr/>
          <p:nvPr/>
        </p:nvSpPr>
        <p:spPr>
          <a:xfrm>
            <a:off x="8467344" y="1965960"/>
            <a:ext cx="2953512" cy="365760"/>
          </a:xfrm>
          <a:prstGeom prst="rect">
            <a:avLst/>
          </a:prstGeom>
          <a:noFill/>
          <a:ln/>
        </p:spPr>
        <p:txBody>
          <a:bodyPr wrap="square" rtlCol="0" anchor="ctr"/>
          <a:lstStyle/>
          <a:p>
            <a:pPr marL="0" indent="0">
              <a:buNone/>
            </a:pPr>
            <a:r>
              <a:rPr lang="en-GB" sz="1400" b="1" dirty="0">
                <a:solidFill>
                  <a:srgbClr val="FFFFFF"/>
                </a:solidFill>
                <a:latin typeface="Calibri" pitchFamily="34" charset="0"/>
                <a:ea typeface="Calibri" pitchFamily="34" charset="-122"/>
                <a:cs typeface="Calibri" pitchFamily="34" charset="-120"/>
              </a:rPr>
              <a:t>Better Decisions for Adult Care Teams</a:t>
            </a:r>
            <a:endParaRPr lang="en-US" sz="1400" dirty="0"/>
          </a:p>
        </p:txBody>
      </p:sp>
      <p:sp>
        <p:nvSpPr>
          <p:cNvPr id="17" name="Text 14"/>
          <p:cNvSpPr/>
          <p:nvPr/>
        </p:nvSpPr>
        <p:spPr>
          <a:xfrm>
            <a:off x="8467344" y="2359152"/>
            <a:ext cx="2953512" cy="457200"/>
          </a:xfrm>
          <a:prstGeom prst="rect">
            <a:avLst/>
          </a:prstGeom>
          <a:noFill/>
          <a:ln/>
        </p:spPr>
        <p:txBody>
          <a:bodyPr wrap="square" rtlCol="0" anchor="ctr"/>
          <a:lstStyle/>
          <a:p>
            <a:pPr marL="0" indent="0">
              <a:buNone/>
            </a:pPr>
            <a:r>
              <a:rPr lang="en-GB" sz="1200" dirty="0">
                <a:solidFill>
                  <a:srgbClr val="F5F8FB"/>
                </a:solidFill>
                <a:latin typeface="Calibri" pitchFamily="34" charset="0"/>
                <a:ea typeface="Calibri" pitchFamily="34" charset="-122"/>
                <a:cs typeface="Calibri" pitchFamily="34" charset="-120"/>
              </a:rPr>
              <a:t>Access information quickly to support decision-making</a:t>
            </a:r>
            <a:endParaRPr lang="en-US" sz="1200" dirty="0">
              <a:solidFill>
                <a:srgbClr val="F5F8FB"/>
              </a:solidFill>
            </a:endParaRPr>
          </a:p>
        </p:txBody>
      </p:sp>
      <p:sp>
        <p:nvSpPr>
          <p:cNvPr id="18" name="Text 15"/>
          <p:cNvSpPr/>
          <p:nvPr/>
        </p:nvSpPr>
        <p:spPr>
          <a:xfrm>
            <a:off x="640080" y="3200400"/>
            <a:ext cx="10881360" cy="365760"/>
          </a:xfrm>
          <a:prstGeom prst="rect">
            <a:avLst/>
          </a:prstGeom>
          <a:noFill/>
          <a:ln/>
        </p:spPr>
        <p:txBody>
          <a:bodyPr wrap="square" rtlCol="0" anchor="ctr"/>
          <a:lstStyle/>
          <a:p>
            <a:r>
              <a:rPr lang="en-US" sz="1400" b="1" dirty="0">
                <a:solidFill>
                  <a:srgbClr val="F5F8FB"/>
                </a:solidFill>
                <a:latin typeface="Calibri" pitchFamily="34" charset="0"/>
                <a:ea typeface="Calibri" pitchFamily="34" charset="-122"/>
                <a:cs typeface="Calibri" pitchFamily="34" charset="-120"/>
              </a:rPr>
              <a:t>Power BI ·  SQL · Python ·  Excel &amp; PowerPoint.</a:t>
            </a:r>
            <a:endParaRPr lang="en-US" sz="1400" dirty="0">
              <a:solidFill>
                <a:srgbClr val="F5F8FB"/>
              </a:solidFill>
            </a:endParaRPr>
          </a:p>
        </p:txBody>
      </p:sp>
      <p:sp>
        <p:nvSpPr>
          <p:cNvPr id="19" name="Shape 16"/>
          <p:cNvSpPr/>
          <p:nvPr/>
        </p:nvSpPr>
        <p:spPr>
          <a:xfrm>
            <a:off x="640080" y="3794760"/>
            <a:ext cx="10881360" cy="0"/>
          </a:xfrm>
          <a:prstGeom prst="line">
            <a:avLst/>
          </a:prstGeom>
          <a:noFill/>
          <a:ln w="12700">
            <a:solidFill>
              <a:srgbClr val="1F3A5F"/>
            </a:solidFill>
            <a:prstDash val="solid"/>
          </a:ln>
        </p:spPr>
      </p:sp>
      <p:sp>
        <p:nvSpPr>
          <p:cNvPr id="20" name="Text 17"/>
          <p:cNvSpPr/>
          <p:nvPr/>
        </p:nvSpPr>
        <p:spPr>
          <a:xfrm>
            <a:off x="640080" y="4069080"/>
            <a:ext cx="10058400" cy="73152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p:txBody>
      </p:sp>
      <p:sp>
        <p:nvSpPr>
          <p:cNvPr id="21" name="Text 18"/>
          <p:cNvSpPr/>
          <p:nvPr/>
        </p:nvSpPr>
        <p:spPr>
          <a:xfrm>
            <a:off x="640080" y="4892040"/>
            <a:ext cx="10424160" cy="914400"/>
          </a:xfrm>
          <a:prstGeom prst="rect">
            <a:avLst/>
          </a:prstGeom>
          <a:noFill/>
          <a:ln/>
        </p:spPr>
        <p:txBody>
          <a:bodyPr wrap="square" rtlCol="0" anchor="ctr"/>
          <a:lstStyle/>
          <a:p>
            <a:pPr marL="0" indent="0">
              <a:lnSpc>
                <a:spcPts val="2200"/>
              </a:lnSpc>
              <a:buNone/>
            </a:pPr>
            <a:r>
              <a:rPr lang="en-GB" sz="1600" dirty="0">
                <a:solidFill>
                  <a:srgbClr val="F5F8FB"/>
                </a:solidFill>
                <a:latin typeface="Calibri" pitchFamily="34" charset="0"/>
                <a:ea typeface="Calibri" pitchFamily="34" charset="-122"/>
                <a:cs typeface="Calibri" pitchFamily="34" charset="-120"/>
              </a:rPr>
              <a:t>This project demonstrates how I can collect, analyse and present data in a way that helps managers make informed decisions. I believe these are the same skills required for the Performance and Intelligence Officer role. Thank you for listening, and I'm happy to answer any questions.</a:t>
            </a:r>
            <a:endParaRPr lang="en-US" sz="1600" dirty="0">
              <a:solidFill>
                <a:srgbClr val="F5F8FB"/>
              </a:solidFill>
            </a:endParaRPr>
          </a:p>
        </p:txBody>
      </p:sp>
      <p:sp>
        <p:nvSpPr>
          <p:cNvPr id="22" name="Text 19"/>
          <p:cNvSpPr/>
          <p:nvPr/>
        </p:nvSpPr>
        <p:spPr>
          <a:xfrm>
            <a:off x="640080" y="5989320"/>
            <a:ext cx="100584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Susairaj Anthony</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2946</TotalTime>
  <Words>1270</Words>
  <Application>Microsoft Office PowerPoint</Application>
  <PresentationFormat>Widescreen</PresentationFormat>
  <Paragraphs>143</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Adult Social Care Performance &amp; Intelligence</dc:title>
  <dc:subject>PptxGenJS Presentation</dc:subject>
  <dc:creator>Susairaj Anthony</dc:creator>
  <cp:lastModifiedBy>Susai Raja</cp:lastModifiedBy>
  <cp:revision>8</cp:revision>
  <dcterms:created xsi:type="dcterms:W3CDTF">2026-07-07T12:49:53Z</dcterms:created>
  <dcterms:modified xsi:type="dcterms:W3CDTF">2026-07-10T00:15:13Z</dcterms:modified>
</cp:coreProperties>
</file>