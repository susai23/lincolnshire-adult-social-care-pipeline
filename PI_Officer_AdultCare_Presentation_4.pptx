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837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(about 20 sec)
Good morning, and thank you for having me. I'm Susairaj. In the next eight minutes I'll walk you through one piece of work: a self-serve Power BI dashboard on Adult Social Care in Lincolnshire, built from three national open datasets. I picked it because it is, in miniature, exactly what this team does.
[Slow down. Breathe. Don't rush the open.]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BRIEF (about 55 sec)
The problem I set myself. A team planning Adult Care services needs three things together: how good our outcomes are, where demand is heading, and how strong the local care market is. That sits in three separate national sources, updated at different times, in different shapes.
So I brought them into one place, so a service lead can see the whole picture and answer their own questions without an analyst in the room.
And I built for two audiences at once: service leads and committee who want the headline in seconds, and analysts and partners who want to filter and dig. One dashboard,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DATA &amp; METHOD (about 65 sec)
Three sources. ASCOF, the national outcomes framework, at council, regional and England level. ONS for population and projections, which is the demand side. And the CQC care directory for provider quality and capacity.
Then the part people don't see: aligning three different formats and geographies, handling gaps, and building a proper shared model with one area dimension and one time dimension, in SQL, Power Query and Python. Extract, clean, model, visualise.
One thing I'd flag early: every source here is public and already totalled up, so no individual is identifiable anywhere in this build. The same care around GDPR and Freedom of Information requests is exactly what I'd carry into the real, person-level data this role handles.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PAGE 1 DEMAND (about 70 sec)
This is the pressure gauge, and every number here is verified against the source files, not estimated. Lincolnshire's 65 and over share is 24.1 percent today, well above the England average of 18.5 and the East Midlands at 19.6. And it isn't standing still: ONS's own projection has that share climbing to 26.7 percent by 2030, alongside a population heading past 815,000.
The so-what is simple. An already older-than-average population that keeps ageing faster than the country as a whole means rising demand for reablement, home care and care-home beds. Everything on the next two pages is read against this.
[This is your strongest, fully-defensible data, pulled directly from ONS. Point at the two charts. Own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PAGE 2 OUTCOMES (about 75 sec)
Page two is outcomes, and this is Lincolnshire's own data next to England's, not just national anchors. And it's a genuinely mixed picture, which I want to be upfront about. On reablement, Lincolnshire is well ahead: 98 percent of people who received reablement needed no further support, against 77 percent for England. On discharge outcomes we're also slightly ahead, 63 percent versus 61.
But on workforce turnover, we trail: 30 percent against England's 24. That's a real pressure point, and worth naming rather than hiding.
I'd be upfront about the data too. These are 2024/25 measures from the new client-level dataset, which replaced SALT in April 2024, so they shouldn't be compared to older figures, and self-funders aren't captured.
[Showing a weakness unprompted is deliberate. The person spec explicitly asks for understanding the limits of data, and a scorecard that's all green looks curated, not credible.]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PAGE 3 PROVIDERS (about 55 sec)
Page three is the care market, built from the CQC directory, filtered down to Lincolnshire: 259 rated care homes. 77.2 percent are rated Good or Outstanding, which is a little behind England's ASCOF figure of 81.7 percent, so there's room to improve, and the map shows roughly where.
The value for commissioning is putting this next to page one: an area where ratings are weaker and the older population is growing fastest is where you'd want to act first. That's the kind of question a service lead can answer here in seconds, by filtering the map.
[Have your Power BI map screenshot in place before you send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MANAGING THE WORK (about 60 sec)
This is also a project story. I scoped it around three clear questions, then worked back to the data. I prioritised: shared model and the demand page first, so there was something usable early, then outcomes and providers. And I delivered it end to end, checked against the published figures and documented on GitHub.
It isn't only about data, either. Alongside this I lead a shift team, coordinating people under real time pressure and holding standards. That's the same muscle this role uses: partnering across service teams and keeping several work streams moving at once.
[The spec asks about managing a project, workload and a team. You cover all three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COMMUNICATION (about 50 sec)
The core skill is serving two audiences from one build. Under the bonnet there's real depth: SQL and Python, a modelled schema, DAX for rates per hundred thousand and year-on-year change.
But the reader never has to see any of that. They get plain-language headlines, clear caveats where the data has limits, accessible colour and contrast, and filters so they answer their own questions. The national ASCOF tool openly says it doesn't fully meet accessibility needs, so building mine to a higher standard there was a deliberate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IT FITS + CLOSE (about 35 sec)
So, to bring it together. The pattern is the one you work in every day: fragmented public data, turned into a single self-serve Power BI view, so Adult Care teams can decide without waiting on an analyst. On tools I use Power BI and SQL daily, Excel to an advanced level, Python and R, and I'd pick up MS Access quickly.
From three national datasets to one clear view of outcomes, demand and provider quality for Lincolnshire. Thank you, I'd be glad to take any questions.
[Stop. Smile. Let the silence sit.]
TIMING: about 8 minutes. If long, trim the method detail and one bullet on the communication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marL="0" indent="0">
              <a:buNone/>
            </a:pPr>
            <a:r>
              <a:rPr lang="en-US" sz="1300" b="1" kern="0" spc="200" dirty="0">
                <a:solidFill>
                  <a:srgbClr val="9FD8D4"/>
                </a:solidFill>
                <a:latin typeface="Calibri" pitchFamily="34" charset="0"/>
                <a:ea typeface="Calibri" pitchFamily="34" charset="-122"/>
                <a:cs typeface="Calibri" pitchFamily="34" charset="-120"/>
              </a:rPr>
              <a:t>PERFORMANCE &amp; INTELLIGENCE OFFICER  |  INTERVIEW PRESENTATION</a:t>
            </a:r>
            <a:endParaRPr lang="en-US" sz="1300" dirty="0"/>
          </a:p>
        </p:txBody>
      </p:sp>
      <p:sp>
        <p:nvSpPr>
          <p:cNvPr id="7" name="Text 4"/>
          <p:cNvSpPr/>
          <p:nvPr/>
        </p:nvSpPr>
        <p:spPr>
          <a:xfrm>
            <a:off x="640080" y="2788920"/>
            <a:ext cx="106070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in Lincolnshire:</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outcomes, demand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marL="0" indent="0">
              <a:buNone/>
            </a:pPr>
            <a:r>
              <a:rPr lang="en-US" sz="1700" dirty="0">
                <a:solidFill>
                  <a:srgbClr val="C6D2E4"/>
                </a:solidFill>
                <a:latin typeface="Calibri" pitchFamily="34" charset="0"/>
                <a:ea typeface="Calibri" pitchFamily="34" charset="-122"/>
                <a:cs typeface="Calibri" pitchFamily="34" charset="-120"/>
              </a:rPr>
              <a:t>Built from national data on care outcomes, population and care home quality</a:t>
            </a:r>
            <a:endParaRPr lang="en-US" sz="1700" dirty="0"/>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10058400" cy="8229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Susairaj Anthony</a:t>
            </a:r>
            <a:endParaRPr lang="en-US" sz="1600" dirty="0"/>
          </a:p>
          <a:p>
            <a:pPr marL="0" indent="0">
              <a:buNone/>
            </a:pPr>
            <a:r>
              <a:rPr lang="en-US" sz="1250" dirty="0">
                <a:solidFill>
                  <a:srgbClr val="9FB0C9"/>
                </a:solidFill>
                <a:latin typeface="Calibri" pitchFamily="34" charset="0"/>
                <a:ea typeface="Calibri" pitchFamily="34" charset="-122"/>
                <a:cs typeface="Calibri" pitchFamily="34" charset="-120"/>
              </a:rPr>
              <a:t>MSc Data Science (Distinction), University of Hertfordshire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01  CONTEXT</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The brief, and who it is for</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marL="0" indent="0">
              <a:buNone/>
            </a:pPr>
            <a:r>
              <a:rPr lang="en-US" sz="1600" b="1" dirty="0">
                <a:solidFill>
                  <a:srgbClr val="0E8C86"/>
                </a:solidFill>
                <a:latin typeface="Calibri" pitchFamily="34" charset="0"/>
                <a:ea typeface="Calibri" pitchFamily="34" charset="-122"/>
                <a:cs typeface="Calibri" pitchFamily="34" charset="-120"/>
              </a:rPr>
              <a:t>The problem</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marL="0" indent="0">
              <a:lnSpc>
                <a:spcPts val="2100"/>
              </a:lnSpc>
              <a:spcAft>
                <a:spcPts val="1000"/>
              </a:spcAft>
              <a:buNone/>
            </a:pPr>
            <a:r>
              <a:rPr lang="en-US" sz="1500" dirty="0">
                <a:solidFill>
                  <a:srgbClr val="1E293B"/>
                </a:solidFill>
                <a:latin typeface="Calibri" pitchFamily="34" charset="0"/>
                <a:ea typeface="Calibri" pitchFamily="34" charset="-122"/>
                <a:cs typeface="Calibri" pitchFamily="34" charset="-120"/>
              </a:rPr>
              <a:t>To plan Adult Care services well, a team needs three things: how good our outcomes are, where demand is heading, and how strong the local care market is.</a:t>
            </a:r>
            <a:endParaRPr lang="en-US" sz="1500" dirty="0"/>
          </a:p>
          <a:p>
            <a:pPr marL="0" indent="0">
              <a:lnSpc>
                <a:spcPts val="2100"/>
              </a:lnSpc>
              <a:spcAft>
                <a:spcPts val="1000"/>
              </a:spcAft>
              <a:buNone/>
            </a:pPr>
            <a:r>
              <a:rPr lang="en-US" sz="1500" dirty="0">
                <a:solidFill>
                  <a:srgbClr val="1E293B"/>
                </a:solidFill>
                <a:latin typeface="Calibri" pitchFamily="34" charset="0"/>
                <a:ea typeface="Calibri" pitchFamily="34" charset="-122"/>
                <a:cs typeface="Calibri" pitchFamily="34" charset="-120"/>
              </a:rPr>
              <a:t>Right now, that information sits in three separate national sources, each updated at different times and laid out differently.</a:t>
            </a:r>
            <a:endParaRPr lang="en-US" sz="1500" dirty="0"/>
          </a:p>
          <a:p>
            <a:pPr marL="0" indent="0">
              <a:lnSpc>
                <a:spcPts val="2100"/>
              </a:lnSpc>
              <a:buNone/>
            </a:pPr>
            <a:r>
              <a:rPr lang="en-US" sz="1500" dirty="0">
                <a:solidFill>
                  <a:srgbClr val="1E293B"/>
                </a:solidFill>
                <a:latin typeface="Calibri" pitchFamily="34" charset="0"/>
                <a:ea typeface="Calibri" pitchFamily="34" charset="-122"/>
                <a:cs typeface="Calibri" pitchFamily="34" charset="-120"/>
              </a:rPr>
              <a:t>I brought them into one place, so a service lead can see the whole picture and answer their own questions without needing an analyst in the room.</a:t>
            </a:r>
            <a:endParaRPr lang="en-US" sz="1500" dirty="0"/>
          </a:p>
        </p:txBody>
      </p:sp>
      <p:sp>
        <p:nvSpPr>
          <p:cNvPr id="9" name="Text 6"/>
          <p:cNvSpPr/>
          <p:nvPr/>
        </p:nvSpPr>
        <p:spPr>
          <a:xfrm>
            <a:off x="6537960" y="1600200"/>
            <a:ext cx="493776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Two audiences, one dashboard</a:t>
            </a:r>
            <a:endParaRPr lang="en-US" sz="1600" dirty="0"/>
          </a:p>
        </p:txBody>
      </p:sp>
      <p:sp>
        <p:nvSpPr>
          <p:cNvPr id="10" name="Shape 7"/>
          <p:cNvSpPr/>
          <p:nvPr/>
        </p:nvSpPr>
        <p:spPr>
          <a:xfrm>
            <a:off x="6537960" y="2103120"/>
            <a:ext cx="4983480" cy="1874520"/>
          </a:xfrm>
          <a:prstGeom prst="roundRect">
            <a:avLst>
              <a:gd name="adj" fmla="val 3902"/>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1" name="Shape 8"/>
          <p:cNvSpPr/>
          <p:nvPr/>
        </p:nvSpPr>
        <p:spPr>
          <a:xfrm>
            <a:off x="6812280" y="2395728"/>
            <a:ext cx="640080" cy="640080"/>
          </a:xfrm>
          <a:prstGeom prst="ellipse">
            <a:avLst/>
          </a:prstGeom>
          <a:solidFill>
            <a:srgbClr val="0E8C86"/>
          </a:solidFill>
          <a:ln/>
        </p:spPr>
      </p:sp>
      <p:pic>
        <p:nvPicPr>
          <p:cNvPr id="12" name="Image 1" descr="preencoded.png"/>
          <p:cNvPicPr>
            <a:picLocks noChangeAspect="1"/>
          </p:cNvPicPr>
          <p:nvPr/>
        </p:nvPicPr>
        <p:blipFill>
          <a:blip r:embed="rId4"/>
          <a:stretch>
            <a:fillRect/>
          </a:stretch>
        </p:blipFill>
        <p:spPr>
          <a:xfrm>
            <a:off x="6995160" y="2578608"/>
            <a:ext cx="274320" cy="274320"/>
          </a:xfrm>
          <a:prstGeom prst="rect">
            <a:avLst/>
          </a:prstGeom>
        </p:spPr>
      </p:pic>
      <p:sp>
        <p:nvSpPr>
          <p:cNvPr id="13" name="Text 9"/>
          <p:cNvSpPr/>
          <p:nvPr/>
        </p:nvSpPr>
        <p:spPr>
          <a:xfrm>
            <a:off x="7635240" y="2359152"/>
            <a:ext cx="3657600" cy="365760"/>
          </a:xfrm>
          <a:prstGeom prst="rect">
            <a:avLst/>
          </a:prstGeom>
          <a:noFill/>
          <a:ln/>
        </p:spPr>
        <p:txBody>
          <a:bodyPr wrap="square" rtlCol="0" anchor="ctr"/>
          <a:lstStyle/>
          <a:p>
            <a:pPr marL="0" indent="0">
              <a:buNone/>
            </a:pPr>
            <a:r>
              <a:rPr lang="en-US" sz="1500" b="1" dirty="0">
                <a:solidFill>
                  <a:srgbClr val="17233D"/>
                </a:solidFill>
                <a:latin typeface="Calibri" pitchFamily="34" charset="0"/>
                <a:ea typeface="Calibri" pitchFamily="34" charset="-122"/>
                <a:cs typeface="Calibri" pitchFamily="34" charset="-120"/>
              </a:rPr>
              <a:t>Service leads &amp; committee</a:t>
            </a:r>
            <a:endParaRPr lang="en-US" sz="1500" dirty="0"/>
          </a:p>
        </p:txBody>
      </p:sp>
      <p:sp>
        <p:nvSpPr>
          <p:cNvPr id="14" name="Text 10"/>
          <p:cNvSpPr/>
          <p:nvPr/>
        </p:nvSpPr>
        <p:spPr>
          <a:xfrm>
            <a:off x="7635240" y="2743200"/>
            <a:ext cx="3703320" cy="1097280"/>
          </a:xfrm>
          <a:prstGeom prst="rect">
            <a:avLst/>
          </a:prstGeom>
          <a:noFill/>
          <a:ln/>
        </p:spPr>
        <p:txBody>
          <a:bodyPr wrap="square" rtlCol="0" anchor="t"/>
          <a:lstStyle/>
          <a:p>
            <a:pPr marL="0" indent="0">
              <a:lnSpc>
                <a:spcPts val="1700"/>
              </a:lnSpc>
              <a:buNone/>
            </a:pPr>
            <a:r>
              <a:rPr lang="en-US" sz="1300" dirty="0">
                <a:solidFill>
                  <a:srgbClr val="64748B"/>
                </a:solidFill>
                <a:latin typeface="Calibri" pitchFamily="34" charset="0"/>
                <a:ea typeface="Calibri" pitchFamily="34" charset="-122"/>
                <a:cs typeface="Calibri" pitchFamily="34" charset="-120"/>
              </a:rPr>
              <a:t>They want the headline straight away: are outcomes holding up, where is pressure building, and what should we act on.</a:t>
            </a:r>
            <a:endParaRPr lang="en-US" sz="1300" dirty="0"/>
          </a:p>
        </p:txBody>
      </p:sp>
      <p:sp>
        <p:nvSpPr>
          <p:cNvPr id="15" name="Shape 11"/>
          <p:cNvSpPr/>
          <p:nvPr/>
        </p:nvSpPr>
        <p:spPr>
          <a:xfrm>
            <a:off x="6537960" y="4160520"/>
            <a:ext cx="4983480" cy="1874520"/>
          </a:xfrm>
          <a:prstGeom prst="roundRect">
            <a:avLst>
              <a:gd name="adj" fmla="val 3902"/>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6" name="Shape 12"/>
          <p:cNvSpPr/>
          <p:nvPr/>
        </p:nvSpPr>
        <p:spPr>
          <a:xfrm>
            <a:off x="6812280" y="4453128"/>
            <a:ext cx="640080" cy="640080"/>
          </a:xfrm>
          <a:prstGeom prst="ellipse">
            <a:avLst/>
          </a:prstGeom>
          <a:solidFill>
            <a:srgbClr val="0E8C86"/>
          </a:solidFill>
          <a:ln/>
        </p:spPr>
      </p:sp>
      <p:pic>
        <p:nvPicPr>
          <p:cNvPr id="17" name="Image 2" descr="preencoded.png"/>
          <p:cNvPicPr>
            <a:picLocks noChangeAspect="1"/>
          </p:cNvPicPr>
          <p:nvPr/>
        </p:nvPicPr>
        <p:blipFill>
          <a:blip r:embed="rId5"/>
          <a:stretch>
            <a:fillRect/>
          </a:stretch>
        </p:blipFill>
        <p:spPr>
          <a:xfrm>
            <a:off x="6995160" y="4636008"/>
            <a:ext cx="274320" cy="274320"/>
          </a:xfrm>
          <a:prstGeom prst="rect">
            <a:avLst/>
          </a:prstGeom>
        </p:spPr>
      </p:pic>
      <p:sp>
        <p:nvSpPr>
          <p:cNvPr id="18" name="Text 13"/>
          <p:cNvSpPr/>
          <p:nvPr/>
        </p:nvSpPr>
        <p:spPr>
          <a:xfrm>
            <a:off x="7635240" y="4416552"/>
            <a:ext cx="3657600" cy="365760"/>
          </a:xfrm>
          <a:prstGeom prst="rect">
            <a:avLst/>
          </a:prstGeom>
          <a:noFill/>
          <a:ln/>
        </p:spPr>
        <p:txBody>
          <a:bodyPr wrap="square" rtlCol="0" anchor="ctr"/>
          <a:lstStyle/>
          <a:p>
            <a:pPr marL="0" indent="0">
              <a:buNone/>
            </a:pPr>
            <a:r>
              <a:rPr lang="en-US" sz="1500" b="1" dirty="0">
                <a:solidFill>
                  <a:srgbClr val="17233D"/>
                </a:solidFill>
                <a:latin typeface="Calibri" pitchFamily="34" charset="0"/>
                <a:ea typeface="Calibri" pitchFamily="34" charset="-122"/>
                <a:cs typeface="Calibri" pitchFamily="34" charset="-120"/>
              </a:rPr>
              <a:t>Analysts &amp; partners</a:t>
            </a:r>
            <a:endParaRPr lang="en-US" sz="1500" dirty="0"/>
          </a:p>
        </p:txBody>
      </p:sp>
      <p:sp>
        <p:nvSpPr>
          <p:cNvPr id="19" name="Text 14"/>
          <p:cNvSpPr/>
          <p:nvPr/>
        </p:nvSpPr>
        <p:spPr>
          <a:xfrm>
            <a:off x="7635240" y="4800600"/>
            <a:ext cx="3703320" cy="1097280"/>
          </a:xfrm>
          <a:prstGeom prst="rect">
            <a:avLst/>
          </a:prstGeom>
          <a:noFill/>
          <a:ln/>
        </p:spPr>
        <p:txBody>
          <a:bodyPr wrap="square" rtlCol="0" anchor="t"/>
          <a:lstStyle/>
          <a:p>
            <a:pPr marL="0" indent="0">
              <a:lnSpc>
                <a:spcPts val="1700"/>
              </a:lnSpc>
              <a:buNone/>
            </a:pPr>
            <a:r>
              <a:rPr lang="en-US" sz="1300" dirty="0">
                <a:solidFill>
                  <a:srgbClr val="64748B"/>
                </a:solidFill>
                <a:latin typeface="Calibri" pitchFamily="34" charset="0"/>
                <a:ea typeface="Calibri" pitchFamily="34" charset="-122"/>
                <a:cs typeface="Calibri" pitchFamily="34" charset="-120"/>
              </a:rPr>
              <a:t>They want to dig into the detail themselves: filter by measure, area or year and test their own questions.</a:t>
            </a:r>
            <a:endParaRPr lang="en-US" sz="1300" dirty="0"/>
          </a:p>
        </p:txBody>
      </p:sp>
      <p:sp>
        <p:nvSpPr>
          <p:cNvPr id="20" name="Text 15"/>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1" name="Text 16"/>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02  DATA &amp; METHOD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Three sources, cleaned and joined properly</a:t>
            </a:r>
            <a:endParaRPr lang="en-US" sz="2500" dirty="0"/>
          </a:p>
        </p:txBody>
      </p:sp>
      <p:sp>
        <p:nvSpPr>
          <p:cNvPr id="6" name="Shape 3"/>
          <p:cNvSpPr/>
          <p:nvPr/>
        </p:nvSpPr>
        <p:spPr>
          <a:xfrm>
            <a:off x="640080" y="1554480"/>
            <a:ext cx="3502152" cy="1417320"/>
          </a:xfrm>
          <a:prstGeom prst="roundRect">
            <a:avLst>
              <a:gd name="adj" fmla="val 5161"/>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14400" y="1737360"/>
            <a:ext cx="2953512" cy="411480"/>
          </a:xfrm>
          <a:prstGeom prst="rect">
            <a:avLst/>
          </a:prstGeom>
          <a:noFill/>
          <a:ln/>
        </p:spPr>
        <p:txBody>
          <a:bodyPr wrap="square" rtlCol="0" anchor="ctr"/>
          <a:lstStyle/>
          <a:p>
            <a:pPr marL="0" indent="0">
              <a:buNone/>
            </a:pPr>
            <a:r>
              <a:rPr lang="en-US" sz="2000" b="1" dirty="0">
                <a:solidFill>
                  <a:srgbClr val="0A6B66"/>
                </a:solidFill>
                <a:latin typeface="Cambria" pitchFamily="34" charset="0"/>
                <a:ea typeface="Cambria" pitchFamily="34" charset="-122"/>
                <a:cs typeface="Cambria" pitchFamily="34" charset="-120"/>
              </a:rPr>
              <a:t>ASCOF</a:t>
            </a:r>
            <a:endParaRPr lang="en-US" sz="2000" dirty="0"/>
          </a:p>
        </p:txBody>
      </p:sp>
      <p:sp>
        <p:nvSpPr>
          <p:cNvPr id="8" name="Text 5"/>
          <p:cNvSpPr/>
          <p:nvPr/>
        </p:nvSpPr>
        <p:spPr>
          <a:xfrm>
            <a:off x="914400" y="2130552"/>
            <a:ext cx="3044952" cy="27432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DHSC / NHS England</a:t>
            </a:r>
            <a:endParaRPr lang="en-US" sz="1100" dirty="0"/>
          </a:p>
        </p:txBody>
      </p:sp>
      <p:sp>
        <p:nvSpPr>
          <p:cNvPr id="9" name="Text 6"/>
          <p:cNvSpPr/>
          <p:nvPr/>
        </p:nvSpPr>
        <p:spPr>
          <a:xfrm>
            <a:off x="914400" y="2395728"/>
            <a:ext cx="3044952" cy="502920"/>
          </a:xfrm>
          <a:prstGeom prst="rect">
            <a:avLst/>
          </a:prstGeom>
          <a:noFill/>
          <a:ln/>
        </p:spPr>
        <p:txBody>
          <a:bodyPr wrap="square" rtlCol="0" anchor="ctr"/>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Outcomes at council, region and England level</a:t>
            </a:r>
            <a:endParaRPr lang="en-US" sz="1200" dirty="0"/>
          </a:p>
        </p:txBody>
      </p:sp>
      <p:sp>
        <p:nvSpPr>
          <p:cNvPr id="10" name="Shape 7"/>
          <p:cNvSpPr/>
          <p:nvPr/>
        </p:nvSpPr>
        <p:spPr>
          <a:xfrm>
            <a:off x="4416552" y="1554480"/>
            <a:ext cx="3502152" cy="1417320"/>
          </a:xfrm>
          <a:prstGeom prst="roundRect">
            <a:avLst>
              <a:gd name="adj" fmla="val 5161"/>
            </a:avLst>
          </a:prstGeom>
          <a:solidFill>
            <a:srgbClr val="F5F8FB"/>
          </a:solidFill>
          <a:ln/>
          <a:effectLst>
            <a:outerShdw blurRad="88900" dist="25400" dir="5400000" algn="bl" rotWithShape="0">
              <a:srgbClr val="000000">
                <a:alpha val="12000"/>
              </a:srgbClr>
            </a:outerShdw>
          </a:effectLst>
        </p:spPr>
      </p:sp>
      <p:sp>
        <p:nvSpPr>
          <p:cNvPr id="11" name="Text 8"/>
          <p:cNvSpPr/>
          <p:nvPr/>
        </p:nvSpPr>
        <p:spPr>
          <a:xfrm>
            <a:off x="4690872" y="1737360"/>
            <a:ext cx="2953512" cy="411480"/>
          </a:xfrm>
          <a:prstGeom prst="rect">
            <a:avLst/>
          </a:prstGeom>
          <a:noFill/>
          <a:ln/>
        </p:spPr>
        <p:txBody>
          <a:bodyPr wrap="square" rtlCol="0" anchor="ctr"/>
          <a:lstStyle/>
          <a:p>
            <a:pPr marL="0" indent="0">
              <a:buNone/>
            </a:pPr>
            <a:r>
              <a:rPr lang="en-US" sz="2000" b="1" dirty="0">
                <a:solidFill>
                  <a:srgbClr val="0A6B66"/>
                </a:solidFill>
                <a:latin typeface="Cambria" pitchFamily="34" charset="0"/>
                <a:ea typeface="Cambria" pitchFamily="34" charset="-122"/>
                <a:cs typeface="Cambria" pitchFamily="34" charset="-120"/>
              </a:rPr>
              <a:t>ONS</a:t>
            </a:r>
            <a:endParaRPr lang="en-US" sz="2000" dirty="0"/>
          </a:p>
        </p:txBody>
      </p:sp>
      <p:sp>
        <p:nvSpPr>
          <p:cNvPr id="12" name="Text 9"/>
          <p:cNvSpPr/>
          <p:nvPr/>
        </p:nvSpPr>
        <p:spPr>
          <a:xfrm>
            <a:off x="4690872" y="2130552"/>
            <a:ext cx="3044952" cy="27432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Population &amp; projections</a:t>
            </a:r>
            <a:endParaRPr lang="en-US" sz="1100" dirty="0"/>
          </a:p>
        </p:txBody>
      </p:sp>
      <p:sp>
        <p:nvSpPr>
          <p:cNvPr id="13" name="Text 10"/>
          <p:cNvSpPr/>
          <p:nvPr/>
        </p:nvSpPr>
        <p:spPr>
          <a:xfrm>
            <a:off x="4690872" y="2395728"/>
            <a:ext cx="3044952" cy="502920"/>
          </a:xfrm>
          <a:prstGeom prst="rect">
            <a:avLst/>
          </a:prstGeom>
          <a:noFill/>
          <a:ln/>
        </p:spPr>
        <p:txBody>
          <a:bodyPr wrap="square" rtlCol="0" anchor="ctr"/>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Demand: the ageing population, by area and year</a:t>
            </a:r>
            <a:endParaRPr lang="en-US" sz="1200" dirty="0"/>
          </a:p>
        </p:txBody>
      </p:sp>
      <p:sp>
        <p:nvSpPr>
          <p:cNvPr id="14" name="Shape 11"/>
          <p:cNvSpPr/>
          <p:nvPr/>
        </p:nvSpPr>
        <p:spPr>
          <a:xfrm>
            <a:off x="8193024" y="1554480"/>
            <a:ext cx="3502152" cy="1417320"/>
          </a:xfrm>
          <a:prstGeom prst="roundRect">
            <a:avLst>
              <a:gd name="adj" fmla="val 5161"/>
            </a:avLst>
          </a:prstGeom>
          <a:solidFill>
            <a:srgbClr val="F5F8FB"/>
          </a:solidFill>
          <a:ln/>
          <a:effectLst>
            <a:outerShdw blurRad="88900" dist="25400" dir="5400000" algn="bl" rotWithShape="0">
              <a:srgbClr val="000000">
                <a:alpha val="12000"/>
              </a:srgbClr>
            </a:outerShdw>
          </a:effectLst>
        </p:spPr>
      </p:sp>
      <p:sp>
        <p:nvSpPr>
          <p:cNvPr id="15" name="Text 12"/>
          <p:cNvSpPr/>
          <p:nvPr/>
        </p:nvSpPr>
        <p:spPr>
          <a:xfrm>
            <a:off x="8467344" y="1737360"/>
            <a:ext cx="2953512" cy="411480"/>
          </a:xfrm>
          <a:prstGeom prst="rect">
            <a:avLst/>
          </a:prstGeom>
          <a:noFill/>
          <a:ln/>
        </p:spPr>
        <p:txBody>
          <a:bodyPr wrap="square" rtlCol="0" anchor="ctr"/>
          <a:lstStyle/>
          <a:p>
            <a:pPr marL="0" indent="0">
              <a:buNone/>
            </a:pPr>
            <a:r>
              <a:rPr lang="en-US" sz="2000" b="1" dirty="0">
                <a:solidFill>
                  <a:srgbClr val="0A6B66"/>
                </a:solidFill>
                <a:latin typeface="Cambria" pitchFamily="34" charset="0"/>
                <a:ea typeface="Cambria" pitchFamily="34" charset="-122"/>
                <a:cs typeface="Cambria" pitchFamily="34" charset="-120"/>
              </a:rPr>
              <a:t>CQC</a:t>
            </a:r>
            <a:endParaRPr lang="en-US" sz="2000" dirty="0"/>
          </a:p>
        </p:txBody>
      </p:sp>
      <p:sp>
        <p:nvSpPr>
          <p:cNvPr id="16" name="Text 13"/>
          <p:cNvSpPr/>
          <p:nvPr/>
        </p:nvSpPr>
        <p:spPr>
          <a:xfrm>
            <a:off x="8467344" y="2130552"/>
            <a:ext cx="3044952" cy="27432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Care directory &amp; ratings</a:t>
            </a:r>
            <a:endParaRPr lang="en-US" sz="1100" dirty="0"/>
          </a:p>
        </p:txBody>
      </p:sp>
      <p:sp>
        <p:nvSpPr>
          <p:cNvPr id="17" name="Text 14"/>
          <p:cNvSpPr/>
          <p:nvPr/>
        </p:nvSpPr>
        <p:spPr>
          <a:xfrm>
            <a:off x="8467344" y="2395728"/>
            <a:ext cx="3044952" cy="502920"/>
          </a:xfrm>
          <a:prstGeom prst="rect">
            <a:avLst/>
          </a:prstGeom>
          <a:noFill/>
          <a:ln/>
        </p:spPr>
        <p:txBody>
          <a:bodyPr wrap="square" rtlCol="0" anchor="ctr"/>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Provider quality across the county</a:t>
            </a:r>
            <a:endParaRPr lang="en-US" sz="1200" dirty="0"/>
          </a:p>
        </p:txBody>
      </p:sp>
      <p:sp>
        <p:nvSpPr>
          <p:cNvPr id="18" name="Text 15"/>
          <p:cNvSpPr/>
          <p:nvPr/>
        </p:nvSpPr>
        <p:spPr>
          <a:xfrm>
            <a:off x="640080" y="2971800"/>
            <a:ext cx="73152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How the data was shaped</a:t>
            </a:r>
            <a:endParaRPr lang="en-US" sz="1600" dirty="0"/>
          </a:p>
        </p:txBody>
      </p:sp>
      <p:sp>
        <p:nvSpPr>
          <p:cNvPr id="19" name="Shape 16"/>
          <p:cNvSpPr/>
          <p:nvPr/>
        </p:nvSpPr>
        <p:spPr>
          <a:xfrm>
            <a:off x="640080" y="3429000"/>
            <a:ext cx="2487168" cy="1783080"/>
          </a:xfrm>
          <a:prstGeom prst="roundRect">
            <a:avLst>
              <a:gd name="adj" fmla="val 4103"/>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0" name="Shape 17"/>
          <p:cNvSpPr/>
          <p:nvPr/>
        </p:nvSpPr>
        <p:spPr>
          <a:xfrm>
            <a:off x="1517904" y="3648456"/>
            <a:ext cx="731520" cy="731520"/>
          </a:xfrm>
          <a:prstGeom prst="ellipse">
            <a:avLst/>
          </a:prstGeom>
          <a:solidFill>
            <a:srgbClr val="0E8C86"/>
          </a:solidFill>
          <a:ln/>
        </p:spPr>
      </p:sp>
      <p:pic>
        <p:nvPicPr>
          <p:cNvPr id="21" name="Image 1" descr="preencoded.png"/>
          <p:cNvPicPr>
            <a:picLocks noChangeAspect="1"/>
          </p:cNvPicPr>
          <p:nvPr/>
        </p:nvPicPr>
        <p:blipFill>
          <a:blip r:embed="rId3"/>
          <a:stretch>
            <a:fillRect/>
          </a:stretch>
        </p:blipFill>
        <p:spPr>
          <a:xfrm>
            <a:off x="1709928" y="3831336"/>
            <a:ext cx="347472" cy="347472"/>
          </a:xfrm>
          <a:prstGeom prst="rect">
            <a:avLst/>
          </a:prstGeom>
        </p:spPr>
      </p:pic>
      <p:sp>
        <p:nvSpPr>
          <p:cNvPr id="22" name="Text 18"/>
          <p:cNvSpPr/>
          <p:nvPr/>
        </p:nvSpPr>
        <p:spPr>
          <a:xfrm>
            <a:off x="777240" y="4480560"/>
            <a:ext cx="2212848" cy="320040"/>
          </a:xfrm>
          <a:prstGeom prst="rect">
            <a:avLst/>
          </a:prstGeom>
          <a:noFill/>
          <a:ln/>
        </p:spPr>
        <p:txBody>
          <a:bodyPr wrap="square" rtlCol="0" anchor="ctr"/>
          <a:lstStyle/>
          <a:p>
            <a:pPr marL="0" indent="0" algn="ctr">
              <a:buNone/>
            </a:pPr>
            <a:r>
              <a:rPr lang="en-US" sz="1500" b="1" dirty="0">
                <a:solidFill>
                  <a:srgbClr val="17233D"/>
                </a:solidFill>
                <a:latin typeface="Calibri" pitchFamily="34" charset="0"/>
                <a:ea typeface="Calibri" pitchFamily="34" charset="-122"/>
                <a:cs typeface="Calibri" pitchFamily="34" charset="-120"/>
              </a:rPr>
              <a:t>Extract</a:t>
            </a:r>
            <a:endParaRPr lang="en-US" sz="1500" dirty="0"/>
          </a:p>
        </p:txBody>
      </p:sp>
      <p:sp>
        <p:nvSpPr>
          <p:cNvPr id="23" name="Text 19"/>
          <p:cNvSpPr/>
          <p:nvPr/>
        </p:nvSpPr>
        <p:spPr>
          <a:xfrm>
            <a:off x="822960" y="4782312"/>
            <a:ext cx="2121408" cy="411480"/>
          </a:xfrm>
          <a:prstGeom prst="rect">
            <a:avLst/>
          </a:prstGeom>
          <a:noFill/>
          <a:ln/>
        </p:spPr>
        <p:txBody>
          <a:bodyPr wrap="square" rtlCol="0" anchor="ctr"/>
          <a:lstStyle/>
          <a:p>
            <a:pPr marL="0" indent="0" algn="ctr">
              <a:lnSpc>
                <a:spcPts val="1300"/>
              </a:lnSpc>
              <a:buNone/>
            </a:pPr>
            <a:r>
              <a:rPr lang="en-US" sz="1100" dirty="0">
                <a:solidFill>
                  <a:srgbClr val="64748B"/>
                </a:solidFill>
                <a:latin typeface="Calibri" pitchFamily="34" charset="0"/>
                <a:ea typeface="Calibri" pitchFamily="34" charset="-122"/>
                <a:cs typeface="Calibri" pitchFamily="34" charset="-120"/>
              </a:rPr>
              <a:t>Download the three public datasets</a:t>
            </a:r>
            <a:endParaRPr lang="en-US" sz="1100" dirty="0"/>
          </a:p>
        </p:txBody>
      </p:sp>
      <p:pic>
        <p:nvPicPr>
          <p:cNvPr id="24" name="Image 2" descr="preencoded.png"/>
          <p:cNvPicPr>
            <a:picLocks noChangeAspect="1"/>
          </p:cNvPicPr>
          <p:nvPr/>
        </p:nvPicPr>
        <p:blipFill>
          <a:blip r:embed="rId4"/>
          <a:stretch>
            <a:fillRect/>
          </a:stretch>
        </p:blipFill>
        <p:spPr>
          <a:xfrm>
            <a:off x="3182112" y="4178808"/>
            <a:ext cx="274320" cy="274320"/>
          </a:xfrm>
          <a:prstGeom prst="rect">
            <a:avLst/>
          </a:prstGeom>
        </p:spPr>
      </p:pic>
      <p:sp>
        <p:nvSpPr>
          <p:cNvPr id="25" name="Shape 20"/>
          <p:cNvSpPr/>
          <p:nvPr/>
        </p:nvSpPr>
        <p:spPr>
          <a:xfrm>
            <a:off x="3511296" y="3429000"/>
            <a:ext cx="2487168" cy="1783080"/>
          </a:xfrm>
          <a:prstGeom prst="roundRect">
            <a:avLst>
              <a:gd name="adj" fmla="val 4103"/>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6" name="Shape 21"/>
          <p:cNvSpPr/>
          <p:nvPr/>
        </p:nvSpPr>
        <p:spPr>
          <a:xfrm>
            <a:off x="4389120" y="3648456"/>
            <a:ext cx="731520" cy="731520"/>
          </a:xfrm>
          <a:prstGeom prst="ellipse">
            <a:avLst/>
          </a:prstGeom>
          <a:solidFill>
            <a:srgbClr val="0E8C86"/>
          </a:solidFill>
          <a:ln/>
        </p:spPr>
      </p:sp>
      <p:pic>
        <p:nvPicPr>
          <p:cNvPr id="27" name="Image 3" descr="preencoded.png"/>
          <p:cNvPicPr>
            <a:picLocks noChangeAspect="1"/>
          </p:cNvPicPr>
          <p:nvPr/>
        </p:nvPicPr>
        <p:blipFill>
          <a:blip r:embed="rId5"/>
          <a:stretch>
            <a:fillRect/>
          </a:stretch>
        </p:blipFill>
        <p:spPr>
          <a:xfrm>
            <a:off x="4581144" y="3831336"/>
            <a:ext cx="347472" cy="347472"/>
          </a:xfrm>
          <a:prstGeom prst="rect">
            <a:avLst/>
          </a:prstGeom>
        </p:spPr>
      </p:pic>
      <p:sp>
        <p:nvSpPr>
          <p:cNvPr id="28" name="Text 22"/>
          <p:cNvSpPr/>
          <p:nvPr/>
        </p:nvSpPr>
        <p:spPr>
          <a:xfrm>
            <a:off x="3648456" y="4480560"/>
            <a:ext cx="2212848" cy="320040"/>
          </a:xfrm>
          <a:prstGeom prst="rect">
            <a:avLst/>
          </a:prstGeom>
          <a:noFill/>
          <a:ln/>
        </p:spPr>
        <p:txBody>
          <a:bodyPr wrap="square" rtlCol="0" anchor="ctr"/>
          <a:lstStyle/>
          <a:p>
            <a:pPr marL="0" indent="0" algn="ctr">
              <a:buNone/>
            </a:pPr>
            <a:r>
              <a:rPr lang="en-US" sz="1500" b="1" dirty="0">
                <a:solidFill>
                  <a:srgbClr val="17233D"/>
                </a:solidFill>
                <a:latin typeface="Calibri" pitchFamily="34" charset="0"/>
                <a:ea typeface="Calibri" pitchFamily="34" charset="-122"/>
                <a:cs typeface="Calibri" pitchFamily="34" charset="-120"/>
              </a:rPr>
              <a:t>Clean</a:t>
            </a:r>
            <a:endParaRPr lang="en-US" sz="1500" dirty="0"/>
          </a:p>
        </p:txBody>
      </p:sp>
      <p:sp>
        <p:nvSpPr>
          <p:cNvPr id="29" name="Text 23"/>
          <p:cNvSpPr/>
          <p:nvPr/>
        </p:nvSpPr>
        <p:spPr>
          <a:xfrm>
            <a:off x="3694176" y="4782312"/>
            <a:ext cx="2121408" cy="411480"/>
          </a:xfrm>
          <a:prstGeom prst="rect">
            <a:avLst/>
          </a:prstGeom>
          <a:noFill/>
          <a:ln/>
        </p:spPr>
        <p:txBody>
          <a:bodyPr wrap="square" rtlCol="0" anchor="ctr"/>
          <a:lstStyle/>
          <a:p>
            <a:pPr marL="0" indent="0" algn="ctr">
              <a:lnSpc>
                <a:spcPts val="1300"/>
              </a:lnSpc>
              <a:buNone/>
            </a:pPr>
            <a:r>
              <a:rPr lang="en-US" sz="1100" dirty="0">
                <a:solidFill>
                  <a:srgbClr val="64748B"/>
                </a:solidFill>
                <a:latin typeface="Calibri" pitchFamily="34" charset="0"/>
                <a:ea typeface="Calibri" pitchFamily="34" charset="-122"/>
                <a:cs typeface="Calibri" pitchFamily="34" charset="-120"/>
              </a:rPr>
              <a:t>SQL, Power Query and Python: fix mismatched names, fill in gaps</a:t>
            </a:r>
            <a:endParaRPr lang="en-US" sz="1100" dirty="0"/>
          </a:p>
        </p:txBody>
      </p:sp>
      <p:pic>
        <p:nvPicPr>
          <p:cNvPr id="30" name="Image 4" descr="preencoded.png"/>
          <p:cNvPicPr>
            <a:picLocks noChangeAspect="1"/>
          </p:cNvPicPr>
          <p:nvPr/>
        </p:nvPicPr>
        <p:blipFill>
          <a:blip r:embed="rId4"/>
          <a:stretch>
            <a:fillRect/>
          </a:stretch>
        </p:blipFill>
        <p:spPr>
          <a:xfrm>
            <a:off x="6053328" y="4178808"/>
            <a:ext cx="274320" cy="274320"/>
          </a:xfrm>
          <a:prstGeom prst="rect">
            <a:avLst/>
          </a:prstGeom>
        </p:spPr>
      </p:pic>
      <p:sp>
        <p:nvSpPr>
          <p:cNvPr id="31" name="Shape 24"/>
          <p:cNvSpPr/>
          <p:nvPr/>
        </p:nvSpPr>
        <p:spPr>
          <a:xfrm>
            <a:off x="6382512" y="3429000"/>
            <a:ext cx="2487168" cy="1783080"/>
          </a:xfrm>
          <a:prstGeom prst="roundRect">
            <a:avLst>
              <a:gd name="adj" fmla="val 4103"/>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2" name="Shape 25"/>
          <p:cNvSpPr/>
          <p:nvPr/>
        </p:nvSpPr>
        <p:spPr>
          <a:xfrm>
            <a:off x="7260336" y="3648456"/>
            <a:ext cx="731520" cy="731520"/>
          </a:xfrm>
          <a:prstGeom prst="ellipse">
            <a:avLst/>
          </a:prstGeom>
          <a:solidFill>
            <a:srgbClr val="0E8C86"/>
          </a:solidFill>
          <a:ln/>
        </p:spPr>
      </p:sp>
      <p:pic>
        <p:nvPicPr>
          <p:cNvPr id="33" name="Image 5" descr="preencoded.png"/>
          <p:cNvPicPr>
            <a:picLocks noChangeAspect="1"/>
          </p:cNvPicPr>
          <p:nvPr/>
        </p:nvPicPr>
        <p:blipFill>
          <a:blip r:embed="rId6"/>
          <a:stretch>
            <a:fillRect/>
          </a:stretch>
        </p:blipFill>
        <p:spPr>
          <a:xfrm>
            <a:off x="7452360" y="3831336"/>
            <a:ext cx="347472" cy="347472"/>
          </a:xfrm>
          <a:prstGeom prst="rect">
            <a:avLst/>
          </a:prstGeom>
        </p:spPr>
      </p:pic>
      <p:sp>
        <p:nvSpPr>
          <p:cNvPr id="34" name="Text 26"/>
          <p:cNvSpPr/>
          <p:nvPr/>
        </p:nvSpPr>
        <p:spPr>
          <a:xfrm>
            <a:off x="6519672" y="4480560"/>
            <a:ext cx="2212848" cy="320040"/>
          </a:xfrm>
          <a:prstGeom prst="rect">
            <a:avLst/>
          </a:prstGeom>
          <a:noFill/>
          <a:ln/>
        </p:spPr>
        <p:txBody>
          <a:bodyPr wrap="square" rtlCol="0" anchor="ctr"/>
          <a:lstStyle/>
          <a:p>
            <a:pPr marL="0" indent="0" algn="ctr">
              <a:buNone/>
            </a:pPr>
            <a:r>
              <a:rPr lang="en-US" sz="1500" b="1" dirty="0">
                <a:solidFill>
                  <a:srgbClr val="17233D"/>
                </a:solidFill>
                <a:latin typeface="Calibri" pitchFamily="34" charset="0"/>
                <a:ea typeface="Calibri" pitchFamily="34" charset="-122"/>
                <a:cs typeface="Calibri" pitchFamily="34" charset="-120"/>
              </a:rPr>
              <a:t>Model</a:t>
            </a:r>
            <a:endParaRPr lang="en-US" sz="1500" dirty="0"/>
          </a:p>
        </p:txBody>
      </p:sp>
      <p:sp>
        <p:nvSpPr>
          <p:cNvPr id="35" name="Text 27"/>
          <p:cNvSpPr/>
          <p:nvPr/>
        </p:nvSpPr>
        <p:spPr>
          <a:xfrm>
            <a:off x="6565392" y="4782312"/>
            <a:ext cx="2121408" cy="411480"/>
          </a:xfrm>
          <a:prstGeom prst="rect">
            <a:avLst/>
          </a:prstGeom>
          <a:noFill/>
          <a:ln/>
        </p:spPr>
        <p:txBody>
          <a:bodyPr wrap="square" rtlCol="0" anchor="ctr"/>
          <a:lstStyle/>
          <a:p>
            <a:pPr marL="0" indent="0" algn="ctr">
              <a:lnSpc>
                <a:spcPts val="1300"/>
              </a:lnSpc>
              <a:buNone/>
            </a:pPr>
            <a:r>
              <a:rPr lang="en-US" sz="1100" dirty="0">
                <a:solidFill>
                  <a:srgbClr val="64748B"/>
                </a:solidFill>
                <a:latin typeface="Calibri" pitchFamily="34" charset="0"/>
                <a:ea typeface="Calibri" pitchFamily="34" charset="-122"/>
                <a:cs typeface="Calibri" pitchFamily="34" charset="-120"/>
              </a:rPr>
              <a:t>One shared way of matching up area and time across all the data</a:t>
            </a:r>
            <a:endParaRPr lang="en-US" sz="1100" dirty="0"/>
          </a:p>
        </p:txBody>
      </p:sp>
      <p:pic>
        <p:nvPicPr>
          <p:cNvPr id="36" name="Image 6" descr="preencoded.png"/>
          <p:cNvPicPr>
            <a:picLocks noChangeAspect="1"/>
          </p:cNvPicPr>
          <p:nvPr/>
        </p:nvPicPr>
        <p:blipFill>
          <a:blip r:embed="rId4"/>
          <a:stretch>
            <a:fillRect/>
          </a:stretch>
        </p:blipFill>
        <p:spPr>
          <a:xfrm>
            <a:off x="8924544" y="4178808"/>
            <a:ext cx="274320" cy="274320"/>
          </a:xfrm>
          <a:prstGeom prst="rect">
            <a:avLst/>
          </a:prstGeom>
        </p:spPr>
      </p:pic>
      <p:sp>
        <p:nvSpPr>
          <p:cNvPr id="37" name="Shape 28"/>
          <p:cNvSpPr/>
          <p:nvPr/>
        </p:nvSpPr>
        <p:spPr>
          <a:xfrm>
            <a:off x="9253728" y="3429000"/>
            <a:ext cx="2487168" cy="1783080"/>
          </a:xfrm>
          <a:prstGeom prst="roundRect">
            <a:avLst>
              <a:gd name="adj" fmla="val 4103"/>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8" name="Shape 29"/>
          <p:cNvSpPr/>
          <p:nvPr/>
        </p:nvSpPr>
        <p:spPr>
          <a:xfrm>
            <a:off x="10131552" y="3648456"/>
            <a:ext cx="731520" cy="731520"/>
          </a:xfrm>
          <a:prstGeom prst="ellipse">
            <a:avLst/>
          </a:prstGeom>
          <a:solidFill>
            <a:srgbClr val="0E8C86"/>
          </a:solidFill>
          <a:ln/>
        </p:spPr>
      </p:sp>
      <p:pic>
        <p:nvPicPr>
          <p:cNvPr id="39" name="Image 7" descr="preencoded.png"/>
          <p:cNvPicPr>
            <a:picLocks noChangeAspect="1"/>
          </p:cNvPicPr>
          <p:nvPr/>
        </p:nvPicPr>
        <p:blipFill>
          <a:blip r:embed="rId7"/>
          <a:stretch>
            <a:fillRect/>
          </a:stretch>
        </p:blipFill>
        <p:spPr>
          <a:xfrm>
            <a:off x="10323576" y="3831336"/>
            <a:ext cx="347472" cy="347472"/>
          </a:xfrm>
          <a:prstGeom prst="rect">
            <a:avLst/>
          </a:prstGeom>
        </p:spPr>
      </p:pic>
      <p:sp>
        <p:nvSpPr>
          <p:cNvPr id="40" name="Text 30"/>
          <p:cNvSpPr/>
          <p:nvPr/>
        </p:nvSpPr>
        <p:spPr>
          <a:xfrm>
            <a:off x="9390888" y="4480560"/>
            <a:ext cx="2212848" cy="320040"/>
          </a:xfrm>
          <a:prstGeom prst="rect">
            <a:avLst/>
          </a:prstGeom>
          <a:noFill/>
          <a:ln/>
        </p:spPr>
        <p:txBody>
          <a:bodyPr wrap="square" rtlCol="0" anchor="ctr"/>
          <a:lstStyle/>
          <a:p>
            <a:pPr marL="0" indent="0" algn="ctr">
              <a:buNone/>
            </a:pPr>
            <a:r>
              <a:rPr lang="en-US" sz="1500" b="1" dirty="0">
                <a:solidFill>
                  <a:srgbClr val="17233D"/>
                </a:solidFill>
                <a:latin typeface="Calibri" pitchFamily="34" charset="0"/>
                <a:ea typeface="Calibri" pitchFamily="34" charset="-122"/>
                <a:cs typeface="Calibri" pitchFamily="34" charset="-120"/>
              </a:rPr>
              <a:t>Visualise</a:t>
            </a:r>
            <a:endParaRPr lang="en-US" sz="1500" dirty="0"/>
          </a:p>
        </p:txBody>
      </p:sp>
      <p:sp>
        <p:nvSpPr>
          <p:cNvPr id="41" name="Text 31"/>
          <p:cNvSpPr/>
          <p:nvPr/>
        </p:nvSpPr>
        <p:spPr>
          <a:xfrm>
            <a:off x="9436608" y="4782312"/>
            <a:ext cx="2121408" cy="411480"/>
          </a:xfrm>
          <a:prstGeom prst="rect">
            <a:avLst/>
          </a:prstGeom>
          <a:noFill/>
          <a:ln/>
        </p:spPr>
        <p:txBody>
          <a:bodyPr wrap="square" rtlCol="0" anchor="ctr"/>
          <a:lstStyle/>
          <a:p>
            <a:pPr marL="0" indent="0" algn="ctr">
              <a:lnSpc>
                <a:spcPts val="1300"/>
              </a:lnSpc>
              <a:buNone/>
            </a:pPr>
            <a:r>
              <a:rPr lang="en-US" sz="1100" dirty="0">
                <a:solidFill>
                  <a:srgbClr val="64748B"/>
                </a:solidFill>
                <a:latin typeface="Calibri" pitchFamily="34" charset="0"/>
                <a:ea typeface="Calibri" pitchFamily="34" charset="-122"/>
                <a:cs typeface="Calibri" pitchFamily="34" charset="-120"/>
              </a:rPr>
              <a:t>Three linked pages anyone can filter and explore</a:t>
            </a:r>
            <a:endParaRPr lang="en-US" sz="1100" dirty="0"/>
          </a:p>
        </p:txBody>
      </p:sp>
      <p:sp>
        <p:nvSpPr>
          <p:cNvPr id="42" name="Shape 32"/>
          <p:cNvSpPr/>
          <p:nvPr/>
        </p:nvSpPr>
        <p:spPr>
          <a:xfrm>
            <a:off x="640080" y="5532120"/>
            <a:ext cx="10881360" cy="777240"/>
          </a:xfrm>
          <a:prstGeom prst="roundRect">
            <a:avLst>
              <a:gd name="adj" fmla="val 7059"/>
            </a:avLst>
          </a:prstGeom>
          <a:solidFill>
            <a:srgbClr val="DCEEEC"/>
          </a:solidFill>
          <a:ln/>
        </p:spPr>
      </p:sp>
      <p:pic>
        <p:nvPicPr>
          <p:cNvPr id="43" name="Image 8" descr="preencoded.png"/>
          <p:cNvPicPr>
            <a:picLocks noChangeAspect="1"/>
          </p:cNvPicPr>
          <p:nvPr/>
        </p:nvPicPr>
        <p:blipFill>
          <a:blip r:embed="rId8"/>
          <a:stretch>
            <a:fillRect/>
          </a:stretch>
        </p:blipFill>
        <p:spPr>
          <a:xfrm>
            <a:off x="914400" y="5742432"/>
            <a:ext cx="310896" cy="310896"/>
          </a:xfrm>
          <a:prstGeom prst="rect">
            <a:avLst/>
          </a:prstGeom>
        </p:spPr>
      </p:pic>
      <p:sp>
        <p:nvSpPr>
          <p:cNvPr id="44" name="Text 33"/>
          <p:cNvSpPr/>
          <p:nvPr/>
        </p:nvSpPr>
        <p:spPr>
          <a:xfrm>
            <a:off x="1417320" y="5614416"/>
            <a:ext cx="9784080" cy="640080"/>
          </a:xfrm>
          <a:prstGeom prst="rect">
            <a:avLst/>
          </a:prstGeom>
          <a:noFill/>
          <a:ln/>
        </p:spPr>
        <p:txBody>
          <a:bodyPr wrap="square" rtlCol="0" anchor="ctr"/>
          <a:lstStyle/>
          <a:p>
            <a:pPr marL="0" indent="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I'd bring that same care around GDPR and Freedom of Information requests to the real, person-level data this role works with.</a:t>
            </a:r>
            <a:endParaRPr lang="en-US" sz="1200" dirty="0"/>
          </a:p>
        </p:txBody>
      </p:sp>
      <p:sp>
        <p:nvSpPr>
          <p:cNvPr id="45" name="Text 34"/>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6" name="Text 35"/>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demand_final.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24.1% today</a:t>
            </a:r>
            <a:endParaRPr lang="en-US" sz="135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Lincolnshire's 65+ share, already well above England's 18.5%.</a:t>
            </a:r>
            <a:endParaRPr lang="en-US" sz="115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26.7% by 2030</a:t>
            </a:r>
            <a:endParaRPr lang="en-US" sz="1350" dirty="0"/>
          </a:p>
        </p:txBody>
      </p:sp>
      <p:sp>
        <p:nvSpPr>
          <p:cNvPr id="14" name="Text 8"/>
          <p:cNvSpPr/>
          <p:nvPr/>
        </p:nvSpPr>
        <p:spPr>
          <a:xfrm>
            <a:off x="8385048" y="3419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ONS projects the share itself keeps climbing, not just the headcount.</a:t>
            </a:r>
            <a:endParaRPr lang="en-US" sz="1150" dirty="0"/>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Click a district to explore it</a:t>
            </a:r>
            <a:endParaRPr lang="en-US" sz="1350" dirty="0"/>
          </a:p>
        </p:txBody>
      </p:sp>
      <p:sp>
        <p:nvSpPr>
          <p:cNvPr id="17" name="Text 10"/>
          <p:cNvSpPr/>
          <p:nvPr/>
        </p:nvSpPr>
        <p:spPr>
          <a:xfrm>
            <a:off x="8385048" y="4562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See any of the 7 districts on its own, without leaving the page.</a:t>
            </a:r>
            <a:endParaRPr lang="en-US" sz="1150" dirty="0"/>
          </a:p>
        </p:txBody>
      </p:sp>
      <p:sp>
        <p:nvSpPr>
          <p:cNvPr id="18" name="Shape 11"/>
          <p:cNvSpPr/>
          <p:nvPr/>
        </p:nvSpPr>
        <p:spPr>
          <a:xfrm>
            <a:off x="640080" y="5532120"/>
            <a:ext cx="10881360" cy="777240"/>
          </a:xfrm>
          <a:prstGeom prst="roundRect">
            <a:avLst>
              <a:gd name="adj" fmla="val 7059"/>
            </a:avLst>
          </a:prstGeom>
          <a:solidFill>
            <a:srgbClr val="17233D"/>
          </a:solidFill>
          <a:ln/>
        </p:spPr>
      </p:sp>
      <p:pic>
        <p:nvPicPr>
          <p:cNvPr id="19" name="Image 5" descr="preencoded.png"/>
          <p:cNvPicPr>
            <a:picLocks noChangeAspect="1"/>
          </p:cNvPicPr>
          <p:nvPr/>
        </p:nvPicPr>
        <p:blipFill>
          <a:blip r:embed="rId6"/>
          <a:stretch>
            <a:fillRect/>
          </a:stretch>
        </p:blipFill>
        <p:spPr>
          <a:xfrm>
            <a:off x="914400" y="5733288"/>
            <a:ext cx="310896" cy="310896"/>
          </a:xfrm>
          <a:prstGeom prst="rect">
            <a:avLst/>
          </a:prstGeom>
        </p:spPr>
      </p:pic>
      <p:sp>
        <p:nvSpPr>
          <p:cNvPr id="20" name="Text 12"/>
          <p:cNvSpPr/>
          <p:nvPr/>
        </p:nvSpPr>
        <p:spPr>
          <a:xfrm>
            <a:off x="1417320" y="5577840"/>
            <a:ext cx="9875520" cy="685800"/>
          </a:xfrm>
          <a:prstGeom prst="rect">
            <a:avLst/>
          </a:prstGeom>
          <a:noFill/>
          <a:ln/>
        </p:spPr>
        <p:txBody>
          <a:bodyPr wrap="square" rtlCol="0" anchor="ctr"/>
          <a:lstStyle/>
          <a:p>
            <a:pPr marL="0" indent="0">
              <a:lnSpc>
                <a:spcPts val="1450"/>
              </a:lnSpc>
              <a:buNone/>
            </a:pPr>
            <a:r>
              <a:rPr lang="en-US" sz="1200" b="1" dirty="0">
                <a:solidFill>
                  <a:srgbClr val="6FD8D2"/>
                </a:solidFill>
                <a:latin typeface="Calibri" pitchFamily="34" charset="0"/>
                <a:ea typeface="Calibri" pitchFamily="34" charset="-122"/>
                <a:cs typeface="Calibri" pitchFamily="34" charset="-120"/>
              </a:rPr>
              <a:t>So what:  </a:t>
            </a:r>
            <a:r>
              <a:rPr lang="en-US" sz="1200" dirty="0">
                <a:solidFill>
                  <a:srgbClr val="D5DEEC"/>
                </a:solidFill>
                <a:latin typeface="Calibri" pitchFamily="34" charset="0"/>
                <a:ea typeface="Calibri" pitchFamily="34" charset="-122"/>
                <a:cs typeface="Calibri" pitchFamily="34" charset="-120"/>
              </a:rPr>
              <a:t>the 65+ share is not just higher than average, it is projected to keep rising, from 24.1% today to 26.7% by 2030. This page is the pressure gauge the other two are read against.</a:t>
            </a:r>
            <a:endParaRPr lang="en-US" sz="1200" dirty="0"/>
          </a:p>
        </p:txBody>
      </p:sp>
      <p:sp>
        <p:nvSpPr>
          <p:cNvPr id="21"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2  |  Outcomes and benchmarking</a:t>
            </a:r>
            <a:endParaRPr lang="en-US" sz="2500" dirty="0"/>
          </a:p>
        </p:txBody>
      </p:sp>
      <p:pic>
        <p:nvPicPr>
          <p:cNvPr id="6" name="Image 1" descr="/home/claude/screenshots/outcomes_final.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What this page answers</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The honest picture</a:t>
            </a:r>
            <a:endParaRPr lang="en-US" sz="13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Ahead of England on reablement (+20.9) and safeguarding (+2.6), behind on staff turnover (+6.5).</a:t>
            </a:r>
            <a:endParaRPr lang="en-US" sz="11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Fair comparisons, not just numbers</a:t>
            </a:r>
            <a:endParaRPr lang="en-US" sz="1300" dirty="0"/>
          </a:p>
        </p:txBody>
      </p:sp>
      <p:sp>
        <p:nvSpPr>
          <p:cNvPr id="14" name="Text 8"/>
          <p:cNvSpPr/>
          <p:nvPr/>
        </p:nvSpPr>
        <p:spPr>
          <a:xfrm>
            <a:off x="8385048" y="3419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endParaRPr lang="en-US" sz="1100" dirty="0"/>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Click a measure to compare it</a:t>
            </a:r>
            <a:endParaRPr lang="en-US" sz="1300" dirty="0"/>
          </a:p>
        </p:txBody>
      </p:sp>
      <p:sp>
        <p:nvSpPr>
          <p:cNvPr id="17" name="Text 10"/>
          <p:cNvSpPr/>
          <p:nvPr/>
        </p:nvSpPr>
        <p:spPr>
          <a:xfrm>
            <a:off x="8385048" y="4562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Choose any one measure and both charts update to show just that comparison.</a:t>
            </a:r>
            <a:endParaRPr lang="en-US" sz="1100" dirty="0"/>
          </a:p>
        </p:txBody>
      </p:sp>
      <p:sp>
        <p:nvSpPr>
          <p:cNvPr id="18" name="Shape 11"/>
          <p:cNvSpPr/>
          <p:nvPr/>
        </p:nvSpPr>
        <p:spPr>
          <a:xfrm>
            <a:off x="640080" y="5532120"/>
            <a:ext cx="10881360" cy="777240"/>
          </a:xfrm>
          <a:prstGeom prst="roundRect">
            <a:avLst>
              <a:gd name="adj" fmla="val 7059"/>
            </a:avLst>
          </a:prstGeom>
          <a:solidFill>
            <a:srgbClr val="F5F8FB"/>
          </a:solidFill>
          <a:ln w="12700">
            <a:solidFill>
              <a:srgbClr val="E2E8F0"/>
            </a:solidFill>
            <a:prstDash val="solid"/>
          </a:ln>
        </p:spPr>
      </p:sp>
      <p:sp>
        <p:nvSpPr>
          <p:cNvPr id="19" name="Text 12"/>
          <p:cNvSpPr/>
          <p:nvPr/>
        </p:nvSpPr>
        <p:spPr>
          <a:xfrm>
            <a:off x="960120" y="5596128"/>
            <a:ext cx="10332720" cy="640080"/>
          </a:xfrm>
          <a:prstGeom prst="rect">
            <a:avLst/>
          </a:prstGeom>
          <a:noFill/>
          <a:ln/>
        </p:spPr>
        <p:txBody>
          <a:bodyPr wrap="square" rtlCol="0" anchor="ctr"/>
          <a:lstStyle/>
          <a:p>
            <a:pPr marL="0" indent="0">
              <a:lnSpc>
                <a:spcPts val="1400"/>
              </a:lnSpc>
              <a:buNone/>
            </a:pPr>
            <a:r>
              <a:rPr lang="en-US" sz="1100" b="1" i="1" dirty="0">
                <a:solidFill>
                  <a:srgbClr val="0A6B66"/>
                </a:solidFill>
                <a:latin typeface="Calibri" pitchFamily="34" charset="0"/>
                <a:ea typeface="Calibri" pitchFamily="34" charset="-122"/>
                <a:cs typeface="Calibri" pitchFamily="34" charset="-120"/>
              </a:rPr>
              <a:t>Reading the data honestly.  </a:t>
            </a:r>
            <a:r>
              <a:rPr lang="en-US" sz="11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100" dirty="0"/>
          </a:p>
        </p:txBody>
      </p:sp>
      <p:sp>
        <p:nvSpPr>
          <p:cNvPr id="20"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3  |  Provider quality across the county</a:t>
            </a:r>
            <a:endParaRPr lang="en-US" sz="2500" dirty="0"/>
          </a:p>
        </p:txBody>
      </p:sp>
      <p:pic>
        <p:nvPicPr>
          <p:cNvPr id="6" name="Image 1" descr="/home/claude/screenshots/providers_final.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7132320" cy="685800"/>
          </a:xfrm>
          <a:prstGeom prst="roundRect">
            <a:avLst>
              <a:gd name="adj" fmla="val 8000"/>
            </a:avLst>
          </a:prstGeom>
          <a:solidFill>
            <a:srgbClr val="17233D"/>
          </a:solidFill>
          <a:ln/>
        </p:spPr>
      </p:sp>
      <p:sp>
        <p:nvSpPr>
          <p:cNvPr id="9" name="Text 5"/>
          <p:cNvSpPr/>
          <p:nvPr/>
        </p:nvSpPr>
        <p:spPr>
          <a:xfrm>
            <a:off x="914400" y="5532120"/>
            <a:ext cx="6675120" cy="685800"/>
          </a:xfrm>
          <a:prstGeom prst="rect">
            <a:avLst/>
          </a:prstGeom>
          <a:noFill/>
          <a:ln/>
        </p:spPr>
        <p:txBody>
          <a:bodyPr wrap="square" rtlCol="0" anchor="ctr"/>
          <a:lstStyle/>
          <a:p>
            <a:pPr marL="0" indent="0">
              <a:buNone/>
            </a:pPr>
            <a:r>
              <a:rPr lang="en-US" sz="1400" b="1" dirty="0">
                <a:solidFill>
                  <a:srgbClr val="6FD8D2"/>
                </a:solidFill>
                <a:latin typeface="Calibri" pitchFamily="34" charset="0"/>
                <a:ea typeface="Calibri" pitchFamily="34" charset="-122"/>
                <a:cs typeface="Calibri" pitchFamily="34" charset="-120"/>
              </a:rPr>
              <a:t>259 rated homes  |  77.2% </a:t>
            </a:r>
            <a:r>
              <a:rPr lang="en-US" sz="1150" dirty="0">
                <a:solidFill>
                  <a:srgbClr val="D5DEEC"/>
                </a:solidFill>
                <a:latin typeface="Calibri" pitchFamily="34" charset="0"/>
                <a:ea typeface="Calibri" pitchFamily="34" charset="-122"/>
                <a:cs typeface="Calibri" pitchFamily="34" charset="-120"/>
              </a:rPr>
              <a:t>good or outstanding, vs 81.7% England (ASCOF 6B)</a:t>
            </a:r>
            <a:endParaRPr lang="en-US" sz="1400" dirty="0"/>
          </a:p>
        </p:txBody>
      </p:sp>
      <p:sp>
        <p:nvSpPr>
          <p:cNvPr id="10" name="Text 6"/>
          <p:cNvSpPr/>
          <p:nvPr/>
        </p:nvSpPr>
        <p:spPr>
          <a:xfrm>
            <a:off x="8001000" y="1463040"/>
            <a:ext cx="3520440" cy="5486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sp>
        <p:nvSpPr>
          <p:cNvPr id="11" name="Shape 7"/>
          <p:cNvSpPr/>
          <p:nvPr/>
        </p:nvSpPr>
        <p:spPr>
          <a:xfrm>
            <a:off x="8001000" y="1965960"/>
            <a:ext cx="457200" cy="457200"/>
          </a:xfrm>
          <a:prstGeom prst="ellipse">
            <a:avLst/>
          </a:prstGeom>
          <a:solidFill>
            <a:srgbClr val="0E8C86"/>
          </a:solidFill>
          <a:ln/>
        </p:spPr>
      </p:sp>
      <p:pic>
        <p:nvPicPr>
          <p:cNvPr id="12" name="Image 2" descr="preencoded.png"/>
          <p:cNvPicPr>
            <a:picLocks noChangeAspect="1"/>
          </p:cNvPicPr>
          <p:nvPr/>
        </p:nvPicPr>
        <p:blipFill>
          <a:blip r:embed="rId5"/>
          <a:stretch>
            <a:fillRect/>
          </a:stretch>
        </p:blipFill>
        <p:spPr>
          <a:xfrm>
            <a:off x="8119872" y="2084832"/>
            <a:ext cx="219456" cy="219456"/>
          </a:xfrm>
          <a:prstGeom prst="rect">
            <a:avLst/>
          </a:prstGeom>
        </p:spPr>
      </p:pic>
      <p:sp>
        <p:nvSpPr>
          <p:cNvPr id="13" name="Text 8"/>
          <p:cNvSpPr/>
          <p:nvPr/>
        </p:nvSpPr>
        <p:spPr>
          <a:xfrm>
            <a:off x="8595360" y="194767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Quality</a:t>
            </a:r>
            <a:endParaRPr lang="en-US" sz="1300" dirty="0"/>
          </a:p>
        </p:txBody>
      </p:sp>
      <p:sp>
        <p:nvSpPr>
          <p:cNvPr id="14" name="Text 9"/>
          <p:cNvSpPr/>
          <p:nvPr/>
        </p:nvSpPr>
        <p:spPr>
          <a:xfrm>
            <a:off x="8595360" y="225856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100" dirty="0"/>
          </a:p>
        </p:txBody>
      </p:sp>
      <p:sp>
        <p:nvSpPr>
          <p:cNvPr id="15" name="Shape 10"/>
          <p:cNvSpPr/>
          <p:nvPr/>
        </p:nvSpPr>
        <p:spPr>
          <a:xfrm>
            <a:off x="8001000" y="3200400"/>
            <a:ext cx="457200" cy="457200"/>
          </a:xfrm>
          <a:prstGeom prst="ellipse">
            <a:avLst/>
          </a:prstGeom>
          <a:solidFill>
            <a:srgbClr val="0E8C86"/>
          </a:solidFill>
          <a:ln/>
        </p:spPr>
      </p:sp>
      <p:pic>
        <p:nvPicPr>
          <p:cNvPr id="16" name="Image 3" descr="preencoded.png"/>
          <p:cNvPicPr>
            <a:picLocks noChangeAspect="1"/>
          </p:cNvPicPr>
          <p:nvPr/>
        </p:nvPicPr>
        <p:blipFill>
          <a:blip r:embed="rId3"/>
          <a:stretch>
            <a:fillRect/>
          </a:stretch>
        </p:blipFill>
        <p:spPr>
          <a:xfrm>
            <a:off x="8119872" y="3319272"/>
            <a:ext cx="219456" cy="219456"/>
          </a:xfrm>
          <a:prstGeom prst="rect">
            <a:avLst/>
          </a:prstGeom>
        </p:spPr>
      </p:pic>
      <p:sp>
        <p:nvSpPr>
          <p:cNvPr id="17" name="Text 11"/>
          <p:cNvSpPr/>
          <p:nvPr/>
        </p:nvSpPr>
        <p:spPr>
          <a:xfrm>
            <a:off x="8595360" y="318211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Geography</a:t>
            </a:r>
            <a:endParaRPr lang="en-US" sz="1300" dirty="0"/>
          </a:p>
        </p:txBody>
      </p:sp>
      <p:sp>
        <p:nvSpPr>
          <p:cNvPr id="18" name="Text 12"/>
          <p:cNvSpPr/>
          <p:nvPr/>
        </p:nvSpPr>
        <p:spPr>
          <a:xfrm>
            <a:off x="8595360" y="349300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100" dirty="0"/>
          </a:p>
        </p:txBody>
      </p:sp>
      <p:sp>
        <p:nvSpPr>
          <p:cNvPr id="19" name="Shape 13"/>
          <p:cNvSpPr/>
          <p:nvPr/>
        </p:nvSpPr>
        <p:spPr>
          <a:xfrm>
            <a:off x="8001000" y="4434840"/>
            <a:ext cx="457200" cy="457200"/>
          </a:xfrm>
          <a:prstGeom prst="ellipse">
            <a:avLst/>
          </a:prstGeom>
          <a:solidFill>
            <a:srgbClr val="0E8C86"/>
          </a:solidFill>
          <a:ln/>
        </p:spPr>
      </p:sp>
      <p:pic>
        <p:nvPicPr>
          <p:cNvPr id="20" name="Image 4" descr="preencoded.png"/>
          <p:cNvPicPr>
            <a:picLocks noChangeAspect="1"/>
          </p:cNvPicPr>
          <p:nvPr/>
        </p:nvPicPr>
        <p:blipFill>
          <a:blip r:embed="rId6"/>
          <a:stretch>
            <a:fillRect/>
          </a:stretch>
        </p:blipFill>
        <p:spPr>
          <a:xfrm>
            <a:off x="8119872" y="4553712"/>
            <a:ext cx="219456" cy="219456"/>
          </a:xfrm>
          <a:prstGeom prst="rect">
            <a:avLst/>
          </a:prstGeom>
        </p:spPr>
      </p:pic>
      <p:sp>
        <p:nvSpPr>
          <p:cNvPr id="21" name="Text 14"/>
          <p:cNvSpPr/>
          <p:nvPr/>
        </p:nvSpPr>
        <p:spPr>
          <a:xfrm>
            <a:off x="8595360" y="441655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Why this matters for planning</a:t>
            </a:r>
            <a:endParaRPr lang="en-US" sz="1300" dirty="0"/>
          </a:p>
        </p:txBody>
      </p:sp>
      <p:sp>
        <p:nvSpPr>
          <p:cNvPr id="22" name="Text 15"/>
          <p:cNvSpPr/>
          <p:nvPr/>
        </p:nvSpPr>
        <p:spPr>
          <a:xfrm>
            <a:off x="8595360" y="472744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Links to Page 1, so you can see care quality alongside where demand is highest.</a:t>
            </a:r>
            <a:endParaRPr lang="en-US" sz="1100" dirty="0"/>
          </a:p>
        </p:txBody>
      </p:sp>
      <p:sp>
        <p:nvSpPr>
          <p:cNvPr id="23" name="Text 16"/>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6" name="Shape 3"/>
          <p:cNvSpPr/>
          <p:nvPr/>
        </p:nvSpPr>
        <p:spPr>
          <a:xfrm>
            <a:off x="640080"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3227832"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8" name="Shape 5"/>
          <p:cNvSpPr/>
          <p:nvPr/>
        </p:nvSpPr>
        <p:spPr>
          <a:xfrm>
            <a:off x="914400" y="1920240"/>
            <a:ext cx="658368" cy="658368"/>
          </a:xfrm>
          <a:prstGeom prst="ellipse">
            <a:avLst/>
          </a:prstGeom>
          <a:solidFill>
            <a:srgbClr val="0E8C86"/>
          </a:solidFill>
          <a:ln/>
        </p:spPr>
      </p:sp>
      <p:pic>
        <p:nvPicPr>
          <p:cNvPr id="9" name="Image 1" descr="preencoded.png"/>
          <p:cNvPicPr>
            <a:picLocks noChangeAspect="1"/>
          </p:cNvPicPr>
          <p:nvPr/>
        </p:nvPicPr>
        <p:blipFill>
          <a:blip r:embed="rId4"/>
          <a:stretch>
            <a:fillRect/>
          </a:stretch>
        </p:blipFill>
        <p:spPr>
          <a:xfrm>
            <a:off x="1078992" y="2084832"/>
            <a:ext cx="329184" cy="329184"/>
          </a:xfrm>
          <a:prstGeom prst="rect">
            <a:avLst/>
          </a:prstGeom>
        </p:spPr>
      </p:pic>
      <p:sp>
        <p:nvSpPr>
          <p:cNvPr id="10" name="Text 6"/>
          <p:cNvSpPr/>
          <p:nvPr/>
        </p:nvSpPr>
        <p:spPr>
          <a:xfrm>
            <a:off x="932688"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Scoped</a:t>
            </a:r>
            <a:endParaRPr lang="en-US" sz="1700" dirty="0"/>
          </a:p>
        </p:txBody>
      </p:sp>
      <p:sp>
        <p:nvSpPr>
          <p:cNvPr id="11" name="Text 7"/>
          <p:cNvSpPr/>
          <p:nvPr/>
        </p:nvSpPr>
        <p:spPr>
          <a:xfrm>
            <a:off x="932688"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12" name="Shape 8"/>
          <p:cNvSpPr/>
          <p:nvPr/>
        </p:nvSpPr>
        <p:spPr>
          <a:xfrm>
            <a:off x="4416552"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13" name="Text 9"/>
          <p:cNvSpPr/>
          <p:nvPr/>
        </p:nvSpPr>
        <p:spPr>
          <a:xfrm>
            <a:off x="7004304"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14" name="Shape 10"/>
          <p:cNvSpPr/>
          <p:nvPr/>
        </p:nvSpPr>
        <p:spPr>
          <a:xfrm>
            <a:off x="4690872" y="1920240"/>
            <a:ext cx="658368" cy="658368"/>
          </a:xfrm>
          <a:prstGeom prst="ellipse">
            <a:avLst/>
          </a:prstGeom>
          <a:solidFill>
            <a:srgbClr val="0E8C86"/>
          </a:solidFill>
          <a:ln/>
        </p:spPr>
      </p:sp>
      <p:pic>
        <p:nvPicPr>
          <p:cNvPr id="15" name="Image 2" descr="preencoded.png"/>
          <p:cNvPicPr>
            <a:picLocks noChangeAspect="1"/>
          </p:cNvPicPr>
          <p:nvPr/>
        </p:nvPicPr>
        <p:blipFill>
          <a:blip r:embed="rId5"/>
          <a:stretch>
            <a:fillRect/>
          </a:stretch>
        </p:blipFill>
        <p:spPr>
          <a:xfrm>
            <a:off x="4855464" y="2084832"/>
            <a:ext cx="329184" cy="329184"/>
          </a:xfrm>
          <a:prstGeom prst="rect">
            <a:avLst/>
          </a:prstGeom>
        </p:spPr>
      </p:pic>
      <p:sp>
        <p:nvSpPr>
          <p:cNvPr id="16" name="Text 11"/>
          <p:cNvSpPr/>
          <p:nvPr/>
        </p:nvSpPr>
        <p:spPr>
          <a:xfrm>
            <a:off x="4709160"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Prioritised</a:t>
            </a:r>
            <a:endParaRPr lang="en-US" sz="1700" dirty="0"/>
          </a:p>
        </p:txBody>
      </p:sp>
      <p:sp>
        <p:nvSpPr>
          <p:cNvPr id="17" name="Text 12"/>
          <p:cNvSpPr/>
          <p:nvPr/>
        </p:nvSpPr>
        <p:spPr>
          <a:xfrm>
            <a:off x="4709160"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18" name="Shape 13"/>
          <p:cNvSpPr/>
          <p:nvPr/>
        </p:nvSpPr>
        <p:spPr>
          <a:xfrm>
            <a:off x="8193024"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19" name="Text 14"/>
          <p:cNvSpPr/>
          <p:nvPr/>
        </p:nvSpPr>
        <p:spPr>
          <a:xfrm>
            <a:off x="10780776"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20" name="Shape 15"/>
          <p:cNvSpPr/>
          <p:nvPr/>
        </p:nvSpPr>
        <p:spPr>
          <a:xfrm>
            <a:off x="8467344" y="1920240"/>
            <a:ext cx="658368" cy="658368"/>
          </a:xfrm>
          <a:prstGeom prst="ellipse">
            <a:avLst/>
          </a:prstGeom>
          <a:solidFill>
            <a:srgbClr val="0E8C86"/>
          </a:solidFill>
          <a:ln/>
        </p:spPr>
      </p:sp>
      <p:pic>
        <p:nvPicPr>
          <p:cNvPr id="21" name="Image 3" descr="preencoded.png"/>
          <p:cNvPicPr>
            <a:picLocks noChangeAspect="1"/>
          </p:cNvPicPr>
          <p:nvPr/>
        </p:nvPicPr>
        <p:blipFill>
          <a:blip r:embed="rId6"/>
          <a:stretch>
            <a:fillRect/>
          </a:stretch>
        </p:blipFill>
        <p:spPr>
          <a:xfrm>
            <a:off x="8631936" y="2084832"/>
            <a:ext cx="329184" cy="329184"/>
          </a:xfrm>
          <a:prstGeom prst="rect">
            <a:avLst/>
          </a:prstGeom>
        </p:spPr>
      </p:pic>
      <p:sp>
        <p:nvSpPr>
          <p:cNvPr id="22" name="Text 16"/>
          <p:cNvSpPr/>
          <p:nvPr/>
        </p:nvSpPr>
        <p:spPr>
          <a:xfrm>
            <a:off x="8485632"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Delivered</a:t>
            </a:r>
            <a:endParaRPr lang="en-US" sz="1700" dirty="0"/>
          </a:p>
        </p:txBody>
      </p:sp>
      <p:sp>
        <p:nvSpPr>
          <p:cNvPr id="23" name="Text 17"/>
          <p:cNvSpPr/>
          <p:nvPr/>
        </p:nvSpPr>
        <p:spPr>
          <a:xfrm>
            <a:off x="8485632"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sp>
        <p:nvSpPr>
          <p:cNvPr id="24" name="Shape 18"/>
          <p:cNvSpPr/>
          <p:nvPr/>
        </p:nvSpPr>
        <p:spPr>
          <a:xfrm>
            <a:off x="640080" y="4434840"/>
            <a:ext cx="10881360" cy="1600200"/>
          </a:xfrm>
          <a:prstGeom prst="roundRect">
            <a:avLst>
              <a:gd name="adj" fmla="val 4571"/>
            </a:avLst>
          </a:prstGeom>
          <a:solidFill>
            <a:srgbClr val="DCEEEC"/>
          </a:solidFill>
          <a:ln/>
          <a:effectLst>
            <a:outerShdw blurRad="88900" dist="25400" dir="5400000" algn="bl" rotWithShape="0">
              <a:srgbClr val="000000">
                <a:alpha val="12000"/>
              </a:srgbClr>
            </a:outerShdw>
          </a:effectLst>
        </p:spPr>
      </p:sp>
      <p:sp>
        <p:nvSpPr>
          <p:cNvPr id="25" name="Shape 19"/>
          <p:cNvSpPr/>
          <p:nvPr/>
        </p:nvSpPr>
        <p:spPr>
          <a:xfrm>
            <a:off x="960120" y="4892040"/>
            <a:ext cx="685800" cy="685800"/>
          </a:xfrm>
          <a:prstGeom prst="ellipse">
            <a:avLst/>
          </a:prstGeom>
          <a:solidFill>
            <a:srgbClr val="0E8C86"/>
          </a:solidFill>
          <a:ln/>
        </p:spPr>
      </p:sp>
      <p:pic>
        <p:nvPicPr>
          <p:cNvPr id="26" name="Image 4" descr="preencoded.png"/>
          <p:cNvPicPr>
            <a:picLocks noChangeAspect="1"/>
          </p:cNvPicPr>
          <p:nvPr/>
        </p:nvPicPr>
        <p:blipFill>
          <a:blip r:embed="rId7"/>
          <a:stretch>
            <a:fillRect/>
          </a:stretch>
        </p:blipFill>
        <p:spPr>
          <a:xfrm>
            <a:off x="1143000" y="507492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marL="0" indent="0">
              <a:lnSpc>
                <a:spcPts val="1700"/>
              </a:lnSpc>
              <a:buNone/>
            </a:pPr>
            <a:r>
              <a:rPr lang="en-US" sz="1300" dirty="0">
                <a:solidFill>
                  <a:srgbClr val="27455C"/>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 is the same skill this role asks for: partnering with service teams across the council and keeping several work streams moving at once.</a:t>
            </a:r>
            <a:endParaRPr lang="en-US" sz="1300" dirty="0"/>
          </a:p>
        </p:txBody>
      </p:sp>
      <p:sp>
        <p:nvSpPr>
          <p:cNvPr id="29" name="Text 22"/>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17233D"/>
          </a:solidFill>
          <a:ln/>
          <a:effectLst>
            <a:outerShdw blurRad="88900" dist="25400" dir="5400000" algn="bl" rotWithShape="0">
              <a:srgbClr val="000000">
                <a:alpha val="12000"/>
              </a:srgbClr>
            </a:outerShdw>
          </a:effectLst>
        </p:spPr>
      </p:sp>
      <p:sp>
        <p:nvSpPr>
          <p:cNvPr id="7" name="Shape 4"/>
          <p:cNvSpPr/>
          <p:nvPr/>
        </p:nvSpPr>
        <p:spPr>
          <a:xfrm>
            <a:off x="960120" y="1965960"/>
            <a:ext cx="640080" cy="640080"/>
          </a:xfrm>
          <a:prstGeom prst="ellipse">
            <a:avLst/>
          </a:prstGeom>
          <a:solidFill>
            <a:srgbClr val="0E8C86"/>
          </a:solidFill>
          <a:ln/>
        </p:spPr>
      </p:sp>
      <p:pic>
        <p:nvPicPr>
          <p:cNvPr id="8" name="Image 1" descr="preencoded.png"/>
          <p:cNvPicPr>
            <a:picLocks noChangeAspect="1"/>
          </p:cNvPicPr>
          <p:nvPr/>
        </p:nvPicPr>
        <p:blipFill>
          <a:blip r:embed="rId4"/>
          <a:stretch>
            <a:fillRect/>
          </a:stretch>
        </p:blipFill>
        <p:spPr>
          <a:xfrm>
            <a:off x="1124712" y="2130552"/>
            <a:ext cx="310896" cy="310896"/>
          </a:xfrm>
          <a:prstGeom prst="rect">
            <a:avLst/>
          </a:prstGeom>
        </p:spPr>
      </p:pic>
      <p:sp>
        <p:nvSpPr>
          <p:cNvPr id="9" name="Text 5"/>
          <p:cNvSpPr/>
          <p:nvPr/>
        </p:nvSpPr>
        <p:spPr>
          <a:xfrm>
            <a:off x="1783080" y="2084832"/>
            <a:ext cx="3931920" cy="4114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Under the bonnet</a:t>
            </a:r>
            <a:endParaRPr lang="en-US" sz="1800" dirty="0"/>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SQL and Python to clean and join three sources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One shared way of matching up area and time, not separate spreadsheets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Formulas that work out rates and year-on-year change automatically</a:t>
            </a:r>
            <a:endParaRPr lang="en-US" sz="1400" dirty="0"/>
          </a:p>
          <a:p>
            <a:pPr marL="342900" indent="-342900">
              <a:lnSpc>
                <a:spcPts val="1900"/>
              </a:lnSpc>
              <a:buSzPct val="100000"/>
              <a:buChar char="•"/>
            </a:pPr>
            <a:r>
              <a:rPr lang="en-US" sz="1400" dirty="0">
                <a:solidFill>
                  <a:srgbClr val="D5DEEC"/>
                </a:solidFill>
                <a:latin typeface="Calibri" pitchFamily="34" charset="0"/>
                <a:ea typeface="Calibri" pitchFamily="34" charset="-122"/>
                <a:cs typeface="Calibri" pitchFamily="34" charset="-120"/>
              </a:rPr>
              <a:t>Saved and version-tracked on GitHub</a:t>
            </a:r>
            <a:endParaRPr lang="en-US" sz="1400" dirty="0"/>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blurRad="88900" dist="25400" dir="5400000" algn="bl" rotWithShape="0">
              <a:srgbClr val="000000">
                <a:alpha val="12000"/>
              </a:srgbClr>
            </a:outerShdw>
          </a:effectLst>
        </p:spPr>
      </p:sp>
      <p:sp>
        <p:nvSpPr>
          <p:cNvPr id="12" name="Shape 8"/>
          <p:cNvSpPr/>
          <p:nvPr/>
        </p:nvSpPr>
        <p:spPr>
          <a:xfrm>
            <a:off x="6583680" y="1965960"/>
            <a:ext cx="640080" cy="640080"/>
          </a:xfrm>
          <a:prstGeom prst="ellipse">
            <a:avLst/>
          </a:prstGeom>
          <a:solidFill>
            <a:srgbClr val="0E8C86"/>
          </a:solidFill>
          <a:ln/>
        </p:spPr>
      </p:sp>
      <p:pic>
        <p:nvPicPr>
          <p:cNvPr id="13" name="Image 2" descr="preencoded.png"/>
          <p:cNvPicPr>
            <a:picLocks noChangeAspect="1"/>
          </p:cNvPicPr>
          <p:nvPr/>
        </p:nvPicPr>
        <p:blipFill>
          <a:blip r:embed="rId5"/>
          <a:stretch>
            <a:fillRect/>
          </a:stretch>
        </p:blipFill>
        <p:spPr>
          <a:xfrm>
            <a:off x="6748272" y="2130552"/>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marL="0" indent="0">
              <a:buNone/>
            </a:pPr>
            <a:r>
              <a:rPr lang="en-US" sz="1800" b="1" dirty="0">
                <a:solidFill>
                  <a:srgbClr val="17233D"/>
                </a:solidFill>
                <a:latin typeface="Calibri" pitchFamily="34" charset="0"/>
                <a:ea typeface="Calibri" pitchFamily="34" charset="-122"/>
                <a:cs typeface="Calibri" pitchFamily="34" charset="-120"/>
              </a:rPr>
              <a:t>What the reader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Plain-language headlines, no jargon</a:t>
            </a:r>
            <a:endParaRPr lang="en-US" sz="1400" dirty="0"/>
          </a:p>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Clear caveats where the data has limits</a:t>
            </a:r>
            <a:endParaRPr lang="en-US" sz="1400" dirty="0"/>
          </a:p>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Colours chosen to be easy to read, including for colour-blind viewers</a:t>
            </a:r>
            <a:endParaRPr lang="en-US" sz="1400" dirty="0"/>
          </a:p>
          <a:p>
            <a:pPr marL="342900" indent="-342900">
              <a:lnSpc>
                <a:spcPts val="1900"/>
              </a:lnSpc>
              <a:buSzPct val="100000"/>
              <a:buChar char="•"/>
            </a:pPr>
            <a:r>
              <a:rPr lang="en-US" sz="1400" dirty="0">
                <a:solidFill>
                  <a:srgbClr val="1E293B"/>
                </a:solidFill>
                <a:latin typeface="Calibri" pitchFamily="34" charset="0"/>
                <a:ea typeface="Calibri" pitchFamily="34" charset="-122"/>
                <a:cs typeface="Calibri" pitchFamily="34" charset="-120"/>
              </a:rPr>
              <a:t>Filters anyone can use to answer their own question</a:t>
            </a:r>
            <a:endParaRPr lang="en-US" sz="1400" dirty="0"/>
          </a:p>
        </p:txBody>
      </p:sp>
      <p:sp>
        <p:nvSpPr>
          <p:cNvPr id="16" name="Text 1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this fits the role</a:t>
            </a:r>
            <a:endParaRPr lang="en-US" sz="2600" dirty="0"/>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Messy public data</a:t>
            </a:r>
            <a:endParaRPr lang="en-US" sz="1500" dirty="0"/>
          </a:p>
        </p:txBody>
      </p:sp>
      <p:sp>
        <p:nvSpPr>
          <p:cNvPr id="9" name="Text 6"/>
          <p:cNvSpPr/>
          <p:nvPr/>
        </p:nvSpPr>
        <p:spPr>
          <a:xfrm>
            <a:off x="914400"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Spread across different places, just like council data</a:t>
            </a:r>
            <a:endParaRPr lang="en-US" sz="1200" dirty="0"/>
          </a:p>
        </p:txBody>
      </p:sp>
      <p:sp>
        <p:nvSpPr>
          <p:cNvPr id="10" name="Text 7"/>
          <p:cNvSpPr/>
          <p:nvPr/>
        </p:nvSpPr>
        <p:spPr>
          <a:xfrm>
            <a:off x="4123944"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easy dashboard</a:t>
            </a:r>
            <a:endParaRPr lang="en-US" sz="1500" dirty="0"/>
          </a:p>
        </p:txBody>
      </p:sp>
      <p:sp>
        <p:nvSpPr>
          <p:cNvPr id="13" name="Text 10"/>
          <p:cNvSpPr/>
          <p:nvPr/>
        </p:nvSpPr>
        <p:spPr>
          <a:xfrm>
            <a:off x="4690872"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Brought together in one place people can trust</a:t>
            </a:r>
            <a:endParaRPr lang="en-US" sz="1200" dirty="0"/>
          </a:p>
        </p:txBody>
      </p:sp>
      <p:sp>
        <p:nvSpPr>
          <p:cNvPr id="14" name="Text 11"/>
          <p:cNvSpPr/>
          <p:nvPr/>
        </p:nvSpPr>
        <p:spPr>
          <a:xfrm>
            <a:off x="7900416"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Adult Care teams</a:t>
            </a:r>
            <a:endParaRPr lang="en-US" sz="1500" dirty="0"/>
          </a:p>
        </p:txBody>
      </p:sp>
      <p:sp>
        <p:nvSpPr>
          <p:cNvPr id="17" name="Text 14"/>
          <p:cNvSpPr/>
          <p:nvPr/>
        </p:nvSpPr>
        <p:spPr>
          <a:xfrm>
            <a:off x="8467344"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Get answers without waiting on an analyst</a:t>
            </a:r>
            <a:endParaRPr lang="en-US" sz="1200" dirty="0"/>
          </a:p>
        </p:txBody>
      </p:sp>
      <p:sp>
        <p:nvSpPr>
          <p:cNvPr id="18" name="Text 15"/>
          <p:cNvSpPr/>
          <p:nvPr/>
        </p:nvSpPr>
        <p:spPr>
          <a:xfrm>
            <a:off x="640080" y="3200400"/>
            <a:ext cx="10881360" cy="365760"/>
          </a:xfrm>
          <a:prstGeom prst="rect">
            <a:avLst/>
          </a:prstGeom>
          <a:noFill/>
          <a:ln/>
        </p:spPr>
        <p:txBody>
          <a:bodyPr wrap="square" rtlCol="0" anchor="ctr"/>
          <a:lstStyle/>
          <a:p>
            <a:pPr marL="0" indent="0">
              <a:buNone/>
            </a:pPr>
            <a:r>
              <a:rPr lang="en-US" sz="1300" b="1" dirty="0">
                <a:solidFill>
                  <a:srgbClr val="9FD8D4"/>
                </a:solidFill>
                <a:latin typeface="Calibri" pitchFamily="34" charset="0"/>
                <a:ea typeface="Calibri" pitchFamily="34" charset="-122"/>
                <a:cs typeface="Calibri" pitchFamily="34" charset="-120"/>
              </a:rPr>
              <a:t>Power BI and SQL daily  ·  Excel advanced  ·  Python ·  MS Access, quick to pick up</a:t>
            </a:r>
            <a:endParaRPr lang="en-US" sz="1300" dirty="0"/>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marL="0" indent="0">
              <a:lnSpc>
                <a:spcPts val="2200"/>
              </a:lnSpc>
              <a:buNone/>
            </a:pPr>
            <a:r>
              <a:rPr lang="en-US" sz="1600" dirty="0">
                <a:solidFill>
                  <a:srgbClr val="C6D2E4"/>
                </a:solidFill>
                <a:latin typeface="Calibri" pitchFamily="34" charset="0"/>
                <a:ea typeface="Calibri" pitchFamily="34" charset="-122"/>
                <a:cs typeface="Calibri" pitchFamily="34" charset="-120"/>
              </a:rPr>
              <a:t>I took three separate national datasets and turned them into one easy-to-use view of outcomes, demand and care home quality for Adult Care in Lincolnshire. I'd be glad to take any questions.</a:t>
            </a:r>
            <a:endParaRPr lang="en-US" sz="1600" dirty="0"/>
          </a:p>
        </p:txBody>
      </p:sp>
      <p:sp>
        <p:nvSpPr>
          <p:cNvPr id="22" name="Text 19"/>
          <p:cNvSpPr/>
          <p:nvPr/>
        </p:nvSpPr>
        <p:spPr>
          <a:xfrm>
            <a:off x="640080" y="5989320"/>
            <a:ext cx="10058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1117</TotalTime>
  <Words>2290</Words>
  <Application>Microsoft Office PowerPoint</Application>
  <PresentationFormat>Widescreen</PresentationFormat>
  <Paragraphs>138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 Raja</cp:lastModifiedBy>
  <cp:revision>3</cp:revision>
  <dcterms:created xsi:type="dcterms:W3CDTF">2026-07-06T22:41:05Z</dcterms:created>
  <dcterms:modified xsi:type="dcterms:W3CDTF">2026-07-07T18:33:22Z</dcterms:modified>
</cp:coreProperties>
</file>