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(about 20 sec)
Good morning, and thank you for having me. I'm Susairaj. In the next eight minutes I'll walk you through one piece of work: a self-serve Power BI dashboard on Adult Social Care in Lincolnshire, built from three national open datasets. I picked it because it is, in miniature, exactly what this team does.
[Slow down. Breathe. Don't rush the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BRIEF (about 55 sec)
Here's how I framed the brief for myself. Imagine you're a manager in Lincolnshire's Adult Care team. Every so often you need to answer questions like: are we doing a good job helping people recover after a hospital stay, will we have enough care home beds in five years, and which care homes in the county are struggling on quality.
Right now, answering any of those means visiting three different government websites, downloading spreadsheets, and working it out by hand. That's slow, and it means only an analyst can do it.
So this project brings those three answers into one dashboard, so a manager can click a few filters and get the answer themselves, in seconds, without waiting on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DATA &amp; METHOD (about 65 sec)
Think of it like a factory line. Raw data comes in one end, a finished dashboard comes out the other, in three stages.
First, clean. The raw files are messy and don't talk to each other, so Python fixes formats, matches up area names, and fills in gaps.
Second, combine. SQL joins the three cleaned sources so they share the same area names and years, and works out rates and percentages.
Third, display. Power BI turns that combined, clean data into the dashboard you're about to see: charts, a map, filters you can click.
One thing I'd flag early: every source here is public and already totalled up, so no individual is identifiable anywhere in this build. The same care around GDPR and Freedom of Information requests is exactly what I'd carry into the real, person-level data this role handles.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PAGE 1 DEMAND (about 70 sec)
This is the pressure gauge, and every number here is verified against the source files, not estimated. Lincolnshire's 65 and over share is 24.1 percent today, well above the England average of 18.5 and the East Midlands at 19.6. And it isn't standing still: ONS's own projection has that share climbing to 26.7 percent by 2030, alongside a population heading past 815,000.
The so-what is simple. An already older-than-average population that keeps ageing faster than the country as a whole means rising demand for reablement, home care and care-home beds. Everything on the next two pages is read against this.
[This is your strongest, fully-defensible data, pulled directly from ONS. Point at the two charts. Own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PAGE 2 OUTCOMES (about 75 sec)
Page two is outcomes, and this is Lincolnshire's own data next to England's, not just national anchors. And it's a genuinely mixed picture, which I want to be upfront about. On reablement, Lincolnshire is well ahead: 98 percent of people who received reablement needed no further support, against 77 percent for England. On discharge outcomes we're also slightly ahead, 63 percent versus 61, and on safeguarding, just under 94 percent versus 91.
But on two measures we trail. Workforce turnover is 30 percent against England's 24. And admissions to care for working-age adults, 18 to 64, run higher here too. Both are real pressure points, worth naming rather than hiding. Where lower is actually the better result, like admissions and turnover, I've coloured the card red even though the number itself is positive, so the colour always means "needs attention," not just "the number went up."
I'd be upfront about the data too. These are 2024/25 measures from the new client-level dataset, which replaced SALT in April 2024, so they shouldn't be compared to older figures, and self-funders aren't captured.
[Showing weaknesses unprompted is deliberate. The person spec explicitly asks for understanding the limits of data, and a scorecard that's all green looks curated, not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PAGE 3 PROVIDERS (about 55 sec)
Page three is the care market, built from the CQC directory, filtered down to Lincolnshire: 259 rated care homes. 77.2 percent are rated Good or Outstanding, which is a little behind England's ASCOF figure of 81.7 percent, so there's room to improve, and the map shows roughly where.
The value for commissioning is putting this next to page one: an area where ratings are weaker and the older population is growing fastest is where you'd want to act first. That's the kind of question a service lead can answer here in seconds, by filtering the map.
[Have your Power BI map screenshot in place before you send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MANAGING THE WORK (about 60 sec)
This is also a project story. I scoped it around three clear questions, then worked back to the data. I prioritised: shared model and the demand page first, so there was something usable early, then outcomes and providers. And I delivered it end to end, checked against the published figures and documented on GitHub.
It isn't only about data, either. Alongside this I lead a shift team, coordinating people under real time pressure and holding standards. That's the same muscle this role uses: partnering across service teams and keeping several work streams moving at once.
[The spec asks about managing a project, workload and a team. You cover all three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COMMUNICATION (about 50 sec)
The core skill is serving two audiences from one build. Under the bonnet there's real depth: SQL and Python, a modelled schema, DAX for rates per hundred thousand and year-on-year change.
But the reader never has to see any of that. They get plain-language headlines, clear caveats where the data has limits, accessible colour and contrast, and filters so they answer their own questions. The national ASCOF tool openly says it doesn't fully meet accessibility needs, so building mine to a higher standard there was a deliberate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WHY IT FITS + CLOSE (about 35 sec)
So, to bring it together. The pattern is the one you work in every day: fragmented public data, turned into a single self-serve Power BI view, so Adult Care teams can decide without waiting on an analyst. On tools I use Power BI and SQL daily, Excel to an advanced level, Python and R, and I'd pick up MS Access quickly.
From three national datasets to one clear view of outcomes, demand and provider quality for Lincolnshire. Thank you, I'd be glad to take any questions.
[Stop. Smile. Let the silence sit.]
TIMING: about 8 minutes. If long, trim the method detail and one bullet on the communication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3D"/>
        </a:solidFill>
      </p:bgPr>
    </p:bg>
    <p:spTree>
      <p:nvGrpSpPr>
        <p:cNvPr id="1" name=""/>
        <p:cNvGrpSpPr/>
        <p:nvPr/>
      </p:nvGrpSpPr>
      <p:grpSpPr>
        <a:xfrm>
          <a:off x="0" y="0"/>
          <a:ext cx="0" cy="0"/>
          <a:chOff x="0" y="0"/>
          <a:chExt cx="0" cy="0"/>
        </a:xfrm>
      </p:grpSpPr>
      <p:sp>
        <p:nvSpPr>
          <p:cNvPr id="2" name="Shape 0"/>
          <p:cNvSpPr/>
          <p:nvPr/>
        </p:nvSpPr>
        <p:spPr>
          <a:xfrm>
            <a:off x="9784080" y="-1645920"/>
            <a:ext cx="4206240" cy="4206240"/>
          </a:xfrm>
          <a:prstGeom prst="ellipse">
            <a:avLst/>
          </a:prstGeom>
          <a:solidFill>
            <a:srgbClr val="1F3A5F"/>
          </a:solidFill>
          <a:ln/>
        </p:spPr>
      </p:sp>
      <p:sp>
        <p:nvSpPr>
          <p:cNvPr id="3" name="Shape 1"/>
          <p:cNvSpPr/>
          <p:nvPr/>
        </p:nvSpPr>
        <p:spPr>
          <a:xfrm>
            <a:off x="10881360" y="4937760"/>
            <a:ext cx="2926080" cy="2926080"/>
          </a:xfrm>
          <a:prstGeom prst="ellipse">
            <a:avLst/>
          </a:prstGeom>
          <a:solidFill>
            <a:srgbClr val="0A6B66"/>
          </a:solidFill>
          <a:ln/>
        </p:spPr>
      </p:sp>
      <p:sp>
        <p:nvSpPr>
          <p:cNvPr id="4" name="Shape 2"/>
          <p:cNvSpPr/>
          <p:nvPr/>
        </p:nvSpPr>
        <p:spPr>
          <a:xfrm>
            <a:off x="640080" y="1325880"/>
            <a:ext cx="822960" cy="822960"/>
          </a:xfrm>
          <a:prstGeom prst="ellipse">
            <a:avLst/>
          </a:prstGeom>
          <a:solidFill>
            <a:srgbClr val="0E8C86"/>
          </a:solidFill>
          <a:ln/>
        </p:spPr>
      </p:sp>
      <p:pic>
        <p:nvPicPr>
          <p:cNvPr id="5" name="Image 0" descr="preencoded.png">    </p:cNvPr>
          <p:cNvPicPr>
            <a:picLocks noChangeAspect="1"/>
          </p:cNvPicPr>
          <p:nvPr/>
        </p:nvPicPr>
        <p:blipFill>
          <a:blip r:embed="rId1"/>
          <a:stretch>
            <a:fillRect/>
          </a:stretch>
        </p:blipFill>
        <p:spPr>
          <a:xfrm>
            <a:off x="877824" y="1563624"/>
            <a:ext cx="347472" cy="347472"/>
          </a:xfrm>
          <a:prstGeom prst="rect">
            <a:avLst/>
          </a:prstGeom>
        </p:spPr>
      </p:pic>
      <p:sp>
        <p:nvSpPr>
          <p:cNvPr id="6" name="Text 3"/>
          <p:cNvSpPr/>
          <p:nvPr/>
        </p:nvSpPr>
        <p:spPr>
          <a:xfrm>
            <a:off x="640080" y="2423160"/>
            <a:ext cx="10058400" cy="365760"/>
          </a:xfrm>
          <a:prstGeom prst="rect">
            <a:avLst/>
          </a:prstGeom>
          <a:noFill/>
          <a:ln/>
        </p:spPr>
        <p:txBody>
          <a:bodyPr wrap="square" rtlCol="0" anchor="ctr"/>
          <a:lstStyle/>
          <a:p>
            <a:pPr indent="0" marL="0">
              <a:buNone/>
            </a:pPr>
            <a:r>
              <a:rPr lang="en-US" sz="1300" b="1" spc="200" kern="0" dirty="0">
                <a:solidFill>
                  <a:srgbClr val="9FD8D4"/>
                </a:solidFill>
                <a:latin typeface="Calibri" pitchFamily="34" charset="0"/>
                <a:ea typeface="Calibri" pitchFamily="34" charset="-122"/>
                <a:cs typeface="Calibri" pitchFamily="34" charset="-120"/>
              </a:rPr>
              <a:t>PERFORMANCE &amp; INTELLIGENCE OFFICER  |  INTERVIEW PRESENTATION</a:t>
            </a:r>
            <a:endParaRPr lang="en-US" sz="1300" dirty="0"/>
          </a:p>
        </p:txBody>
      </p:sp>
      <p:sp>
        <p:nvSpPr>
          <p:cNvPr id="7" name="Text 4"/>
          <p:cNvSpPr/>
          <p:nvPr/>
        </p:nvSpPr>
        <p:spPr>
          <a:xfrm>
            <a:off x="640080" y="2788920"/>
            <a:ext cx="10607040" cy="1463040"/>
          </a:xfrm>
          <a:prstGeom prst="rect">
            <a:avLst/>
          </a:prstGeom>
          <a:noFill/>
          <a:ln/>
        </p:spPr>
        <p:txBody>
          <a:bodyPr wrap="square" rtlCol="0" anchor="ctr"/>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Adult Social Care in Lincolnshire:</a:t>
            </a:r>
            <a:endParaRPr lang="en-US" sz="3400" dirty="0"/>
          </a:p>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outcomes, demand and provider quality</a:t>
            </a:r>
            <a:endParaRPr lang="en-US" sz="3400" dirty="0"/>
          </a:p>
        </p:txBody>
      </p:sp>
      <p:sp>
        <p:nvSpPr>
          <p:cNvPr id="8" name="Text 5"/>
          <p:cNvSpPr/>
          <p:nvPr/>
        </p:nvSpPr>
        <p:spPr>
          <a:xfrm>
            <a:off x="640080" y="4389120"/>
            <a:ext cx="10058400" cy="457200"/>
          </a:xfrm>
          <a:prstGeom prst="rect">
            <a:avLst/>
          </a:prstGeom>
          <a:noFill/>
          <a:ln/>
        </p:spPr>
        <p:txBody>
          <a:bodyPr wrap="square" rtlCol="0" anchor="ctr"/>
          <a:lstStyle/>
          <a:p>
            <a:pPr indent="0" marL="0">
              <a:buNone/>
            </a:pPr>
            <a:r>
              <a:rPr lang="en-US" sz="1700" dirty="0">
                <a:solidFill>
                  <a:srgbClr val="C6D2E4"/>
                </a:solidFill>
                <a:latin typeface="Calibri" pitchFamily="34" charset="0"/>
                <a:ea typeface="Calibri" pitchFamily="34" charset="-122"/>
                <a:cs typeface="Calibri" pitchFamily="34" charset="-120"/>
              </a:rPr>
              <a:t>Built from national data on care outcomes, population and care home quality</a:t>
            </a:r>
            <a:endParaRPr lang="en-US" sz="1700" dirty="0"/>
          </a:p>
        </p:txBody>
      </p:sp>
      <p:sp>
        <p:nvSpPr>
          <p:cNvPr id="9" name="Shape 6"/>
          <p:cNvSpPr/>
          <p:nvPr/>
        </p:nvSpPr>
        <p:spPr>
          <a:xfrm>
            <a:off x="640080" y="5166360"/>
            <a:ext cx="3840480" cy="0"/>
          </a:xfrm>
          <a:prstGeom prst="line">
            <a:avLst/>
          </a:prstGeom>
          <a:noFill/>
          <a:ln w="19050">
            <a:solidFill>
              <a:srgbClr val="0E8C86"/>
            </a:solidFill>
            <a:prstDash val="solid"/>
          </a:ln>
        </p:spPr>
      </p:sp>
      <p:sp>
        <p:nvSpPr>
          <p:cNvPr id="10" name="Text 7"/>
          <p:cNvSpPr/>
          <p:nvPr/>
        </p:nvSpPr>
        <p:spPr>
          <a:xfrm>
            <a:off x="640080" y="5303520"/>
            <a:ext cx="100584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Susairaj Anthony</a:t>
            </a:r>
            <a:endParaRPr lang="en-US" sz="1600" dirty="0"/>
          </a:p>
          <a:p>
            <a:pPr indent="0" marL="0">
              <a:buNone/>
            </a:pPr>
            <a:r>
              <a:rPr lang="en-US" sz="1250" dirty="0">
                <a:solidFill>
                  <a:srgbClr val="9FB0C9"/>
                </a:solidFill>
                <a:latin typeface="Calibri" pitchFamily="34" charset="0"/>
                <a:ea typeface="Calibri" pitchFamily="34" charset="-122"/>
                <a:cs typeface="Calibri" pitchFamily="34" charset="-120"/>
              </a:rPr>
              <a:t>MSc Data Science (Distinction), University of Hertfordshire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sx="100000" sy="100000" kx="0" ky="0" algn="bl" rotWithShape="0" blurRad="889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indent="0" marL="0">
              <a:buNone/>
            </a:pPr>
            <a:r>
              <a:rPr lang="en-US" sz="1100" b="1" spc="200" kern="0" dirty="0">
                <a:solidFill>
                  <a:srgbClr val="0E8C86"/>
                </a:solidFill>
                <a:latin typeface="Calibri" pitchFamily="34" charset="0"/>
                <a:ea typeface="Calibri" pitchFamily="34" charset="-122"/>
                <a:cs typeface="Calibri" pitchFamily="34" charset="-120"/>
              </a:rPr>
              <a:t>01  CONTEXT</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indent="0" marL="0">
              <a:buNone/>
            </a:pPr>
            <a:r>
              <a:rPr lang="en-US" sz="2500" b="1" dirty="0">
                <a:solidFill>
                  <a:srgbClr val="17233D"/>
                </a:solidFill>
                <a:latin typeface="Cambria" pitchFamily="34" charset="0"/>
                <a:ea typeface="Cambria" pitchFamily="34" charset="-122"/>
                <a:cs typeface="Cambria" pitchFamily="34" charset="-120"/>
              </a:rPr>
              <a:t>The problem, in plain terms</a:t>
            </a:r>
            <a:endParaRPr lang="en-US" sz="2500" dirty="0"/>
          </a:p>
        </p:txBody>
      </p:sp>
      <p:sp>
        <p:nvSpPr>
          <p:cNvPr id="6" name="Shape 3"/>
          <p:cNvSpPr/>
          <p:nvPr/>
        </p:nvSpPr>
        <p:spPr>
          <a:xfrm>
            <a:off x="640080" y="1554480"/>
            <a:ext cx="5486400" cy="4480560"/>
          </a:xfrm>
          <a:prstGeom prst="roundRect">
            <a:avLst>
              <a:gd name="adj" fmla="val 1633"/>
            </a:avLst>
          </a:prstGeom>
          <a:solidFill>
            <a:srgbClr val="F5F8FB"/>
          </a:solidFill>
          <a:ln/>
          <a:effectLst>
            <a:outerShdw sx="100000" sy="100000" kx="0" ky="0" algn="bl" rotWithShape="0" blurRad="88900" dist="25400" dir="5400000">
              <a:srgbClr val="000000">
                <a:alpha val="12000"/>
              </a:srgbClr>
            </a:outerShdw>
          </a:effectLst>
        </p:spPr>
      </p:sp>
      <p:sp>
        <p:nvSpPr>
          <p:cNvPr id="7" name="Text 4"/>
          <p:cNvSpPr/>
          <p:nvPr/>
        </p:nvSpPr>
        <p:spPr>
          <a:xfrm>
            <a:off x="960120" y="1828800"/>
            <a:ext cx="4846320" cy="365760"/>
          </a:xfrm>
          <a:prstGeom prst="rect">
            <a:avLst/>
          </a:prstGeom>
          <a:noFill/>
          <a:ln/>
        </p:spPr>
        <p:txBody>
          <a:bodyPr wrap="square" rtlCol="0" anchor="ctr"/>
          <a:lstStyle/>
          <a:p>
            <a:pPr indent="0" marL="0">
              <a:buNone/>
            </a:pPr>
            <a:r>
              <a:rPr lang="en-US" sz="1600" b="1" dirty="0">
                <a:solidFill>
                  <a:srgbClr val="0E8C86"/>
                </a:solidFill>
                <a:latin typeface="Calibri" pitchFamily="34" charset="0"/>
                <a:ea typeface="Calibri" pitchFamily="34" charset="-122"/>
                <a:cs typeface="Calibri" pitchFamily="34" charset="-120"/>
              </a:rPr>
              <a:t>Imagine a scenario</a:t>
            </a:r>
            <a:endParaRPr lang="en-US" sz="1600" dirty="0"/>
          </a:p>
        </p:txBody>
      </p:sp>
      <p:sp>
        <p:nvSpPr>
          <p:cNvPr id="8" name="Text 5"/>
          <p:cNvSpPr/>
          <p:nvPr/>
        </p:nvSpPr>
        <p:spPr>
          <a:xfrm>
            <a:off x="960120" y="2286000"/>
            <a:ext cx="4892040" cy="3566160"/>
          </a:xfrm>
          <a:prstGeom prst="rect">
            <a:avLst/>
          </a:prstGeom>
          <a:noFill/>
          <a:ln/>
        </p:spPr>
        <p:txBody>
          <a:bodyPr wrap="square" rtlCol="0" anchor="t"/>
          <a:lstStyle/>
          <a:p>
            <a:pPr indent="0" marL="0">
              <a:lnSpc>
                <a:spcPts val="1900"/>
              </a:lnSpc>
              <a:spcAft>
                <a:spcPts val="1000"/>
              </a:spcAft>
              <a:buNone/>
            </a:pPr>
            <a:r>
              <a:rPr lang="en-US" sz="1400" dirty="0">
                <a:solidFill>
                  <a:srgbClr val="1E293B"/>
                </a:solidFill>
                <a:latin typeface="Calibri" pitchFamily="34" charset="0"/>
                <a:ea typeface="Calibri" pitchFamily="34" charset="-122"/>
                <a:cs typeface="Calibri" pitchFamily="34" charset="-120"/>
              </a:rPr>
              <a:t>You're a manager in Lincolnshire's Adult Care team. Every so often you need to answer questions like:</a:t>
            </a:r>
            <a:endParaRPr lang="en-US" sz="1400" dirty="0"/>
          </a:p>
          <a:p>
            <a:pPr indent="0" marL="0">
              <a:lnSpc>
                <a:spcPts val="1900"/>
              </a:lnSpc>
              <a:spcAft>
                <a:spcPts val="600"/>
              </a:spcAft>
              <a:buNone/>
            </a:pPr>
            <a:r>
              <a:rPr lang="en-US" sz="1400" dirty="0">
                <a:solidFill>
                  <a:srgbClr val="1E293B"/>
                </a:solidFill>
                <a:latin typeface="Calibri" pitchFamily="34" charset="0"/>
                <a:ea typeface="Calibri" pitchFamily="34" charset="-122"/>
                <a:cs typeface="Calibri" pitchFamily="34" charset="-120"/>
              </a:rPr>
              <a:t>•  Are we doing a good job helping people recover after a hospital stay?</a:t>
            </a:r>
            <a:endParaRPr lang="en-US" sz="1400" dirty="0"/>
          </a:p>
          <a:p>
            <a:pPr indent="0" marL="0">
              <a:lnSpc>
                <a:spcPts val="1900"/>
              </a:lnSpc>
              <a:spcAft>
                <a:spcPts val="600"/>
              </a:spcAft>
              <a:buNone/>
            </a:pPr>
            <a:r>
              <a:rPr lang="en-US" sz="1400" dirty="0">
                <a:solidFill>
                  <a:srgbClr val="1E293B"/>
                </a:solidFill>
                <a:latin typeface="Calibri" pitchFamily="34" charset="0"/>
                <a:ea typeface="Calibri" pitchFamily="34" charset="-122"/>
                <a:cs typeface="Calibri" pitchFamily="34" charset="-120"/>
              </a:rPr>
              <a:t>•  Will we have enough care home beds in five years?</a:t>
            </a:r>
            <a:endParaRPr lang="en-US" sz="1400" dirty="0"/>
          </a:p>
          <a:p>
            <a:pPr indent="0" marL="0">
              <a:lnSpc>
                <a:spcPts val="1900"/>
              </a:lnSpc>
              <a:spcAft>
                <a:spcPts val="1000"/>
              </a:spcAft>
              <a:buNone/>
            </a:pPr>
            <a:r>
              <a:rPr lang="en-US" sz="1400" dirty="0">
                <a:solidFill>
                  <a:srgbClr val="1E293B"/>
                </a:solidFill>
                <a:latin typeface="Calibri" pitchFamily="34" charset="0"/>
                <a:ea typeface="Calibri" pitchFamily="34" charset="-122"/>
                <a:cs typeface="Calibri" pitchFamily="34" charset="-120"/>
              </a:rPr>
              <a:t>•  Which care homes in the county are struggling on quality?</a:t>
            </a:r>
            <a:endParaRPr lang="en-US" sz="1400" dirty="0"/>
          </a:p>
          <a:p>
            <a:pPr indent="0" marL="0">
              <a:lnSpc>
                <a:spcPts val="1900"/>
              </a:lnSpc>
              <a:buNone/>
            </a:pPr>
            <a:r>
              <a:rPr lang="en-US" sz="1400" dirty="0">
                <a:solidFill>
                  <a:srgbClr val="1E293B"/>
                </a:solidFill>
                <a:latin typeface="Calibri" pitchFamily="34" charset="0"/>
                <a:ea typeface="Calibri" pitchFamily="34" charset="-122"/>
                <a:cs typeface="Calibri" pitchFamily="34" charset="-120"/>
              </a:rPr>
              <a:t>Right now, answering any of those means visiting three different government websites, downloading spreadsheets, and working it out by hand. That's slow, and it means only an analyst can do it.</a:t>
            </a:r>
            <a:endParaRPr lang="en-US" sz="1400" dirty="0"/>
          </a:p>
        </p:txBody>
      </p:sp>
      <p:sp>
        <p:nvSpPr>
          <p:cNvPr id="9" name="Text 6"/>
          <p:cNvSpPr/>
          <p:nvPr/>
        </p:nvSpPr>
        <p:spPr>
          <a:xfrm>
            <a:off x="6537960" y="1600200"/>
            <a:ext cx="4937760" cy="365760"/>
          </a:xfrm>
          <a:prstGeom prst="rect">
            <a:avLst/>
          </a:prstGeom>
          <a:noFill/>
          <a:ln/>
        </p:spPr>
        <p:txBody>
          <a:bodyPr wrap="square" rtlCol="0" anchor="ctr"/>
          <a:lstStyle/>
          <a:p>
            <a:pPr indent="0" marL="0">
              <a:buNone/>
            </a:pPr>
            <a:r>
              <a:rPr lang="en-US" sz="1600" b="1" dirty="0">
                <a:solidFill>
                  <a:srgbClr val="17233D"/>
                </a:solidFill>
                <a:latin typeface="Calibri" pitchFamily="34" charset="0"/>
                <a:ea typeface="Calibri" pitchFamily="34" charset="-122"/>
                <a:cs typeface="Calibri" pitchFamily="34" charset="-120"/>
              </a:rPr>
              <a:t>One dashboard, three answers</a:t>
            </a:r>
            <a:endParaRPr lang="en-US" sz="1600" dirty="0"/>
          </a:p>
        </p:txBody>
      </p:sp>
      <p:sp>
        <p:nvSpPr>
          <p:cNvPr id="10" name="Shape 7"/>
          <p:cNvSpPr/>
          <p:nvPr/>
        </p:nvSpPr>
        <p:spPr>
          <a:xfrm>
            <a:off x="6537960" y="2103120"/>
            <a:ext cx="4983480" cy="1207008"/>
          </a:xfrm>
          <a:prstGeom prst="roundRect">
            <a:avLst>
              <a:gd name="adj" fmla="val 6061"/>
            </a:avLst>
          </a:prstGeom>
          <a:solidFill>
            <a:srgbClr val="FFFFFF"/>
          </a:solidFill>
          <a:ln w="12700">
            <a:solidFill>
              <a:srgbClr val="E2E8F0"/>
            </a:solidFill>
            <a:prstDash val="solid"/>
          </a:ln>
          <a:effectLst>
            <a:outerShdw sx="100000" sy="100000" kx="0" ky="0" algn="bl" rotWithShape="0" blurRad="88900" dist="25400" dir="5400000">
              <a:srgbClr val="000000">
                <a:alpha val="12000"/>
              </a:srgbClr>
            </a:outerShdw>
          </a:effectLst>
        </p:spPr>
      </p:sp>
      <p:sp>
        <p:nvSpPr>
          <p:cNvPr id="11" name="Shape 8"/>
          <p:cNvSpPr/>
          <p:nvPr/>
        </p:nvSpPr>
        <p:spPr>
          <a:xfrm>
            <a:off x="6812280" y="2386584"/>
            <a:ext cx="640080" cy="640080"/>
          </a:xfrm>
          <a:prstGeom prst="ellipse">
            <a:avLst/>
          </a:prstGeom>
          <a:solidFill>
            <a:srgbClr val="0E8C86"/>
          </a:solidFill>
          <a:ln/>
        </p:spPr>
      </p:sp>
      <p:pic>
        <p:nvPicPr>
          <p:cNvPr id="12" name="Image 1" descr="preencoded.png">    </p:cNvPr>
          <p:cNvPicPr>
            <a:picLocks noChangeAspect="1"/>
          </p:cNvPicPr>
          <p:nvPr/>
        </p:nvPicPr>
        <p:blipFill>
          <a:blip r:embed="rId2"/>
          <a:stretch>
            <a:fillRect/>
          </a:stretch>
        </p:blipFill>
        <p:spPr>
          <a:xfrm>
            <a:off x="6995160" y="2569464"/>
            <a:ext cx="274320" cy="274320"/>
          </a:xfrm>
          <a:prstGeom prst="rect">
            <a:avLst/>
          </a:prstGeom>
        </p:spPr>
      </p:pic>
      <p:sp>
        <p:nvSpPr>
          <p:cNvPr id="13" name="Text 9"/>
          <p:cNvSpPr/>
          <p:nvPr/>
        </p:nvSpPr>
        <p:spPr>
          <a:xfrm>
            <a:off x="7635240" y="2249424"/>
            <a:ext cx="3657600" cy="548640"/>
          </a:xfrm>
          <a:prstGeom prst="rect">
            <a:avLst/>
          </a:prstGeom>
          <a:noFill/>
          <a:ln/>
        </p:spPr>
        <p:txBody>
          <a:bodyPr wrap="square" rtlCol="0" anchor="ctr"/>
          <a:lstStyle/>
          <a:p>
            <a:pPr indent="0" marL="0">
              <a:lnSpc>
                <a:spcPts val="1500"/>
              </a:lnSpc>
              <a:buNone/>
            </a:pPr>
            <a:r>
              <a:rPr lang="en-US" sz="1350" b="1" dirty="0">
                <a:solidFill>
                  <a:srgbClr val="17233D"/>
                </a:solidFill>
                <a:latin typeface="Calibri" pitchFamily="34" charset="0"/>
                <a:ea typeface="Calibri" pitchFamily="34" charset="-122"/>
                <a:cs typeface="Calibri" pitchFamily="34" charset="-120"/>
              </a:rPr>
              <a:t>Page 1 — “Is demand going up?”</a:t>
            </a:r>
            <a:endParaRPr lang="en-US" sz="1350" dirty="0"/>
          </a:p>
        </p:txBody>
      </p:sp>
      <p:sp>
        <p:nvSpPr>
          <p:cNvPr id="14" name="Text 10"/>
          <p:cNvSpPr/>
          <p:nvPr/>
        </p:nvSpPr>
        <p:spPr>
          <a:xfrm>
            <a:off x="7635240" y="2761488"/>
            <a:ext cx="3703320" cy="502920"/>
          </a:xfrm>
          <a:prstGeom prst="rect">
            <a:avLst/>
          </a:prstGeom>
          <a:noFill/>
          <a:ln/>
        </p:spPr>
        <p:txBody>
          <a:bodyPr wrap="square" rtlCol="0" anchor="ctr"/>
          <a:lstStyle/>
          <a:p>
            <a:pPr indent="0" marL="0">
              <a:lnSpc>
                <a:spcPts val="1300"/>
              </a:lnSpc>
              <a:buNone/>
            </a:pPr>
            <a:r>
              <a:rPr lang="en-US" sz="1100" dirty="0">
                <a:solidFill>
                  <a:srgbClr val="64748B"/>
                </a:solidFill>
                <a:latin typeface="Calibri" pitchFamily="34" charset="0"/>
                <a:ea typeface="Calibri" pitchFamily="34" charset="-122"/>
                <a:cs typeface="Calibri" pitchFamily="34" charset="-120"/>
              </a:rPr>
              <a:t>Lincolnshire's population, and how much older it's getting.</a:t>
            </a:r>
            <a:endParaRPr lang="en-US" sz="1100" dirty="0"/>
          </a:p>
        </p:txBody>
      </p:sp>
      <p:sp>
        <p:nvSpPr>
          <p:cNvPr id="15" name="Shape 11"/>
          <p:cNvSpPr/>
          <p:nvPr/>
        </p:nvSpPr>
        <p:spPr>
          <a:xfrm>
            <a:off x="6537960" y="3429000"/>
            <a:ext cx="4983480" cy="1207008"/>
          </a:xfrm>
          <a:prstGeom prst="roundRect">
            <a:avLst>
              <a:gd name="adj" fmla="val 6061"/>
            </a:avLst>
          </a:prstGeom>
          <a:solidFill>
            <a:srgbClr val="FFFFFF"/>
          </a:solidFill>
          <a:ln w="12700">
            <a:solidFill>
              <a:srgbClr val="E2E8F0"/>
            </a:solidFill>
            <a:prstDash val="solid"/>
          </a:ln>
          <a:effectLst>
            <a:outerShdw sx="100000" sy="100000" kx="0" ky="0" algn="bl" rotWithShape="0" blurRad="88900" dist="25400" dir="5400000">
              <a:srgbClr val="000000">
                <a:alpha val="12000"/>
              </a:srgbClr>
            </a:outerShdw>
          </a:effectLst>
        </p:spPr>
      </p:sp>
      <p:sp>
        <p:nvSpPr>
          <p:cNvPr id="16" name="Shape 12"/>
          <p:cNvSpPr/>
          <p:nvPr/>
        </p:nvSpPr>
        <p:spPr>
          <a:xfrm>
            <a:off x="6812280" y="3712464"/>
            <a:ext cx="640080" cy="640080"/>
          </a:xfrm>
          <a:prstGeom prst="ellipse">
            <a:avLst/>
          </a:prstGeom>
          <a:solidFill>
            <a:srgbClr val="0E8C86"/>
          </a:solidFill>
          <a:ln/>
        </p:spPr>
      </p:sp>
      <p:pic>
        <p:nvPicPr>
          <p:cNvPr id="17" name="Image 2" descr="preencoded.png">    </p:cNvPr>
          <p:cNvPicPr>
            <a:picLocks noChangeAspect="1"/>
          </p:cNvPicPr>
          <p:nvPr/>
        </p:nvPicPr>
        <p:blipFill>
          <a:blip r:embed="rId3"/>
          <a:stretch>
            <a:fillRect/>
          </a:stretch>
        </p:blipFill>
        <p:spPr>
          <a:xfrm>
            <a:off x="6995160" y="3895344"/>
            <a:ext cx="274320" cy="274320"/>
          </a:xfrm>
          <a:prstGeom prst="rect">
            <a:avLst/>
          </a:prstGeom>
        </p:spPr>
      </p:pic>
      <p:sp>
        <p:nvSpPr>
          <p:cNvPr id="18" name="Text 13"/>
          <p:cNvSpPr/>
          <p:nvPr/>
        </p:nvSpPr>
        <p:spPr>
          <a:xfrm>
            <a:off x="7635240" y="3575304"/>
            <a:ext cx="3657600" cy="548640"/>
          </a:xfrm>
          <a:prstGeom prst="rect">
            <a:avLst/>
          </a:prstGeom>
          <a:noFill/>
          <a:ln/>
        </p:spPr>
        <p:txBody>
          <a:bodyPr wrap="square" rtlCol="0" anchor="ctr"/>
          <a:lstStyle/>
          <a:p>
            <a:pPr indent="0" marL="0">
              <a:lnSpc>
                <a:spcPts val="1500"/>
              </a:lnSpc>
              <a:buNone/>
            </a:pPr>
            <a:r>
              <a:rPr lang="en-US" sz="1350" b="1" dirty="0">
                <a:solidFill>
                  <a:srgbClr val="17233D"/>
                </a:solidFill>
                <a:latin typeface="Calibri" pitchFamily="34" charset="0"/>
                <a:ea typeface="Calibri" pitchFamily="34" charset="-122"/>
                <a:cs typeface="Calibri" pitchFamily="34" charset="-120"/>
              </a:rPr>
              <a:t>Page 2 — “How well are we doing?”</a:t>
            </a:r>
            <a:endParaRPr lang="en-US" sz="1350" dirty="0"/>
          </a:p>
        </p:txBody>
      </p:sp>
      <p:sp>
        <p:nvSpPr>
          <p:cNvPr id="19" name="Text 14"/>
          <p:cNvSpPr/>
          <p:nvPr/>
        </p:nvSpPr>
        <p:spPr>
          <a:xfrm>
            <a:off x="7635240" y="4087368"/>
            <a:ext cx="3703320" cy="502920"/>
          </a:xfrm>
          <a:prstGeom prst="rect">
            <a:avLst/>
          </a:prstGeom>
          <a:noFill/>
          <a:ln/>
        </p:spPr>
        <p:txBody>
          <a:bodyPr wrap="square" rtlCol="0" anchor="ctr"/>
          <a:lstStyle/>
          <a:p>
            <a:pPr indent="0" marL="0">
              <a:lnSpc>
                <a:spcPts val="1300"/>
              </a:lnSpc>
              <a:buNone/>
            </a:pPr>
            <a:r>
              <a:rPr lang="en-US" sz="1100" dirty="0">
                <a:solidFill>
                  <a:srgbClr val="64748B"/>
                </a:solidFill>
                <a:latin typeface="Calibri" pitchFamily="34" charset="0"/>
                <a:ea typeface="Calibri" pitchFamily="34" charset="-122"/>
                <a:cs typeface="Calibri" pitchFamily="34" charset="-120"/>
              </a:rPr>
              <a:t>Real outcomes, compared honestly against England.</a:t>
            </a:r>
            <a:endParaRPr lang="en-US" sz="1100" dirty="0"/>
          </a:p>
        </p:txBody>
      </p:sp>
      <p:sp>
        <p:nvSpPr>
          <p:cNvPr id="20" name="Shape 15"/>
          <p:cNvSpPr/>
          <p:nvPr/>
        </p:nvSpPr>
        <p:spPr>
          <a:xfrm>
            <a:off x="6537960" y="4754880"/>
            <a:ext cx="4983480" cy="1207008"/>
          </a:xfrm>
          <a:prstGeom prst="roundRect">
            <a:avLst>
              <a:gd name="adj" fmla="val 6061"/>
            </a:avLst>
          </a:prstGeom>
          <a:solidFill>
            <a:srgbClr val="FFFFFF"/>
          </a:solidFill>
          <a:ln w="12700">
            <a:solidFill>
              <a:srgbClr val="E2E8F0"/>
            </a:solidFill>
            <a:prstDash val="solid"/>
          </a:ln>
          <a:effectLst>
            <a:outerShdw sx="100000" sy="100000" kx="0" ky="0" algn="bl" rotWithShape="0" blurRad="88900" dist="25400" dir="5400000">
              <a:srgbClr val="000000">
                <a:alpha val="12000"/>
              </a:srgbClr>
            </a:outerShdw>
          </a:effectLst>
        </p:spPr>
      </p:sp>
      <p:sp>
        <p:nvSpPr>
          <p:cNvPr id="21" name="Shape 16"/>
          <p:cNvSpPr/>
          <p:nvPr/>
        </p:nvSpPr>
        <p:spPr>
          <a:xfrm>
            <a:off x="6812280" y="5038344"/>
            <a:ext cx="640080" cy="640080"/>
          </a:xfrm>
          <a:prstGeom prst="ellipse">
            <a:avLst/>
          </a:prstGeom>
          <a:solidFill>
            <a:srgbClr val="0E8C86"/>
          </a:solidFill>
          <a:ln/>
        </p:spPr>
      </p:sp>
      <p:pic>
        <p:nvPicPr>
          <p:cNvPr id="22" name="Image 3" descr="preencoded.png">    </p:cNvPr>
          <p:cNvPicPr>
            <a:picLocks noChangeAspect="1"/>
          </p:cNvPicPr>
          <p:nvPr/>
        </p:nvPicPr>
        <p:blipFill>
          <a:blip r:embed="rId4"/>
          <a:stretch>
            <a:fillRect/>
          </a:stretch>
        </p:blipFill>
        <p:spPr>
          <a:xfrm>
            <a:off x="6995160" y="5221224"/>
            <a:ext cx="274320" cy="274320"/>
          </a:xfrm>
          <a:prstGeom prst="rect">
            <a:avLst/>
          </a:prstGeom>
        </p:spPr>
      </p:pic>
      <p:sp>
        <p:nvSpPr>
          <p:cNvPr id="23" name="Text 17"/>
          <p:cNvSpPr/>
          <p:nvPr/>
        </p:nvSpPr>
        <p:spPr>
          <a:xfrm>
            <a:off x="7635240" y="4901184"/>
            <a:ext cx="3657600" cy="548640"/>
          </a:xfrm>
          <a:prstGeom prst="rect">
            <a:avLst/>
          </a:prstGeom>
          <a:noFill/>
          <a:ln/>
        </p:spPr>
        <p:txBody>
          <a:bodyPr wrap="square" rtlCol="0" anchor="ctr"/>
          <a:lstStyle/>
          <a:p>
            <a:pPr indent="0" marL="0">
              <a:lnSpc>
                <a:spcPts val="1500"/>
              </a:lnSpc>
              <a:buNone/>
            </a:pPr>
            <a:r>
              <a:rPr lang="en-US" sz="1350" b="1" dirty="0">
                <a:solidFill>
                  <a:srgbClr val="17233D"/>
                </a:solidFill>
                <a:latin typeface="Calibri" pitchFamily="34" charset="0"/>
                <a:ea typeface="Calibri" pitchFamily="34" charset="-122"/>
                <a:cs typeface="Calibri" pitchFamily="34" charset="-120"/>
              </a:rPr>
              <a:t>Page 3 — “Is the care market healthy?”</a:t>
            </a:r>
            <a:endParaRPr lang="en-US" sz="1350" dirty="0"/>
          </a:p>
        </p:txBody>
      </p:sp>
      <p:sp>
        <p:nvSpPr>
          <p:cNvPr id="24" name="Text 18"/>
          <p:cNvSpPr/>
          <p:nvPr/>
        </p:nvSpPr>
        <p:spPr>
          <a:xfrm>
            <a:off x="7635240" y="5413248"/>
            <a:ext cx="3703320" cy="502920"/>
          </a:xfrm>
          <a:prstGeom prst="rect">
            <a:avLst/>
          </a:prstGeom>
          <a:noFill/>
          <a:ln/>
        </p:spPr>
        <p:txBody>
          <a:bodyPr wrap="square" rtlCol="0" anchor="ctr"/>
          <a:lstStyle/>
          <a:p>
            <a:pPr indent="0" marL="0">
              <a:lnSpc>
                <a:spcPts val="1300"/>
              </a:lnSpc>
              <a:buNone/>
            </a:pPr>
            <a:r>
              <a:rPr lang="en-US" sz="1100" dirty="0">
                <a:solidFill>
                  <a:srgbClr val="64748B"/>
                </a:solidFill>
                <a:latin typeface="Calibri" pitchFamily="34" charset="0"/>
                <a:ea typeface="Calibri" pitchFamily="34" charset="-122"/>
                <a:cs typeface="Calibri" pitchFamily="34" charset="-120"/>
              </a:rPr>
              <a:t>Every care home in the county, mapped by quality.</a:t>
            </a:r>
            <a:endParaRPr lang="en-US" sz="1100" dirty="0"/>
          </a:p>
        </p:txBody>
      </p:sp>
      <p:sp>
        <p:nvSpPr>
          <p:cNvPr id="25" name="Text 19"/>
          <p:cNvSpPr/>
          <p:nvPr/>
        </p:nvSpPr>
        <p:spPr>
          <a:xfrm>
            <a:off x="11155680" y="6400800"/>
            <a:ext cx="5486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02</a:t>
            </a:r>
            <a:endParaRPr lang="en-US" sz="1000" dirty="0"/>
          </a:p>
        </p:txBody>
      </p:sp>
      <p:sp>
        <p:nvSpPr>
          <p:cNvPr id="26" name="Text 20"/>
          <p:cNvSpPr/>
          <p:nvPr/>
        </p:nvSpPr>
        <p:spPr>
          <a:xfrm>
            <a:off x="640080" y="6400800"/>
            <a:ext cx="64008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sx="100000" sy="100000" kx="0" ky="0" algn="bl" rotWithShape="0" blurRad="889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indent="0" marL="0">
              <a:buNone/>
            </a:pPr>
            <a:r>
              <a:rPr lang="en-US" sz="1100" b="1" spc="200" kern="0" dirty="0">
                <a:solidFill>
                  <a:srgbClr val="0E8C86"/>
                </a:solidFill>
                <a:latin typeface="Calibri" pitchFamily="34" charset="0"/>
                <a:ea typeface="Calibri" pitchFamily="34" charset="-122"/>
                <a:cs typeface="Calibri" pitchFamily="34" charset="-120"/>
              </a:rPr>
              <a:t>02  HOW IT WORKS</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indent="0" marL="0">
              <a:buNone/>
            </a:pPr>
            <a:r>
              <a:rPr lang="en-US" sz="2500" b="1" dirty="0">
                <a:solidFill>
                  <a:srgbClr val="17233D"/>
                </a:solidFill>
                <a:latin typeface="Cambria" pitchFamily="34" charset="0"/>
                <a:ea typeface="Cambria" pitchFamily="34" charset="-122"/>
                <a:cs typeface="Cambria" pitchFamily="34" charset="-120"/>
              </a:rPr>
              <a:t>Three messy sources, one clean answer</a:t>
            </a:r>
            <a:endParaRPr lang="en-US" sz="2500" dirty="0"/>
          </a:p>
        </p:txBody>
      </p:sp>
      <p:sp>
        <p:nvSpPr>
          <p:cNvPr id="6" name="Text 3"/>
          <p:cNvSpPr/>
          <p:nvPr/>
        </p:nvSpPr>
        <p:spPr>
          <a:xfrm>
            <a:off x="640080" y="1481328"/>
            <a:ext cx="10881360" cy="365760"/>
          </a:xfrm>
          <a:prstGeom prst="rect">
            <a:avLst/>
          </a:prstGeom>
          <a:noFill/>
          <a:ln/>
        </p:spPr>
        <p:txBody>
          <a:bodyPr wrap="square"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Think of it like a factory line. Raw data comes in one end, a finished dashboard comes out the other.</a:t>
            </a:r>
            <a:endParaRPr lang="en-US" sz="1350" dirty="0"/>
          </a:p>
        </p:txBody>
      </p:sp>
      <p:sp>
        <p:nvSpPr>
          <p:cNvPr id="7" name="Shape 4"/>
          <p:cNvSpPr/>
          <p:nvPr/>
        </p:nvSpPr>
        <p:spPr>
          <a:xfrm>
            <a:off x="640080" y="1965960"/>
            <a:ext cx="3502152" cy="1234440"/>
          </a:xfrm>
          <a:prstGeom prst="roundRect">
            <a:avLst>
              <a:gd name="adj" fmla="val 5926"/>
            </a:avLst>
          </a:prstGeom>
          <a:solidFill>
            <a:srgbClr val="F5F8FB"/>
          </a:solidFill>
          <a:ln/>
          <a:effectLst>
            <a:outerShdw sx="100000" sy="100000" kx="0" ky="0" algn="bl" rotWithShape="0" blurRad="88900" dist="25400" dir="5400000">
              <a:srgbClr val="000000">
                <a:alpha val="12000"/>
              </a:srgbClr>
            </a:outerShdw>
          </a:effectLst>
        </p:spPr>
      </p:sp>
      <p:sp>
        <p:nvSpPr>
          <p:cNvPr id="8" name="Text 5"/>
          <p:cNvSpPr/>
          <p:nvPr/>
        </p:nvSpPr>
        <p:spPr>
          <a:xfrm>
            <a:off x="914400" y="2112264"/>
            <a:ext cx="2953512" cy="365760"/>
          </a:xfrm>
          <a:prstGeom prst="rect">
            <a:avLst/>
          </a:prstGeom>
          <a:noFill/>
          <a:ln/>
        </p:spPr>
        <p:txBody>
          <a:bodyPr wrap="square" rtlCol="0" anchor="ctr"/>
          <a:lstStyle/>
          <a:p>
            <a:pPr indent="0" marL="0">
              <a:buNone/>
            </a:pPr>
            <a:r>
              <a:rPr lang="en-US" sz="1900" b="1" dirty="0">
                <a:solidFill>
                  <a:srgbClr val="0A6B66"/>
                </a:solidFill>
                <a:latin typeface="Cambria" pitchFamily="34" charset="0"/>
                <a:ea typeface="Cambria" pitchFamily="34" charset="-122"/>
                <a:cs typeface="Cambria" pitchFamily="34" charset="-120"/>
              </a:rPr>
              <a:t>ASCOF</a:t>
            </a:r>
            <a:endParaRPr lang="en-US" sz="1900" dirty="0"/>
          </a:p>
        </p:txBody>
      </p:sp>
      <p:sp>
        <p:nvSpPr>
          <p:cNvPr id="9" name="Text 6"/>
          <p:cNvSpPr/>
          <p:nvPr/>
        </p:nvSpPr>
        <p:spPr>
          <a:xfrm>
            <a:off x="914400" y="2468880"/>
            <a:ext cx="3044952" cy="256032"/>
          </a:xfrm>
          <a:prstGeom prst="rect">
            <a:avLst/>
          </a:prstGeom>
          <a:noFill/>
          <a:ln/>
        </p:spPr>
        <p:txBody>
          <a:bodyPr wrap="square" rtlCol="0" anchor="ctr"/>
          <a:lstStyle/>
          <a:p>
            <a:pPr indent="0" marL="0">
              <a:buNone/>
            </a:pPr>
            <a:r>
              <a:rPr lang="en-US" sz="1050" b="1" dirty="0">
                <a:solidFill>
                  <a:srgbClr val="64748B"/>
                </a:solidFill>
                <a:latin typeface="Calibri" pitchFamily="34" charset="0"/>
                <a:ea typeface="Calibri" pitchFamily="34" charset="-122"/>
                <a:cs typeface="Calibri" pitchFamily="34" charset="-120"/>
              </a:rPr>
              <a:t>DHSC / NHS England</a:t>
            </a:r>
            <a:endParaRPr lang="en-US" sz="1050" dirty="0"/>
          </a:p>
        </p:txBody>
      </p:sp>
      <p:sp>
        <p:nvSpPr>
          <p:cNvPr id="10" name="Text 7"/>
          <p:cNvSpPr/>
          <p:nvPr/>
        </p:nvSpPr>
        <p:spPr>
          <a:xfrm>
            <a:off x="914400" y="2715768"/>
            <a:ext cx="3044952" cy="457200"/>
          </a:xfrm>
          <a:prstGeom prst="rect">
            <a:avLst/>
          </a:prstGeom>
          <a:noFill/>
          <a:ln/>
        </p:spPr>
        <p:txBody>
          <a:bodyPr wrap="square" rtlCol="0" anchor="ctr"/>
          <a:lstStyle/>
          <a:p>
            <a:pPr indent="0" marL="0">
              <a:lnSpc>
                <a:spcPts val="1350"/>
              </a:lnSpc>
              <a:buNone/>
            </a:pPr>
            <a:r>
              <a:rPr lang="en-US" sz="1100" dirty="0">
                <a:solidFill>
                  <a:srgbClr val="64748B"/>
                </a:solidFill>
                <a:latin typeface="Calibri" pitchFamily="34" charset="0"/>
                <a:ea typeface="Calibri" pitchFamily="34" charset="-122"/>
                <a:cs typeface="Calibri" pitchFamily="34" charset="-120"/>
              </a:rPr>
              <a:t>Outcomes at council, region and England level</a:t>
            </a:r>
            <a:endParaRPr lang="en-US" sz="1100" dirty="0"/>
          </a:p>
        </p:txBody>
      </p:sp>
      <p:sp>
        <p:nvSpPr>
          <p:cNvPr id="11" name="Shape 8"/>
          <p:cNvSpPr/>
          <p:nvPr/>
        </p:nvSpPr>
        <p:spPr>
          <a:xfrm>
            <a:off x="4416552" y="1965960"/>
            <a:ext cx="3502152" cy="1234440"/>
          </a:xfrm>
          <a:prstGeom prst="roundRect">
            <a:avLst>
              <a:gd name="adj" fmla="val 5926"/>
            </a:avLst>
          </a:prstGeom>
          <a:solidFill>
            <a:srgbClr val="F5F8FB"/>
          </a:solidFill>
          <a:ln/>
          <a:effectLst>
            <a:outerShdw sx="100000" sy="100000" kx="0" ky="0" algn="bl" rotWithShape="0" blurRad="88900" dist="25400" dir="5400000">
              <a:srgbClr val="000000">
                <a:alpha val="12000"/>
              </a:srgbClr>
            </a:outerShdw>
          </a:effectLst>
        </p:spPr>
      </p:sp>
      <p:sp>
        <p:nvSpPr>
          <p:cNvPr id="12" name="Text 9"/>
          <p:cNvSpPr/>
          <p:nvPr/>
        </p:nvSpPr>
        <p:spPr>
          <a:xfrm>
            <a:off x="4690872" y="2112264"/>
            <a:ext cx="2953512" cy="365760"/>
          </a:xfrm>
          <a:prstGeom prst="rect">
            <a:avLst/>
          </a:prstGeom>
          <a:noFill/>
          <a:ln/>
        </p:spPr>
        <p:txBody>
          <a:bodyPr wrap="square" rtlCol="0" anchor="ctr"/>
          <a:lstStyle/>
          <a:p>
            <a:pPr indent="0" marL="0">
              <a:buNone/>
            </a:pPr>
            <a:r>
              <a:rPr lang="en-US" sz="1900" b="1" dirty="0">
                <a:solidFill>
                  <a:srgbClr val="0A6B66"/>
                </a:solidFill>
                <a:latin typeface="Cambria" pitchFamily="34" charset="0"/>
                <a:ea typeface="Cambria" pitchFamily="34" charset="-122"/>
                <a:cs typeface="Cambria" pitchFamily="34" charset="-120"/>
              </a:rPr>
              <a:t>ONS</a:t>
            </a:r>
            <a:endParaRPr lang="en-US" sz="1900" dirty="0"/>
          </a:p>
        </p:txBody>
      </p:sp>
      <p:sp>
        <p:nvSpPr>
          <p:cNvPr id="13" name="Text 10"/>
          <p:cNvSpPr/>
          <p:nvPr/>
        </p:nvSpPr>
        <p:spPr>
          <a:xfrm>
            <a:off x="4690872" y="2468880"/>
            <a:ext cx="3044952" cy="256032"/>
          </a:xfrm>
          <a:prstGeom prst="rect">
            <a:avLst/>
          </a:prstGeom>
          <a:noFill/>
          <a:ln/>
        </p:spPr>
        <p:txBody>
          <a:bodyPr wrap="square" rtlCol="0" anchor="ctr"/>
          <a:lstStyle/>
          <a:p>
            <a:pPr indent="0" marL="0">
              <a:buNone/>
            </a:pPr>
            <a:r>
              <a:rPr lang="en-US" sz="1050" b="1" dirty="0">
                <a:solidFill>
                  <a:srgbClr val="64748B"/>
                </a:solidFill>
                <a:latin typeface="Calibri" pitchFamily="34" charset="0"/>
                <a:ea typeface="Calibri" pitchFamily="34" charset="-122"/>
                <a:cs typeface="Calibri" pitchFamily="34" charset="-120"/>
              </a:rPr>
              <a:t>Population &amp; projections</a:t>
            </a:r>
            <a:endParaRPr lang="en-US" sz="1050" dirty="0"/>
          </a:p>
        </p:txBody>
      </p:sp>
      <p:sp>
        <p:nvSpPr>
          <p:cNvPr id="14" name="Text 11"/>
          <p:cNvSpPr/>
          <p:nvPr/>
        </p:nvSpPr>
        <p:spPr>
          <a:xfrm>
            <a:off x="4690872" y="2715768"/>
            <a:ext cx="3044952" cy="457200"/>
          </a:xfrm>
          <a:prstGeom prst="rect">
            <a:avLst/>
          </a:prstGeom>
          <a:noFill/>
          <a:ln/>
        </p:spPr>
        <p:txBody>
          <a:bodyPr wrap="square" rtlCol="0" anchor="ctr"/>
          <a:lstStyle/>
          <a:p>
            <a:pPr indent="0" marL="0">
              <a:lnSpc>
                <a:spcPts val="1350"/>
              </a:lnSpc>
              <a:buNone/>
            </a:pPr>
            <a:r>
              <a:rPr lang="en-US" sz="1100" dirty="0">
                <a:solidFill>
                  <a:srgbClr val="64748B"/>
                </a:solidFill>
                <a:latin typeface="Calibri" pitchFamily="34" charset="0"/>
                <a:ea typeface="Calibri" pitchFamily="34" charset="-122"/>
                <a:cs typeface="Calibri" pitchFamily="34" charset="-120"/>
              </a:rPr>
              <a:t>Demand: the ageing population, by area and year</a:t>
            </a:r>
            <a:endParaRPr lang="en-US" sz="1100" dirty="0"/>
          </a:p>
        </p:txBody>
      </p:sp>
      <p:sp>
        <p:nvSpPr>
          <p:cNvPr id="15" name="Shape 12"/>
          <p:cNvSpPr/>
          <p:nvPr/>
        </p:nvSpPr>
        <p:spPr>
          <a:xfrm>
            <a:off x="8193024" y="1965960"/>
            <a:ext cx="3502152" cy="1234440"/>
          </a:xfrm>
          <a:prstGeom prst="roundRect">
            <a:avLst>
              <a:gd name="adj" fmla="val 5926"/>
            </a:avLst>
          </a:prstGeom>
          <a:solidFill>
            <a:srgbClr val="F5F8FB"/>
          </a:solidFill>
          <a:ln/>
          <a:effectLst>
            <a:outerShdw sx="100000" sy="100000" kx="0" ky="0" algn="bl" rotWithShape="0" blurRad="88900" dist="25400" dir="5400000">
              <a:srgbClr val="000000">
                <a:alpha val="12000"/>
              </a:srgbClr>
            </a:outerShdw>
          </a:effectLst>
        </p:spPr>
      </p:sp>
      <p:sp>
        <p:nvSpPr>
          <p:cNvPr id="16" name="Text 13"/>
          <p:cNvSpPr/>
          <p:nvPr/>
        </p:nvSpPr>
        <p:spPr>
          <a:xfrm>
            <a:off x="8467344" y="2112264"/>
            <a:ext cx="2953512" cy="365760"/>
          </a:xfrm>
          <a:prstGeom prst="rect">
            <a:avLst/>
          </a:prstGeom>
          <a:noFill/>
          <a:ln/>
        </p:spPr>
        <p:txBody>
          <a:bodyPr wrap="square" rtlCol="0" anchor="ctr"/>
          <a:lstStyle/>
          <a:p>
            <a:pPr indent="0" marL="0">
              <a:buNone/>
            </a:pPr>
            <a:r>
              <a:rPr lang="en-US" sz="1900" b="1" dirty="0">
                <a:solidFill>
                  <a:srgbClr val="0A6B66"/>
                </a:solidFill>
                <a:latin typeface="Cambria" pitchFamily="34" charset="0"/>
                <a:ea typeface="Cambria" pitchFamily="34" charset="-122"/>
                <a:cs typeface="Cambria" pitchFamily="34" charset="-120"/>
              </a:rPr>
              <a:t>CQC</a:t>
            </a:r>
            <a:endParaRPr lang="en-US" sz="1900" dirty="0"/>
          </a:p>
        </p:txBody>
      </p:sp>
      <p:sp>
        <p:nvSpPr>
          <p:cNvPr id="17" name="Text 14"/>
          <p:cNvSpPr/>
          <p:nvPr/>
        </p:nvSpPr>
        <p:spPr>
          <a:xfrm>
            <a:off x="8467344" y="2468880"/>
            <a:ext cx="3044952" cy="256032"/>
          </a:xfrm>
          <a:prstGeom prst="rect">
            <a:avLst/>
          </a:prstGeom>
          <a:noFill/>
          <a:ln/>
        </p:spPr>
        <p:txBody>
          <a:bodyPr wrap="square" rtlCol="0" anchor="ctr"/>
          <a:lstStyle/>
          <a:p>
            <a:pPr indent="0" marL="0">
              <a:buNone/>
            </a:pPr>
            <a:r>
              <a:rPr lang="en-US" sz="1050" b="1" dirty="0">
                <a:solidFill>
                  <a:srgbClr val="64748B"/>
                </a:solidFill>
                <a:latin typeface="Calibri" pitchFamily="34" charset="0"/>
                <a:ea typeface="Calibri" pitchFamily="34" charset="-122"/>
                <a:cs typeface="Calibri" pitchFamily="34" charset="-120"/>
              </a:rPr>
              <a:t>Care directory &amp; ratings</a:t>
            </a:r>
            <a:endParaRPr lang="en-US" sz="1050" dirty="0"/>
          </a:p>
        </p:txBody>
      </p:sp>
      <p:sp>
        <p:nvSpPr>
          <p:cNvPr id="18" name="Text 15"/>
          <p:cNvSpPr/>
          <p:nvPr/>
        </p:nvSpPr>
        <p:spPr>
          <a:xfrm>
            <a:off x="8467344" y="2715768"/>
            <a:ext cx="3044952" cy="457200"/>
          </a:xfrm>
          <a:prstGeom prst="rect">
            <a:avLst/>
          </a:prstGeom>
          <a:noFill/>
          <a:ln/>
        </p:spPr>
        <p:txBody>
          <a:bodyPr wrap="square" rtlCol="0" anchor="ctr"/>
          <a:lstStyle/>
          <a:p>
            <a:pPr indent="0" marL="0">
              <a:lnSpc>
                <a:spcPts val="1350"/>
              </a:lnSpc>
              <a:buNone/>
            </a:pPr>
            <a:r>
              <a:rPr lang="en-US" sz="1100" dirty="0">
                <a:solidFill>
                  <a:srgbClr val="64748B"/>
                </a:solidFill>
                <a:latin typeface="Calibri" pitchFamily="34" charset="0"/>
                <a:ea typeface="Calibri" pitchFamily="34" charset="-122"/>
                <a:cs typeface="Calibri" pitchFamily="34" charset="-120"/>
              </a:rPr>
              <a:t>Provider quality across the county</a:t>
            </a:r>
            <a:endParaRPr lang="en-US" sz="1100" dirty="0"/>
          </a:p>
        </p:txBody>
      </p:sp>
      <p:sp>
        <p:nvSpPr>
          <p:cNvPr id="19" name="Text 16"/>
          <p:cNvSpPr/>
          <p:nvPr/>
        </p:nvSpPr>
        <p:spPr>
          <a:xfrm>
            <a:off x="640080" y="3383280"/>
            <a:ext cx="7315200" cy="365760"/>
          </a:xfrm>
          <a:prstGeom prst="rect">
            <a:avLst/>
          </a:prstGeom>
          <a:noFill/>
          <a:ln/>
        </p:spPr>
        <p:txBody>
          <a:bodyPr wrap="square" rtlCol="0" anchor="ctr"/>
          <a:lstStyle/>
          <a:p>
            <a:pPr indent="0" marL="0">
              <a:buNone/>
            </a:pPr>
            <a:r>
              <a:rPr lang="en-US" sz="1600" b="1" dirty="0">
                <a:solidFill>
                  <a:srgbClr val="17233D"/>
                </a:solidFill>
                <a:latin typeface="Calibri" pitchFamily="34" charset="0"/>
                <a:ea typeface="Calibri" pitchFamily="34" charset="-122"/>
                <a:cs typeface="Calibri" pitchFamily="34" charset="-120"/>
              </a:rPr>
              <a:t>Three stages, three tools</a:t>
            </a:r>
            <a:endParaRPr lang="en-US" sz="1600" dirty="0"/>
          </a:p>
        </p:txBody>
      </p:sp>
      <p:sp>
        <p:nvSpPr>
          <p:cNvPr id="20" name="Shape 17"/>
          <p:cNvSpPr/>
          <p:nvPr/>
        </p:nvSpPr>
        <p:spPr>
          <a:xfrm>
            <a:off x="640080" y="3794760"/>
            <a:ext cx="3502152"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88900" dist="25400" dir="5400000">
              <a:srgbClr val="000000">
                <a:alpha val="12000"/>
              </a:srgbClr>
            </a:outerShdw>
          </a:effectLst>
        </p:spPr>
      </p:sp>
      <p:sp>
        <p:nvSpPr>
          <p:cNvPr id="21" name="Shape 18"/>
          <p:cNvSpPr/>
          <p:nvPr/>
        </p:nvSpPr>
        <p:spPr>
          <a:xfrm>
            <a:off x="896112" y="4014216"/>
            <a:ext cx="566928" cy="566928"/>
          </a:xfrm>
          <a:prstGeom prst="ellipse">
            <a:avLst/>
          </a:prstGeom>
          <a:solidFill>
            <a:srgbClr val="0E8C86"/>
          </a:solidFill>
          <a:ln/>
        </p:spPr>
      </p:sp>
      <p:pic>
        <p:nvPicPr>
          <p:cNvPr id="22" name="Image 1" descr="preencoded.png">    </p:cNvPr>
          <p:cNvPicPr>
            <a:picLocks noChangeAspect="1"/>
          </p:cNvPicPr>
          <p:nvPr/>
        </p:nvPicPr>
        <p:blipFill>
          <a:blip r:embed="rId2"/>
          <a:stretch>
            <a:fillRect/>
          </a:stretch>
        </p:blipFill>
        <p:spPr>
          <a:xfrm>
            <a:off x="1042416" y="4160520"/>
            <a:ext cx="274320" cy="274320"/>
          </a:xfrm>
          <a:prstGeom prst="rect">
            <a:avLst/>
          </a:prstGeom>
        </p:spPr>
      </p:pic>
      <p:sp>
        <p:nvSpPr>
          <p:cNvPr id="23" name="Text 19"/>
          <p:cNvSpPr/>
          <p:nvPr/>
        </p:nvSpPr>
        <p:spPr>
          <a:xfrm>
            <a:off x="1600200" y="4087368"/>
            <a:ext cx="2359152" cy="457200"/>
          </a:xfrm>
          <a:prstGeom prst="rect">
            <a:avLst/>
          </a:prstGeom>
          <a:noFill/>
          <a:ln/>
        </p:spPr>
        <p:txBody>
          <a:bodyPr wrap="square" rtlCol="0" anchor="ctr"/>
          <a:lstStyle/>
          <a:p>
            <a:pPr indent="0" marL="0">
              <a:lnSpc>
                <a:spcPts val="1500"/>
              </a:lnSpc>
              <a:buNone/>
            </a:pPr>
            <a:r>
              <a:rPr lang="en-US" sz="1350" b="1" dirty="0">
                <a:solidFill>
                  <a:srgbClr val="17233D"/>
                </a:solidFill>
                <a:latin typeface="Calibri" pitchFamily="34" charset="0"/>
                <a:ea typeface="Calibri" pitchFamily="34" charset="-122"/>
                <a:cs typeface="Calibri" pitchFamily="34" charset="-120"/>
              </a:rPr>
              <a:t>1. Clean  —  Python</a:t>
            </a:r>
            <a:endParaRPr lang="en-US" sz="1350" dirty="0"/>
          </a:p>
        </p:txBody>
      </p:sp>
      <p:sp>
        <p:nvSpPr>
          <p:cNvPr id="24" name="Text 20"/>
          <p:cNvSpPr/>
          <p:nvPr/>
        </p:nvSpPr>
        <p:spPr>
          <a:xfrm>
            <a:off x="896112" y="4690872"/>
            <a:ext cx="2999232" cy="640080"/>
          </a:xfrm>
          <a:prstGeom prst="rect">
            <a:avLst/>
          </a:prstGeom>
          <a:noFill/>
          <a:ln/>
        </p:spPr>
        <p:txBody>
          <a:bodyPr wrap="square" rtlCol="0" anchor="ctr"/>
          <a:lstStyle/>
          <a:p>
            <a:pPr indent="0" marL="0">
              <a:lnSpc>
                <a:spcPts val="1250"/>
              </a:lnSpc>
              <a:buNone/>
            </a:pPr>
            <a:r>
              <a:rPr lang="en-US" sz="1050" dirty="0">
                <a:solidFill>
                  <a:srgbClr val="64748B"/>
                </a:solidFill>
                <a:latin typeface="Calibri" pitchFamily="34" charset="0"/>
                <a:ea typeface="Calibri" pitchFamily="34" charset="-122"/>
                <a:cs typeface="Calibri" pitchFamily="34" charset="-120"/>
              </a:rPr>
              <a:t>The raw files are messy and don't talk to each other. Python fixes formats, matches up area names, fills in gaps.</a:t>
            </a:r>
            <a:endParaRPr lang="en-US" sz="1050" dirty="0"/>
          </a:p>
        </p:txBody>
      </p:sp>
      <p:pic>
        <p:nvPicPr>
          <p:cNvPr id="25" name="Image 2" descr="preencoded.png">    </p:cNvPr>
          <p:cNvPicPr>
            <a:picLocks noChangeAspect="1"/>
          </p:cNvPicPr>
          <p:nvPr/>
        </p:nvPicPr>
        <p:blipFill>
          <a:blip r:embed="rId3"/>
          <a:stretch>
            <a:fillRect/>
          </a:stretch>
        </p:blipFill>
        <p:spPr>
          <a:xfrm>
            <a:off x="4169664" y="4453128"/>
            <a:ext cx="237744" cy="237744"/>
          </a:xfrm>
          <a:prstGeom prst="rect">
            <a:avLst/>
          </a:prstGeom>
        </p:spPr>
      </p:pic>
      <p:sp>
        <p:nvSpPr>
          <p:cNvPr id="26" name="Shape 21"/>
          <p:cNvSpPr/>
          <p:nvPr/>
        </p:nvSpPr>
        <p:spPr>
          <a:xfrm>
            <a:off x="4416552" y="3794760"/>
            <a:ext cx="3502152"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88900" dist="25400" dir="5400000">
              <a:srgbClr val="000000">
                <a:alpha val="12000"/>
              </a:srgbClr>
            </a:outerShdw>
          </a:effectLst>
        </p:spPr>
      </p:sp>
      <p:sp>
        <p:nvSpPr>
          <p:cNvPr id="27" name="Shape 22"/>
          <p:cNvSpPr/>
          <p:nvPr/>
        </p:nvSpPr>
        <p:spPr>
          <a:xfrm>
            <a:off x="4672584" y="4014216"/>
            <a:ext cx="566928" cy="566928"/>
          </a:xfrm>
          <a:prstGeom prst="ellipse">
            <a:avLst/>
          </a:prstGeom>
          <a:solidFill>
            <a:srgbClr val="0E8C86"/>
          </a:solidFill>
          <a:ln/>
        </p:spPr>
      </p:sp>
      <p:pic>
        <p:nvPicPr>
          <p:cNvPr id="28" name="Image 3" descr="preencoded.png">    </p:cNvPr>
          <p:cNvPicPr>
            <a:picLocks noChangeAspect="1"/>
          </p:cNvPicPr>
          <p:nvPr/>
        </p:nvPicPr>
        <p:blipFill>
          <a:blip r:embed="rId4"/>
          <a:stretch>
            <a:fillRect/>
          </a:stretch>
        </p:blipFill>
        <p:spPr>
          <a:xfrm>
            <a:off x="4818888" y="4160520"/>
            <a:ext cx="274320" cy="274320"/>
          </a:xfrm>
          <a:prstGeom prst="rect">
            <a:avLst/>
          </a:prstGeom>
        </p:spPr>
      </p:pic>
      <p:sp>
        <p:nvSpPr>
          <p:cNvPr id="29" name="Text 23"/>
          <p:cNvSpPr/>
          <p:nvPr/>
        </p:nvSpPr>
        <p:spPr>
          <a:xfrm>
            <a:off x="5376672" y="4087368"/>
            <a:ext cx="2359152" cy="457200"/>
          </a:xfrm>
          <a:prstGeom prst="rect">
            <a:avLst/>
          </a:prstGeom>
          <a:noFill/>
          <a:ln/>
        </p:spPr>
        <p:txBody>
          <a:bodyPr wrap="square" rtlCol="0" anchor="ctr"/>
          <a:lstStyle/>
          <a:p>
            <a:pPr indent="0" marL="0">
              <a:lnSpc>
                <a:spcPts val="1500"/>
              </a:lnSpc>
              <a:buNone/>
            </a:pPr>
            <a:r>
              <a:rPr lang="en-US" sz="1350" b="1" dirty="0">
                <a:solidFill>
                  <a:srgbClr val="17233D"/>
                </a:solidFill>
                <a:latin typeface="Calibri" pitchFamily="34" charset="0"/>
                <a:ea typeface="Calibri" pitchFamily="34" charset="-122"/>
                <a:cs typeface="Calibri" pitchFamily="34" charset="-120"/>
              </a:rPr>
              <a:t>2. Combine  —  SQL</a:t>
            </a:r>
            <a:endParaRPr lang="en-US" sz="1350" dirty="0"/>
          </a:p>
        </p:txBody>
      </p:sp>
      <p:sp>
        <p:nvSpPr>
          <p:cNvPr id="30" name="Text 24"/>
          <p:cNvSpPr/>
          <p:nvPr/>
        </p:nvSpPr>
        <p:spPr>
          <a:xfrm>
            <a:off x="4672584" y="4690872"/>
            <a:ext cx="2999232" cy="640080"/>
          </a:xfrm>
          <a:prstGeom prst="rect">
            <a:avLst/>
          </a:prstGeom>
          <a:noFill/>
          <a:ln/>
        </p:spPr>
        <p:txBody>
          <a:bodyPr wrap="square" rtlCol="0" anchor="ctr"/>
          <a:lstStyle/>
          <a:p>
            <a:pPr indent="0" marL="0">
              <a:lnSpc>
                <a:spcPts val="1250"/>
              </a:lnSpc>
              <a:buNone/>
            </a:pPr>
            <a:r>
              <a:rPr lang="en-US" sz="1050" dirty="0">
                <a:solidFill>
                  <a:srgbClr val="64748B"/>
                </a:solidFill>
                <a:latin typeface="Calibri" pitchFamily="34" charset="0"/>
                <a:ea typeface="Calibri" pitchFamily="34" charset="-122"/>
                <a:cs typeface="Calibri" pitchFamily="34" charset="-120"/>
              </a:rPr>
              <a:t>SQL joins the three cleaned sources so they share the same area names and years, and works out rates and percentages.</a:t>
            </a:r>
            <a:endParaRPr lang="en-US" sz="1050" dirty="0"/>
          </a:p>
        </p:txBody>
      </p:sp>
      <p:pic>
        <p:nvPicPr>
          <p:cNvPr id="31" name="Image 4" descr="preencoded.png">    </p:cNvPr>
          <p:cNvPicPr>
            <a:picLocks noChangeAspect="1"/>
          </p:cNvPicPr>
          <p:nvPr/>
        </p:nvPicPr>
        <p:blipFill>
          <a:blip r:embed="rId5"/>
          <a:stretch>
            <a:fillRect/>
          </a:stretch>
        </p:blipFill>
        <p:spPr>
          <a:xfrm>
            <a:off x="7946136" y="4453128"/>
            <a:ext cx="237744" cy="237744"/>
          </a:xfrm>
          <a:prstGeom prst="rect">
            <a:avLst/>
          </a:prstGeom>
        </p:spPr>
      </p:pic>
      <p:sp>
        <p:nvSpPr>
          <p:cNvPr id="32" name="Shape 25"/>
          <p:cNvSpPr/>
          <p:nvPr/>
        </p:nvSpPr>
        <p:spPr>
          <a:xfrm>
            <a:off x="8193024" y="3794760"/>
            <a:ext cx="3502152"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88900" dist="25400" dir="5400000">
              <a:srgbClr val="000000">
                <a:alpha val="12000"/>
              </a:srgbClr>
            </a:outerShdw>
          </a:effectLst>
        </p:spPr>
      </p:sp>
      <p:sp>
        <p:nvSpPr>
          <p:cNvPr id="33" name="Shape 26"/>
          <p:cNvSpPr/>
          <p:nvPr/>
        </p:nvSpPr>
        <p:spPr>
          <a:xfrm>
            <a:off x="8449056" y="4014216"/>
            <a:ext cx="566928" cy="566928"/>
          </a:xfrm>
          <a:prstGeom prst="ellipse">
            <a:avLst/>
          </a:prstGeom>
          <a:solidFill>
            <a:srgbClr val="0E8C86"/>
          </a:solidFill>
          <a:ln/>
        </p:spPr>
      </p:sp>
      <p:pic>
        <p:nvPicPr>
          <p:cNvPr id="34" name="Image 5" descr="preencoded.png">    </p:cNvPr>
          <p:cNvPicPr>
            <a:picLocks noChangeAspect="1"/>
          </p:cNvPicPr>
          <p:nvPr/>
        </p:nvPicPr>
        <p:blipFill>
          <a:blip r:embed="rId6"/>
          <a:stretch>
            <a:fillRect/>
          </a:stretch>
        </p:blipFill>
        <p:spPr>
          <a:xfrm>
            <a:off x="8595360" y="4160520"/>
            <a:ext cx="274320" cy="274320"/>
          </a:xfrm>
          <a:prstGeom prst="rect">
            <a:avLst/>
          </a:prstGeom>
        </p:spPr>
      </p:pic>
      <p:sp>
        <p:nvSpPr>
          <p:cNvPr id="35" name="Text 27"/>
          <p:cNvSpPr/>
          <p:nvPr/>
        </p:nvSpPr>
        <p:spPr>
          <a:xfrm>
            <a:off x="9153144" y="4087368"/>
            <a:ext cx="2359152" cy="457200"/>
          </a:xfrm>
          <a:prstGeom prst="rect">
            <a:avLst/>
          </a:prstGeom>
          <a:noFill/>
          <a:ln/>
        </p:spPr>
        <p:txBody>
          <a:bodyPr wrap="square" rtlCol="0" anchor="ctr"/>
          <a:lstStyle/>
          <a:p>
            <a:pPr indent="0" marL="0">
              <a:lnSpc>
                <a:spcPts val="1500"/>
              </a:lnSpc>
              <a:buNone/>
            </a:pPr>
            <a:r>
              <a:rPr lang="en-US" sz="1350" b="1" dirty="0">
                <a:solidFill>
                  <a:srgbClr val="17233D"/>
                </a:solidFill>
                <a:latin typeface="Calibri" pitchFamily="34" charset="0"/>
                <a:ea typeface="Calibri" pitchFamily="34" charset="-122"/>
                <a:cs typeface="Calibri" pitchFamily="34" charset="-120"/>
              </a:rPr>
              <a:t>3. Display  —  Power BI</a:t>
            </a:r>
            <a:endParaRPr lang="en-US" sz="1350" dirty="0"/>
          </a:p>
        </p:txBody>
      </p:sp>
      <p:sp>
        <p:nvSpPr>
          <p:cNvPr id="36" name="Text 28"/>
          <p:cNvSpPr/>
          <p:nvPr/>
        </p:nvSpPr>
        <p:spPr>
          <a:xfrm>
            <a:off x="8449056" y="4690872"/>
            <a:ext cx="2999232" cy="640080"/>
          </a:xfrm>
          <a:prstGeom prst="rect">
            <a:avLst/>
          </a:prstGeom>
          <a:noFill/>
          <a:ln/>
        </p:spPr>
        <p:txBody>
          <a:bodyPr wrap="square" rtlCol="0" anchor="ctr"/>
          <a:lstStyle/>
          <a:p>
            <a:pPr indent="0" marL="0">
              <a:lnSpc>
                <a:spcPts val="1250"/>
              </a:lnSpc>
              <a:buNone/>
            </a:pPr>
            <a:r>
              <a:rPr lang="en-US" sz="1050" dirty="0">
                <a:solidFill>
                  <a:srgbClr val="64748B"/>
                </a:solidFill>
                <a:latin typeface="Calibri" pitchFamily="34" charset="0"/>
                <a:ea typeface="Calibri" pitchFamily="34" charset="-122"/>
                <a:cs typeface="Calibri" pitchFamily="34" charset="-120"/>
              </a:rPr>
              <a:t>Power BI turns the combined, clean data into the dashboard: charts, a map, filters you can click.</a:t>
            </a:r>
            <a:endParaRPr lang="en-US" sz="1050" dirty="0"/>
          </a:p>
        </p:txBody>
      </p:sp>
      <p:sp>
        <p:nvSpPr>
          <p:cNvPr id="37" name="Shape 29"/>
          <p:cNvSpPr/>
          <p:nvPr/>
        </p:nvSpPr>
        <p:spPr>
          <a:xfrm>
            <a:off x="640080" y="5532120"/>
            <a:ext cx="10881360" cy="777240"/>
          </a:xfrm>
          <a:prstGeom prst="roundRect">
            <a:avLst>
              <a:gd name="adj" fmla="val 7059"/>
            </a:avLst>
          </a:prstGeom>
          <a:solidFill>
            <a:srgbClr val="DCEEEC"/>
          </a:solidFill>
          <a:ln/>
        </p:spPr>
      </p:sp>
      <p:pic>
        <p:nvPicPr>
          <p:cNvPr id="38" name="Image 6" descr="preencoded.png">    </p:cNvPr>
          <p:cNvPicPr>
            <a:picLocks noChangeAspect="1"/>
          </p:cNvPicPr>
          <p:nvPr/>
        </p:nvPicPr>
        <p:blipFill>
          <a:blip r:embed="rId7"/>
          <a:stretch>
            <a:fillRect/>
          </a:stretch>
        </p:blipFill>
        <p:spPr>
          <a:xfrm>
            <a:off x="914400" y="5742432"/>
            <a:ext cx="310896" cy="310896"/>
          </a:xfrm>
          <a:prstGeom prst="rect">
            <a:avLst/>
          </a:prstGeom>
        </p:spPr>
      </p:pic>
      <p:sp>
        <p:nvSpPr>
          <p:cNvPr id="39" name="Text 30"/>
          <p:cNvSpPr/>
          <p:nvPr/>
        </p:nvSpPr>
        <p:spPr>
          <a:xfrm>
            <a:off x="1417320" y="5614416"/>
            <a:ext cx="9784080" cy="640080"/>
          </a:xfrm>
          <a:prstGeom prst="rect">
            <a:avLst/>
          </a:prstGeom>
          <a:noFill/>
          <a:ln/>
        </p:spPr>
        <p:txBody>
          <a:bodyPr wrap="square" rtlCol="0" anchor="ctr"/>
          <a:lstStyle/>
          <a:p>
            <a:pPr indent="0" marL="0">
              <a:lnSpc>
                <a:spcPts val="1500"/>
              </a:lnSpc>
              <a:buNone/>
            </a:pPr>
            <a:r>
              <a:rPr lang="en-US" sz="1200" b="1" i="1" dirty="0">
                <a:solidFill>
                  <a:srgbClr val="0A6B66"/>
                </a:solidFill>
                <a:latin typeface="Calibri" pitchFamily="34" charset="0"/>
                <a:ea typeface="Calibri" pitchFamily="34" charset="-122"/>
                <a:cs typeface="Calibri" pitchFamily="34" charset="-120"/>
              </a:rPr>
              <a:t>Nothing personal in this data.  </a:t>
            </a:r>
            <a:pPr indent="0" marL="0">
              <a:lnSpc>
                <a:spcPts val="1500"/>
              </a:lnSpc>
              <a:buNone/>
            </a:pPr>
            <a:r>
              <a:rPr lang="en-US" sz="1200" i="1" dirty="0">
                <a:solidFill>
                  <a:srgbClr val="27455C"/>
                </a:solidFill>
                <a:latin typeface="Calibri" pitchFamily="34" charset="0"/>
                <a:ea typeface="Calibri" pitchFamily="34" charset="-122"/>
                <a:cs typeface="Calibri" pitchFamily="34" charset="-120"/>
              </a:rPr>
              <a:t>Every source here is public and already totalled up, so no individual is identifiable anywhere in this build. I'd bring that same care around GDPR and Freedom of Information requests to the real, person-level data this role works with.</a:t>
            </a:r>
            <a:endParaRPr lang="en-US" sz="1200" dirty="0"/>
          </a:p>
        </p:txBody>
      </p:sp>
      <p:sp>
        <p:nvSpPr>
          <p:cNvPr id="40" name="Text 31"/>
          <p:cNvSpPr/>
          <p:nvPr/>
        </p:nvSpPr>
        <p:spPr>
          <a:xfrm>
            <a:off x="11155680" y="6400800"/>
            <a:ext cx="5486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03</a:t>
            </a:r>
            <a:endParaRPr lang="en-US" sz="1000" dirty="0"/>
          </a:p>
        </p:txBody>
      </p:sp>
      <p:sp>
        <p:nvSpPr>
          <p:cNvPr id="41" name="Text 32"/>
          <p:cNvSpPr/>
          <p:nvPr/>
        </p:nvSpPr>
        <p:spPr>
          <a:xfrm>
            <a:off x="640080" y="6400800"/>
            <a:ext cx="64008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sx="100000" sy="100000" kx="0" ky="0" algn="bl" rotWithShape="0" blurRad="889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indent="0" marL="0">
              <a:buNone/>
            </a:pPr>
            <a:r>
              <a:rPr lang="en-US" sz="1100" b="1" spc="200" kern="0" dirty="0">
                <a:solidFill>
                  <a:srgbClr val="0E8C86"/>
                </a:solidFill>
                <a:latin typeface="Calibri" pitchFamily="34" charset="0"/>
                <a:ea typeface="Calibri" pitchFamily="34" charset="-122"/>
                <a:cs typeface="Calibri" pitchFamily="34" charset="-120"/>
              </a:rPr>
              <a:t>03  THE DASHBOARD</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indent="0" marL="0">
              <a:buNone/>
            </a:pPr>
            <a:r>
              <a:rPr lang="en-US" sz="2500" b="1" dirty="0">
                <a:solidFill>
                  <a:srgbClr val="17233D"/>
                </a:solidFill>
                <a:latin typeface="Cambria" pitchFamily="34" charset="0"/>
                <a:ea typeface="Cambria" pitchFamily="34" charset="-122"/>
                <a:cs typeface="Cambria" pitchFamily="34" charset="-120"/>
              </a:rPr>
              <a:t>Page 1  |  Demand: an ageing county</a:t>
            </a:r>
            <a:endParaRPr lang="en-US" sz="2500" dirty="0"/>
          </a:p>
        </p:txBody>
      </p:sp>
      <p:pic>
        <p:nvPicPr>
          <p:cNvPr id="6" name="Image 1" descr="/home/claude/screenshots_v2/demand_v2.png">    </p:cNvPr>
          <p:cNvPicPr>
            <a:picLocks noChangeAspect="1"/>
          </p:cNvPicPr>
          <p:nvPr/>
        </p:nvPicPr>
        <p:blipFill>
          <a:blip r:embed="rId2"/>
          <a:srcRect l="0" r="0" t="0" b="0"/>
          <a:stretch/>
        </p:blipFill>
        <p:spPr>
          <a:xfrm>
            <a:off x="640080" y="1417320"/>
            <a:ext cx="7132320" cy="4041648"/>
          </a:xfrm>
          <a:prstGeom prst="rect">
            <a:avLst/>
          </a:prstGeom>
        </p:spPr>
      </p:pic>
      <p:sp>
        <p:nvSpPr>
          <p:cNvPr id="7" name="Shape 3"/>
          <p:cNvSpPr/>
          <p:nvPr/>
        </p:nvSpPr>
        <p:spPr>
          <a:xfrm>
            <a:off x="640080" y="1417320"/>
            <a:ext cx="7132320" cy="4041648"/>
          </a:xfrm>
          <a:prstGeom prst="rect">
            <a:avLst/>
          </a:prstGeom>
          <a:ln w="12700">
            <a:solidFill>
              <a:srgbClr val="E2E8F0"/>
            </a:solidFill>
            <a:prstDash val="solid"/>
          </a:ln>
        </p:spPr>
      </p:sp>
      <p:sp>
        <p:nvSpPr>
          <p:cNvPr id="8" name="Text 4"/>
          <p:cNvSpPr/>
          <p:nvPr/>
        </p:nvSpPr>
        <p:spPr>
          <a:xfrm>
            <a:off x="8001000" y="1463040"/>
            <a:ext cx="3520440" cy="320040"/>
          </a:xfrm>
          <a:prstGeom prst="rect">
            <a:avLst/>
          </a:prstGeom>
          <a:noFill/>
          <a:ln/>
        </p:spPr>
        <p:txBody>
          <a:bodyPr wrap="square" rtlCol="0" anchor="ctr"/>
          <a:lstStyle/>
          <a:p>
            <a:pPr indent="0" marL="0">
              <a:buNone/>
            </a:pPr>
            <a:r>
              <a:rPr lang="en-US" sz="1400" b="1" dirty="0">
                <a:solidFill>
                  <a:srgbClr val="17233D"/>
                </a:solidFill>
                <a:latin typeface="Calibri" pitchFamily="34" charset="0"/>
                <a:ea typeface="Calibri" pitchFamily="34" charset="-122"/>
                <a:cs typeface="Calibri" pitchFamily="34" charset="-120"/>
              </a:rPr>
              <a:t>Straight from the live dashboard</a:t>
            </a:r>
            <a:endParaRPr lang="en-US" sz="1400" dirty="0"/>
          </a:p>
        </p:txBody>
      </p:sp>
      <p:pic>
        <p:nvPicPr>
          <p:cNvPr id="9" name="Image 2" descr="preencoded.png">    </p:cNvPr>
          <p:cNvPicPr>
            <a:picLocks noChangeAspect="1"/>
          </p:cNvPicPr>
          <p:nvPr/>
        </p:nvPicPr>
        <p:blipFill>
          <a:blip r:embed="rId3"/>
          <a:stretch>
            <a:fillRect/>
          </a:stretch>
        </p:blipFill>
        <p:spPr>
          <a:xfrm>
            <a:off x="8001000" y="1984248"/>
            <a:ext cx="274320" cy="274320"/>
          </a:xfrm>
          <a:prstGeom prst="rect">
            <a:avLst/>
          </a:prstGeom>
        </p:spPr>
      </p:pic>
      <p:sp>
        <p:nvSpPr>
          <p:cNvPr id="10" name="Text 5"/>
          <p:cNvSpPr/>
          <p:nvPr/>
        </p:nvSpPr>
        <p:spPr>
          <a:xfrm>
            <a:off x="8385048" y="1965960"/>
            <a:ext cx="3108960" cy="292608"/>
          </a:xfrm>
          <a:prstGeom prst="rect">
            <a:avLst/>
          </a:prstGeom>
          <a:noFill/>
          <a:ln/>
        </p:spPr>
        <p:txBody>
          <a:bodyPr wrap="square" rtlCol="0" anchor="ctr"/>
          <a:lstStyle/>
          <a:p>
            <a:pPr indent="0" marL="0">
              <a:buNone/>
            </a:pPr>
            <a:r>
              <a:rPr lang="en-US" sz="1350" b="1" dirty="0">
                <a:solidFill>
                  <a:srgbClr val="0A6B66"/>
                </a:solidFill>
                <a:latin typeface="Calibri" pitchFamily="34" charset="0"/>
                <a:ea typeface="Calibri" pitchFamily="34" charset="-122"/>
                <a:cs typeface="Calibri" pitchFamily="34" charset="-120"/>
              </a:rPr>
              <a:t>24.1% today</a:t>
            </a:r>
            <a:endParaRPr lang="en-US" sz="1350" dirty="0"/>
          </a:p>
        </p:txBody>
      </p:sp>
      <p:sp>
        <p:nvSpPr>
          <p:cNvPr id="11" name="Text 6"/>
          <p:cNvSpPr/>
          <p:nvPr/>
        </p:nvSpPr>
        <p:spPr>
          <a:xfrm>
            <a:off x="8385048" y="2276856"/>
            <a:ext cx="3154680" cy="685800"/>
          </a:xfrm>
          <a:prstGeom prst="rect">
            <a:avLst/>
          </a:prstGeom>
          <a:noFill/>
          <a:ln/>
        </p:spPr>
        <p:txBody>
          <a:bodyPr wrap="square" rtlCol="0" anchor="ctr"/>
          <a:lstStyle/>
          <a:p>
            <a:pPr indent="0" marL="0">
              <a:lnSpc>
                <a:spcPts val="1400"/>
              </a:lnSpc>
              <a:buNone/>
            </a:pPr>
            <a:r>
              <a:rPr lang="en-US" sz="1150" dirty="0">
                <a:solidFill>
                  <a:srgbClr val="64748B"/>
                </a:solidFill>
                <a:latin typeface="Calibri" pitchFamily="34" charset="0"/>
                <a:ea typeface="Calibri" pitchFamily="34" charset="-122"/>
                <a:cs typeface="Calibri" pitchFamily="34" charset="-120"/>
              </a:rPr>
              <a:t>Lincolnshire's 65+ share, already well above England's 18.5%.</a:t>
            </a:r>
            <a:endParaRPr lang="en-US" sz="1150" dirty="0"/>
          </a:p>
        </p:txBody>
      </p:sp>
      <p:pic>
        <p:nvPicPr>
          <p:cNvPr id="12" name="Image 3" descr="preencoded.png">    </p:cNvPr>
          <p:cNvPicPr>
            <a:picLocks noChangeAspect="1"/>
          </p:cNvPicPr>
          <p:nvPr/>
        </p:nvPicPr>
        <p:blipFill>
          <a:blip r:embed="rId4"/>
          <a:stretch>
            <a:fillRect/>
          </a:stretch>
        </p:blipFill>
        <p:spPr>
          <a:xfrm>
            <a:off x="8001000" y="3127248"/>
            <a:ext cx="274320" cy="274320"/>
          </a:xfrm>
          <a:prstGeom prst="rect">
            <a:avLst/>
          </a:prstGeom>
        </p:spPr>
      </p:pic>
      <p:sp>
        <p:nvSpPr>
          <p:cNvPr id="13" name="Text 7"/>
          <p:cNvSpPr/>
          <p:nvPr/>
        </p:nvSpPr>
        <p:spPr>
          <a:xfrm>
            <a:off x="8385048" y="3108960"/>
            <a:ext cx="3108960" cy="292608"/>
          </a:xfrm>
          <a:prstGeom prst="rect">
            <a:avLst/>
          </a:prstGeom>
          <a:noFill/>
          <a:ln/>
        </p:spPr>
        <p:txBody>
          <a:bodyPr wrap="square" rtlCol="0" anchor="ctr"/>
          <a:lstStyle/>
          <a:p>
            <a:pPr indent="0" marL="0">
              <a:buNone/>
            </a:pPr>
            <a:r>
              <a:rPr lang="en-US" sz="1350" b="1" dirty="0">
                <a:solidFill>
                  <a:srgbClr val="0A6B66"/>
                </a:solidFill>
                <a:latin typeface="Calibri" pitchFamily="34" charset="0"/>
                <a:ea typeface="Calibri" pitchFamily="34" charset="-122"/>
                <a:cs typeface="Calibri" pitchFamily="34" charset="-120"/>
              </a:rPr>
              <a:t>26.7% by 2030</a:t>
            </a:r>
            <a:endParaRPr lang="en-US" sz="1350" dirty="0"/>
          </a:p>
        </p:txBody>
      </p:sp>
      <p:sp>
        <p:nvSpPr>
          <p:cNvPr id="14" name="Text 8"/>
          <p:cNvSpPr/>
          <p:nvPr/>
        </p:nvSpPr>
        <p:spPr>
          <a:xfrm>
            <a:off x="8385048" y="3419856"/>
            <a:ext cx="3154680" cy="685800"/>
          </a:xfrm>
          <a:prstGeom prst="rect">
            <a:avLst/>
          </a:prstGeom>
          <a:noFill/>
          <a:ln/>
        </p:spPr>
        <p:txBody>
          <a:bodyPr wrap="square" rtlCol="0" anchor="ctr"/>
          <a:lstStyle/>
          <a:p>
            <a:pPr indent="0" marL="0">
              <a:lnSpc>
                <a:spcPts val="1400"/>
              </a:lnSpc>
              <a:buNone/>
            </a:pPr>
            <a:r>
              <a:rPr lang="en-US" sz="1150" dirty="0">
                <a:solidFill>
                  <a:srgbClr val="64748B"/>
                </a:solidFill>
                <a:latin typeface="Calibri" pitchFamily="34" charset="0"/>
                <a:ea typeface="Calibri" pitchFamily="34" charset="-122"/>
                <a:cs typeface="Calibri" pitchFamily="34" charset="-120"/>
              </a:rPr>
              <a:t>ONS projects the share itself keeps climbing, not just the headcount.</a:t>
            </a:r>
            <a:endParaRPr lang="en-US" sz="1150" dirty="0"/>
          </a:p>
        </p:txBody>
      </p:sp>
      <p:pic>
        <p:nvPicPr>
          <p:cNvPr id="15" name="Image 4" descr="preencoded.png">    </p:cNvPr>
          <p:cNvPicPr>
            <a:picLocks noChangeAspect="1"/>
          </p:cNvPicPr>
          <p:nvPr/>
        </p:nvPicPr>
        <p:blipFill>
          <a:blip r:embed="rId5"/>
          <a:stretch>
            <a:fillRect/>
          </a:stretch>
        </p:blipFill>
        <p:spPr>
          <a:xfrm>
            <a:off x="8001000" y="4270248"/>
            <a:ext cx="274320" cy="274320"/>
          </a:xfrm>
          <a:prstGeom prst="rect">
            <a:avLst/>
          </a:prstGeom>
        </p:spPr>
      </p:pic>
      <p:sp>
        <p:nvSpPr>
          <p:cNvPr id="16" name="Text 9"/>
          <p:cNvSpPr/>
          <p:nvPr/>
        </p:nvSpPr>
        <p:spPr>
          <a:xfrm>
            <a:off x="8385048" y="4251960"/>
            <a:ext cx="3108960" cy="292608"/>
          </a:xfrm>
          <a:prstGeom prst="rect">
            <a:avLst/>
          </a:prstGeom>
          <a:noFill/>
          <a:ln/>
        </p:spPr>
        <p:txBody>
          <a:bodyPr wrap="square" rtlCol="0" anchor="ctr"/>
          <a:lstStyle/>
          <a:p>
            <a:pPr indent="0" marL="0">
              <a:buNone/>
            </a:pPr>
            <a:r>
              <a:rPr lang="en-US" sz="1350" b="1" dirty="0">
                <a:solidFill>
                  <a:srgbClr val="0A6B66"/>
                </a:solidFill>
                <a:latin typeface="Calibri" pitchFamily="34" charset="0"/>
                <a:ea typeface="Calibri" pitchFamily="34" charset="-122"/>
                <a:cs typeface="Calibri" pitchFamily="34" charset="-120"/>
              </a:rPr>
              <a:t>Click a district to explore it</a:t>
            </a:r>
            <a:endParaRPr lang="en-US" sz="1350" dirty="0"/>
          </a:p>
        </p:txBody>
      </p:sp>
      <p:sp>
        <p:nvSpPr>
          <p:cNvPr id="17" name="Text 10"/>
          <p:cNvSpPr/>
          <p:nvPr/>
        </p:nvSpPr>
        <p:spPr>
          <a:xfrm>
            <a:off x="8385048" y="4562856"/>
            <a:ext cx="3154680" cy="685800"/>
          </a:xfrm>
          <a:prstGeom prst="rect">
            <a:avLst/>
          </a:prstGeom>
          <a:noFill/>
          <a:ln/>
        </p:spPr>
        <p:txBody>
          <a:bodyPr wrap="square" rtlCol="0" anchor="ctr"/>
          <a:lstStyle/>
          <a:p>
            <a:pPr indent="0" marL="0">
              <a:lnSpc>
                <a:spcPts val="1400"/>
              </a:lnSpc>
              <a:buNone/>
            </a:pPr>
            <a:r>
              <a:rPr lang="en-US" sz="1150" dirty="0">
                <a:solidFill>
                  <a:srgbClr val="64748B"/>
                </a:solidFill>
                <a:latin typeface="Calibri" pitchFamily="34" charset="0"/>
                <a:ea typeface="Calibri" pitchFamily="34" charset="-122"/>
                <a:cs typeface="Calibri" pitchFamily="34" charset="-120"/>
              </a:rPr>
              <a:t>See any of the 7 districts on its own, without leaving the page.</a:t>
            </a:r>
            <a:endParaRPr lang="en-US" sz="1150" dirty="0"/>
          </a:p>
        </p:txBody>
      </p:sp>
      <p:sp>
        <p:nvSpPr>
          <p:cNvPr id="18" name="Shape 11"/>
          <p:cNvSpPr/>
          <p:nvPr/>
        </p:nvSpPr>
        <p:spPr>
          <a:xfrm>
            <a:off x="640080" y="5532120"/>
            <a:ext cx="10881360" cy="777240"/>
          </a:xfrm>
          <a:prstGeom prst="roundRect">
            <a:avLst>
              <a:gd name="adj" fmla="val 7059"/>
            </a:avLst>
          </a:prstGeom>
          <a:solidFill>
            <a:srgbClr val="17233D"/>
          </a:solidFill>
          <a:ln/>
        </p:spPr>
      </p:sp>
      <p:pic>
        <p:nvPicPr>
          <p:cNvPr id="19" name="Image 5" descr="preencoded.png">    </p:cNvPr>
          <p:cNvPicPr>
            <a:picLocks noChangeAspect="1"/>
          </p:cNvPicPr>
          <p:nvPr/>
        </p:nvPicPr>
        <p:blipFill>
          <a:blip r:embed="rId6"/>
          <a:stretch>
            <a:fillRect/>
          </a:stretch>
        </p:blipFill>
        <p:spPr>
          <a:xfrm>
            <a:off x="914400" y="5733288"/>
            <a:ext cx="310896" cy="310896"/>
          </a:xfrm>
          <a:prstGeom prst="rect">
            <a:avLst/>
          </a:prstGeom>
        </p:spPr>
      </p:pic>
      <p:sp>
        <p:nvSpPr>
          <p:cNvPr id="20" name="Text 12"/>
          <p:cNvSpPr/>
          <p:nvPr/>
        </p:nvSpPr>
        <p:spPr>
          <a:xfrm>
            <a:off x="1417320" y="5577840"/>
            <a:ext cx="9875520" cy="685800"/>
          </a:xfrm>
          <a:prstGeom prst="rect">
            <a:avLst/>
          </a:prstGeom>
          <a:noFill/>
          <a:ln/>
        </p:spPr>
        <p:txBody>
          <a:bodyPr wrap="square" rtlCol="0" anchor="ctr"/>
          <a:lstStyle/>
          <a:p>
            <a:pPr indent="0" marL="0">
              <a:lnSpc>
                <a:spcPts val="1450"/>
              </a:lnSpc>
              <a:buNone/>
            </a:pPr>
            <a:r>
              <a:rPr lang="en-US" sz="1200" b="1" dirty="0">
                <a:solidFill>
                  <a:srgbClr val="6FD8D2"/>
                </a:solidFill>
                <a:latin typeface="Calibri" pitchFamily="34" charset="0"/>
                <a:ea typeface="Calibri" pitchFamily="34" charset="-122"/>
                <a:cs typeface="Calibri" pitchFamily="34" charset="-120"/>
              </a:rPr>
              <a:t>So what:  </a:t>
            </a:r>
            <a:pPr indent="0" marL="0">
              <a:lnSpc>
                <a:spcPts val="1450"/>
              </a:lnSpc>
              <a:buNone/>
            </a:pPr>
            <a:r>
              <a:rPr lang="en-US" sz="1200" dirty="0">
                <a:solidFill>
                  <a:srgbClr val="D5DEEC"/>
                </a:solidFill>
                <a:latin typeface="Calibri" pitchFamily="34" charset="0"/>
                <a:ea typeface="Calibri" pitchFamily="34" charset="-122"/>
                <a:cs typeface="Calibri" pitchFamily="34" charset="-120"/>
              </a:rPr>
              <a:t>the 65+ share is not just higher than average, it is projected to keep rising, from 24.1% today to 26.7% by 2030. This page is the pressure gauge the other two are read against.</a:t>
            </a:r>
            <a:endParaRPr lang="en-US" sz="1200" dirty="0"/>
          </a:p>
        </p:txBody>
      </p:sp>
      <p:sp>
        <p:nvSpPr>
          <p:cNvPr id="21" name="Text 13"/>
          <p:cNvSpPr/>
          <p:nvPr/>
        </p:nvSpPr>
        <p:spPr>
          <a:xfrm>
            <a:off x="11155680" y="6400800"/>
            <a:ext cx="5486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04</a:t>
            </a:r>
            <a:endParaRPr lang="en-US" sz="1000" dirty="0"/>
          </a:p>
        </p:txBody>
      </p:sp>
      <p:sp>
        <p:nvSpPr>
          <p:cNvPr id="22" name="Text 14"/>
          <p:cNvSpPr/>
          <p:nvPr/>
        </p:nvSpPr>
        <p:spPr>
          <a:xfrm>
            <a:off x="640080" y="6400800"/>
            <a:ext cx="64008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sx="100000" sy="100000" kx="0" ky="0" algn="bl" rotWithShape="0" blurRad="889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indent="0" marL="0">
              <a:buNone/>
            </a:pPr>
            <a:r>
              <a:rPr lang="en-US" sz="1100" b="1" spc="200" kern="0" dirty="0">
                <a:solidFill>
                  <a:srgbClr val="0E8C86"/>
                </a:solidFill>
                <a:latin typeface="Calibri" pitchFamily="34" charset="0"/>
                <a:ea typeface="Calibri" pitchFamily="34" charset="-122"/>
                <a:cs typeface="Calibri" pitchFamily="34" charset="-120"/>
              </a:rPr>
              <a:t>03  THE DASHBOARD</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indent="0" marL="0">
              <a:buNone/>
            </a:pPr>
            <a:r>
              <a:rPr lang="en-US" sz="2500" b="1" dirty="0">
                <a:solidFill>
                  <a:srgbClr val="17233D"/>
                </a:solidFill>
                <a:latin typeface="Cambria" pitchFamily="34" charset="0"/>
                <a:ea typeface="Cambria" pitchFamily="34" charset="-122"/>
                <a:cs typeface="Cambria" pitchFamily="34" charset="-120"/>
              </a:rPr>
              <a:t>Page 2  |  Outcomes: Lincolnshire vs England</a:t>
            </a:r>
            <a:endParaRPr lang="en-US" sz="2500" dirty="0"/>
          </a:p>
        </p:txBody>
      </p:sp>
      <p:pic>
        <p:nvPicPr>
          <p:cNvPr id="6" name="Image 1" descr="/home/claude/screenshots_v2/outcomes_v2.png">    </p:cNvPr>
          <p:cNvPicPr>
            <a:picLocks noChangeAspect="1"/>
          </p:cNvPicPr>
          <p:nvPr/>
        </p:nvPicPr>
        <p:blipFill>
          <a:blip r:embed="rId2"/>
          <a:srcRect l="0" r="0" t="0" b="0"/>
          <a:stretch/>
        </p:blipFill>
        <p:spPr>
          <a:xfrm>
            <a:off x="640080" y="1417320"/>
            <a:ext cx="7132320" cy="4041648"/>
          </a:xfrm>
          <a:prstGeom prst="rect">
            <a:avLst/>
          </a:prstGeom>
        </p:spPr>
      </p:pic>
      <p:sp>
        <p:nvSpPr>
          <p:cNvPr id="7" name="Shape 3"/>
          <p:cNvSpPr/>
          <p:nvPr/>
        </p:nvSpPr>
        <p:spPr>
          <a:xfrm>
            <a:off x="640080" y="1417320"/>
            <a:ext cx="7132320" cy="4041648"/>
          </a:xfrm>
          <a:prstGeom prst="rect">
            <a:avLst/>
          </a:prstGeom>
          <a:ln w="12700">
            <a:solidFill>
              <a:srgbClr val="E2E8F0"/>
            </a:solidFill>
            <a:prstDash val="solid"/>
          </a:ln>
        </p:spPr>
      </p:sp>
      <p:sp>
        <p:nvSpPr>
          <p:cNvPr id="8" name="Text 4"/>
          <p:cNvSpPr/>
          <p:nvPr/>
        </p:nvSpPr>
        <p:spPr>
          <a:xfrm>
            <a:off x="8001000" y="1463040"/>
            <a:ext cx="3520440" cy="320040"/>
          </a:xfrm>
          <a:prstGeom prst="rect">
            <a:avLst/>
          </a:prstGeom>
          <a:noFill/>
          <a:ln/>
        </p:spPr>
        <p:txBody>
          <a:bodyPr wrap="square" rtlCol="0" anchor="ctr"/>
          <a:lstStyle/>
          <a:p>
            <a:pPr indent="0" marL="0">
              <a:buNone/>
            </a:pPr>
            <a:r>
              <a:rPr lang="en-US" sz="1400" b="1" dirty="0">
                <a:solidFill>
                  <a:srgbClr val="17233D"/>
                </a:solidFill>
                <a:latin typeface="Calibri" pitchFamily="34" charset="0"/>
                <a:ea typeface="Calibri" pitchFamily="34" charset="-122"/>
                <a:cs typeface="Calibri" pitchFamily="34" charset="-120"/>
              </a:rPr>
              <a:t>What this page answers</a:t>
            </a:r>
            <a:endParaRPr lang="en-US" sz="1400" dirty="0"/>
          </a:p>
        </p:txBody>
      </p:sp>
      <p:pic>
        <p:nvPicPr>
          <p:cNvPr id="9" name="Image 2" descr="preencoded.png">    </p:cNvPr>
          <p:cNvPicPr>
            <a:picLocks noChangeAspect="1"/>
          </p:cNvPicPr>
          <p:nvPr/>
        </p:nvPicPr>
        <p:blipFill>
          <a:blip r:embed="rId3"/>
          <a:stretch>
            <a:fillRect/>
          </a:stretch>
        </p:blipFill>
        <p:spPr>
          <a:xfrm>
            <a:off x="8001000" y="1984248"/>
            <a:ext cx="274320" cy="274320"/>
          </a:xfrm>
          <a:prstGeom prst="rect">
            <a:avLst/>
          </a:prstGeom>
        </p:spPr>
      </p:pic>
      <p:sp>
        <p:nvSpPr>
          <p:cNvPr id="10" name="Text 5"/>
          <p:cNvSpPr/>
          <p:nvPr/>
        </p:nvSpPr>
        <p:spPr>
          <a:xfrm>
            <a:off x="8385048" y="1965960"/>
            <a:ext cx="3108960" cy="292608"/>
          </a:xfrm>
          <a:prstGeom prst="rect">
            <a:avLst/>
          </a:prstGeom>
          <a:noFill/>
          <a:ln/>
        </p:spPr>
        <p:txBody>
          <a:bodyPr wrap="square" rtlCol="0" anchor="ctr"/>
          <a:lstStyle/>
          <a:p>
            <a:pPr indent="0" marL="0">
              <a:buNone/>
            </a:pPr>
            <a:r>
              <a:rPr lang="en-US" sz="1300" b="1" dirty="0">
                <a:solidFill>
                  <a:srgbClr val="0A6B66"/>
                </a:solidFill>
                <a:latin typeface="Calibri" pitchFamily="34" charset="0"/>
                <a:ea typeface="Calibri" pitchFamily="34" charset="-122"/>
                <a:cs typeface="Calibri" pitchFamily="34" charset="-120"/>
              </a:rPr>
              <a:t>The honest picture</a:t>
            </a:r>
            <a:endParaRPr lang="en-US" sz="1300" dirty="0"/>
          </a:p>
        </p:txBody>
      </p:sp>
      <p:sp>
        <p:nvSpPr>
          <p:cNvPr id="11" name="Text 6"/>
          <p:cNvSpPr/>
          <p:nvPr/>
        </p:nvSpPr>
        <p:spPr>
          <a:xfrm>
            <a:off x="8385048" y="2276856"/>
            <a:ext cx="3154680" cy="685800"/>
          </a:xfrm>
          <a:prstGeom prst="rect">
            <a:avLst/>
          </a:prstGeom>
          <a:noFill/>
          <a:ln/>
        </p:spPr>
        <p:txBody>
          <a:bodyPr wrap="square" rtlCol="0" anchor="ctr"/>
          <a:lstStyle/>
          <a:p>
            <a:pPr indent="0" marL="0">
              <a:lnSpc>
                <a:spcPts val="1350"/>
              </a:lnSpc>
              <a:buNone/>
            </a:pPr>
            <a:r>
              <a:rPr lang="en-US" sz="1100" dirty="0">
                <a:solidFill>
                  <a:srgbClr val="64748B"/>
                </a:solidFill>
                <a:latin typeface="Calibri" pitchFamily="34" charset="0"/>
                <a:ea typeface="Calibri" pitchFamily="34" charset="-122"/>
                <a:cs typeface="Calibri" pitchFamily="34" charset="-120"/>
              </a:rPr>
              <a:t>Ahead of England on reablement and safeguarding. Behind on staff turnover and on 18-64 admissions to care.</a:t>
            </a:r>
            <a:endParaRPr lang="en-US" sz="1100" dirty="0"/>
          </a:p>
        </p:txBody>
      </p:sp>
      <p:pic>
        <p:nvPicPr>
          <p:cNvPr id="12" name="Image 3" descr="preencoded.png">    </p:cNvPr>
          <p:cNvPicPr>
            <a:picLocks noChangeAspect="1"/>
          </p:cNvPicPr>
          <p:nvPr/>
        </p:nvPicPr>
        <p:blipFill>
          <a:blip r:embed="rId4"/>
          <a:stretch>
            <a:fillRect/>
          </a:stretch>
        </p:blipFill>
        <p:spPr>
          <a:xfrm>
            <a:off x="8001000" y="3127248"/>
            <a:ext cx="274320" cy="274320"/>
          </a:xfrm>
          <a:prstGeom prst="rect">
            <a:avLst/>
          </a:prstGeom>
        </p:spPr>
      </p:pic>
      <p:sp>
        <p:nvSpPr>
          <p:cNvPr id="13" name="Text 7"/>
          <p:cNvSpPr/>
          <p:nvPr/>
        </p:nvSpPr>
        <p:spPr>
          <a:xfrm>
            <a:off x="8385048" y="3108960"/>
            <a:ext cx="3108960" cy="292608"/>
          </a:xfrm>
          <a:prstGeom prst="rect">
            <a:avLst/>
          </a:prstGeom>
          <a:noFill/>
          <a:ln/>
        </p:spPr>
        <p:txBody>
          <a:bodyPr wrap="square" rtlCol="0" anchor="ctr"/>
          <a:lstStyle/>
          <a:p>
            <a:pPr indent="0" marL="0">
              <a:buNone/>
            </a:pPr>
            <a:r>
              <a:rPr lang="en-US" sz="1300" b="1" dirty="0">
                <a:solidFill>
                  <a:srgbClr val="0A6B66"/>
                </a:solidFill>
                <a:latin typeface="Calibri" pitchFamily="34" charset="0"/>
                <a:ea typeface="Calibri" pitchFamily="34" charset="-122"/>
                <a:cs typeface="Calibri" pitchFamily="34" charset="-120"/>
              </a:rPr>
              <a:t>Fair comparisons, not just numbers</a:t>
            </a:r>
            <a:endParaRPr lang="en-US" sz="1300" dirty="0"/>
          </a:p>
        </p:txBody>
      </p:sp>
      <p:sp>
        <p:nvSpPr>
          <p:cNvPr id="14" name="Text 8"/>
          <p:cNvSpPr/>
          <p:nvPr/>
        </p:nvSpPr>
        <p:spPr>
          <a:xfrm>
            <a:off x="8385048" y="3419856"/>
            <a:ext cx="3154680" cy="685800"/>
          </a:xfrm>
          <a:prstGeom prst="rect">
            <a:avLst/>
          </a:prstGeom>
          <a:noFill/>
          <a:ln/>
        </p:spPr>
        <p:txBody>
          <a:bodyPr wrap="square" rtlCol="0" anchor="ctr"/>
          <a:lstStyle/>
          <a:p>
            <a:pPr indent="0" marL="0">
              <a:lnSpc>
                <a:spcPts val="1350"/>
              </a:lnSpc>
              <a:buNone/>
            </a:pPr>
            <a:r>
              <a:rPr lang="en-US" sz="1100" dirty="0">
                <a:solidFill>
                  <a:srgbClr val="64748B"/>
                </a:solidFill>
                <a:latin typeface="Calibri" pitchFamily="34" charset="0"/>
                <a:ea typeface="Calibri" pitchFamily="34" charset="-122"/>
                <a:cs typeface="Calibri" pitchFamily="34" charset="-120"/>
              </a:rPr>
              <a:t>Every measure sits right next to England's figure, so it's obvious whether we're ahead or behind.</a:t>
            </a:r>
            <a:endParaRPr lang="en-US" sz="1100" dirty="0"/>
          </a:p>
        </p:txBody>
      </p:sp>
      <p:pic>
        <p:nvPicPr>
          <p:cNvPr id="15" name="Image 4" descr="preencoded.png">    </p:cNvPr>
          <p:cNvPicPr>
            <a:picLocks noChangeAspect="1"/>
          </p:cNvPicPr>
          <p:nvPr/>
        </p:nvPicPr>
        <p:blipFill>
          <a:blip r:embed="rId5"/>
          <a:stretch>
            <a:fillRect/>
          </a:stretch>
        </p:blipFill>
        <p:spPr>
          <a:xfrm>
            <a:off x="8001000" y="4270248"/>
            <a:ext cx="274320" cy="274320"/>
          </a:xfrm>
          <a:prstGeom prst="rect">
            <a:avLst/>
          </a:prstGeom>
        </p:spPr>
      </p:pic>
      <p:sp>
        <p:nvSpPr>
          <p:cNvPr id="16" name="Text 9"/>
          <p:cNvSpPr/>
          <p:nvPr/>
        </p:nvSpPr>
        <p:spPr>
          <a:xfrm>
            <a:off x="8385048" y="4251960"/>
            <a:ext cx="3108960" cy="292608"/>
          </a:xfrm>
          <a:prstGeom prst="rect">
            <a:avLst/>
          </a:prstGeom>
          <a:noFill/>
          <a:ln/>
        </p:spPr>
        <p:txBody>
          <a:bodyPr wrap="square" rtlCol="0" anchor="ctr"/>
          <a:lstStyle/>
          <a:p>
            <a:pPr indent="0" marL="0">
              <a:buNone/>
            </a:pPr>
            <a:r>
              <a:rPr lang="en-US" sz="1300" b="1" dirty="0">
                <a:solidFill>
                  <a:srgbClr val="0A6B66"/>
                </a:solidFill>
                <a:latin typeface="Calibri" pitchFamily="34" charset="0"/>
                <a:ea typeface="Calibri" pitchFamily="34" charset="-122"/>
                <a:cs typeface="Calibri" pitchFamily="34" charset="-120"/>
              </a:rPr>
              <a:t>Click a measure to compare it</a:t>
            </a:r>
            <a:endParaRPr lang="en-US" sz="1300" dirty="0"/>
          </a:p>
        </p:txBody>
      </p:sp>
      <p:sp>
        <p:nvSpPr>
          <p:cNvPr id="17" name="Text 10"/>
          <p:cNvSpPr/>
          <p:nvPr/>
        </p:nvSpPr>
        <p:spPr>
          <a:xfrm>
            <a:off x="8385048" y="4562856"/>
            <a:ext cx="3154680" cy="685800"/>
          </a:xfrm>
          <a:prstGeom prst="rect">
            <a:avLst/>
          </a:prstGeom>
          <a:noFill/>
          <a:ln/>
        </p:spPr>
        <p:txBody>
          <a:bodyPr wrap="square" rtlCol="0" anchor="ctr"/>
          <a:lstStyle/>
          <a:p>
            <a:pPr indent="0" marL="0">
              <a:lnSpc>
                <a:spcPts val="1350"/>
              </a:lnSpc>
              <a:buNone/>
            </a:pPr>
            <a:r>
              <a:rPr lang="en-US" sz="1100" dirty="0">
                <a:solidFill>
                  <a:srgbClr val="64748B"/>
                </a:solidFill>
                <a:latin typeface="Calibri" pitchFamily="34" charset="0"/>
                <a:ea typeface="Calibri" pitchFamily="34" charset="-122"/>
                <a:cs typeface="Calibri" pitchFamily="34" charset="-120"/>
              </a:rPr>
              <a:t>Choose any one measure and both charts update to show just that comparison.</a:t>
            </a:r>
            <a:endParaRPr lang="en-US" sz="1100" dirty="0"/>
          </a:p>
        </p:txBody>
      </p:sp>
      <p:sp>
        <p:nvSpPr>
          <p:cNvPr id="18" name="Shape 11"/>
          <p:cNvSpPr/>
          <p:nvPr/>
        </p:nvSpPr>
        <p:spPr>
          <a:xfrm>
            <a:off x="640080" y="5532120"/>
            <a:ext cx="10881360" cy="777240"/>
          </a:xfrm>
          <a:prstGeom prst="roundRect">
            <a:avLst>
              <a:gd name="adj" fmla="val 7059"/>
            </a:avLst>
          </a:prstGeom>
          <a:solidFill>
            <a:srgbClr val="F5F8FB"/>
          </a:solidFill>
          <a:ln w="12700">
            <a:solidFill>
              <a:srgbClr val="E2E8F0"/>
            </a:solidFill>
            <a:prstDash val="solid"/>
          </a:ln>
        </p:spPr>
      </p:sp>
      <p:sp>
        <p:nvSpPr>
          <p:cNvPr id="19" name="Text 12"/>
          <p:cNvSpPr/>
          <p:nvPr/>
        </p:nvSpPr>
        <p:spPr>
          <a:xfrm>
            <a:off x="960120" y="5596128"/>
            <a:ext cx="10332720" cy="640080"/>
          </a:xfrm>
          <a:prstGeom prst="rect">
            <a:avLst/>
          </a:prstGeom>
          <a:noFill/>
          <a:ln/>
        </p:spPr>
        <p:txBody>
          <a:bodyPr wrap="square" rtlCol="0" anchor="ctr"/>
          <a:lstStyle/>
          <a:p>
            <a:pPr indent="0" marL="0">
              <a:lnSpc>
                <a:spcPts val="1400"/>
              </a:lnSpc>
              <a:buNone/>
            </a:pPr>
            <a:r>
              <a:rPr lang="en-US" sz="1100" b="1" i="1" dirty="0">
                <a:solidFill>
                  <a:srgbClr val="0A6B66"/>
                </a:solidFill>
                <a:latin typeface="Calibri" pitchFamily="34" charset="0"/>
                <a:ea typeface="Calibri" pitchFamily="34" charset="-122"/>
                <a:cs typeface="Calibri" pitchFamily="34" charset="-120"/>
              </a:rPr>
              <a:t>Reading the data honestly.  </a:t>
            </a:r>
            <a:pPr indent="0" marL="0">
              <a:lnSpc>
                <a:spcPts val="1400"/>
              </a:lnSpc>
              <a:buNone/>
            </a:pPr>
            <a:r>
              <a:rPr lang="en-US" sz="1100" i="1" dirty="0">
                <a:solidFill>
                  <a:srgbClr val="334155"/>
                </a:solidFill>
                <a:latin typeface="Calibri" pitchFamily="34" charset="0"/>
                <a:ea typeface="Calibri" pitchFamily="34" charset="-122"/>
                <a:cs typeface="Calibri" pitchFamily="34" charset="-120"/>
              </a:rPr>
              <a:t>These 2024/25 measures come from the new client-level dataset (CLD), which replaced SALT from April 2024, so they should not be compared with pre-2024 figures. Self-funders are not captured, which most affects wealthier areas.</a:t>
            </a:r>
            <a:endParaRPr lang="en-US" sz="1100" dirty="0"/>
          </a:p>
        </p:txBody>
      </p:sp>
      <p:sp>
        <p:nvSpPr>
          <p:cNvPr id="20" name="Text 13"/>
          <p:cNvSpPr/>
          <p:nvPr/>
        </p:nvSpPr>
        <p:spPr>
          <a:xfrm>
            <a:off x="11155680" y="6400800"/>
            <a:ext cx="5486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05</a:t>
            </a:r>
            <a:endParaRPr lang="en-US" sz="1000" dirty="0"/>
          </a:p>
        </p:txBody>
      </p:sp>
      <p:sp>
        <p:nvSpPr>
          <p:cNvPr id="21" name="Text 14"/>
          <p:cNvSpPr/>
          <p:nvPr/>
        </p:nvSpPr>
        <p:spPr>
          <a:xfrm>
            <a:off x="640080" y="6400800"/>
            <a:ext cx="64008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sx="100000" sy="100000" kx="0" ky="0" algn="bl" rotWithShape="0" blurRad="889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indent="0" marL="0">
              <a:buNone/>
            </a:pPr>
            <a:r>
              <a:rPr lang="en-US" sz="1100" b="1" spc="200" kern="0" dirty="0">
                <a:solidFill>
                  <a:srgbClr val="0E8C86"/>
                </a:solidFill>
                <a:latin typeface="Calibri" pitchFamily="34" charset="0"/>
                <a:ea typeface="Calibri" pitchFamily="34" charset="-122"/>
                <a:cs typeface="Calibri" pitchFamily="34" charset="-120"/>
              </a:rPr>
              <a:t>03  THE DASHBOARD</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indent="0" marL="0">
              <a:buNone/>
            </a:pPr>
            <a:r>
              <a:rPr lang="en-US" sz="2500" b="1" dirty="0">
                <a:solidFill>
                  <a:srgbClr val="17233D"/>
                </a:solidFill>
                <a:latin typeface="Cambria" pitchFamily="34" charset="0"/>
                <a:ea typeface="Cambria" pitchFamily="34" charset="-122"/>
                <a:cs typeface="Cambria" pitchFamily="34" charset="-120"/>
              </a:rPr>
              <a:t>Page 3  |  Care provider quality across the county</a:t>
            </a:r>
            <a:endParaRPr lang="en-US" sz="2500" dirty="0"/>
          </a:p>
        </p:txBody>
      </p:sp>
      <p:pic>
        <p:nvPicPr>
          <p:cNvPr id="6" name="Image 1" descr="/home/claude/screenshots_v2/providers_v2.png">    </p:cNvPr>
          <p:cNvPicPr>
            <a:picLocks noChangeAspect="1"/>
          </p:cNvPicPr>
          <p:nvPr/>
        </p:nvPicPr>
        <p:blipFill>
          <a:blip r:embed="rId2"/>
          <a:srcRect l="0" r="0" t="0" b="0"/>
          <a:stretch/>
        </p:blipFill>
        <p:spPr>
          <a:xfrm>
            <a:off x="640080" y="1417320"/>
            <a:ext cx="7132320" cy="4041648"/>
          </a:xfrm>
          <a:prstGeom prst="rect">
            <a:avLst/>
          </a:prstGeom>
        </p:spPr>
      </p:pic>
      <p:sp>
        <p:nvSpPr>
          <p:cNvPr id="7" name="Shape 3"/>
          <p:cNvSpPr/>
          <p:nvPr/>
        </p:nvSpPr>
        <p:spPr>
          <a:xfrm>
            <a:off x="640080" y="1417320"/>
            <a:ext cx="7132320" cy="4041648"/>
          </a:xfrm>
          <a:prstGeom prst="rect">
            <a:avLst/>
          </a:prstGeom>
          <a:ln w="12700">
            <a:solidFill>
              <a:srgbClr val="E2E8F0"/>
            </a:solidFill>
            <a:prstDash val="solid"/>
          </a:ln>
        </p:spPr>
      </p:sp>
      <p:sp>
        <p:nvSpPr>
          <p:cNvPr id="8" name="Shape 4"/>
          <p:cNvSpPr/>
          <p:nvPr/>
        </p:nvSpPr>
        <p:spPr>
          <a:xfrm>
            <a:off x="640080" y="5532120"/>
            <a:ext cx="7132320" cy="685800"/>
          </a:xfrm>
          <a:prstGeom prst="roundRect">
            <a:avLst>
              <a:gd name="adj" fmla="val 8000"/>
            </a:avLst>
          </a:prstGeom>
          <a:solidFill>
            <a:srgbClr val="17233D"/>
          </a:solidFill>
          <a:ln/>
        </p:spPr>
      </p:sp>
      <p:sp>
        <p:nvSpPr>
          <p:cNvPr id="9" name="Text 5"/>
          <p:cNvSpPr/>
          <p:nvPr/>
        </p:nvSpPr>
        <p:spPr>
          <a:xfrm>
            <a:off x="914400" y="5532120"/>
            <a:ext cx="6675120" cy="685800"/>
          </a:xfrm>
          <a:prstGeom prst="rect">
            <a:avLst/>
          </a:prstGeom>
          <a:noFill/>
          <a:ln/>
        </p:spPr>
        <p:txBody>
          <a:bodyPr wrap="square" rtlCol="0" anchor="ctr"/>
          <a:lstStyle/>
          <a:p>
            <a:pPr indent="0" marL="0">
              <a:buNone/>
            </a:pPr>
            <a:r>
              <a:rPr lang="en-US" sz="1400" b="1" dirty="0">
                <a:solidFill>
                  <a:srgbClr val="6FD8D2"/>
                </a:solidFill>
                <a:latin typeface="Calibri" pitchFamily="34" charset="0"/>
                <a:ea typeface="Calibri" pitchFamily="34" charset="-122"/>
                <a:cs typeface="Calibri" pitchFamily="34" charset="-120"/>
              </a:rPr>
              <a:t>259 rated homes  |  77.2% </a:t>
            </a:r>
            <a:pPr indent="0" marL="0">
              <a:buNone/>
            </a:pPr>
            <a:r>
              <a:rPr lang="en-US" sz="1150" dirty="0">
                <a:solidFill>
                  <a:srgbClr val="D5DEEC"/>
                </a:solidFill>
                <a:latin typeface="Calibri" pitchFamily="34" charset="0"/>
                <a:ea typeface="Calibri" pitchFamily="34" charset="-122"/>
                <a:cs typeface="Calibri" pitchFamily="34" charset="-120"/>
              </a:rPr>
              <a:t>good or outstanding, vs 81.7% England (ASCOF 6B)</a:t>
            </a:r>
            <a:endParaRPr lang="en-US" sz="1400" dirty="0"/>
          </a:p>
        </p:txBody>
      </p:sp>
      <p:sp>
        <p:nvSpPr>
          <p:cNvPr id="10" name="Text 6"/>
          <p:cNvSpPr/>
          <p:nvPr/>
        </p:nvSpPr>
        <p:spPr>
          <a:xfrm>
            <a:off x="8001000" y="1463040"/>
            <a:ext cx="3520440" cy="548640"/>
          </a:xfrm>
          <a:prstGeom prst="rect">
            <a:avLst/>
          </a:prstGeom>
          <a:noFill/>
          <a:ln/>
        </p:spPr>
        <p:txBody>
          <a:bodyPr wrap="square" rtlCol="0" anchor="ctr"/>
          <a:lstStyle/>
          <a:p>
            <a:pPr indent="0" marL="0">
              <a:buNone/>
            </a:pPr>
            <a:r>
              <a:rPr lang="en-US" sz="1400" b="1" dirty="0">
                <a:solidFill>
                  <a:srgbClr val="17233D"/>
                </a:solidFill>
                <a:latin typeface="Calibri" pitchFamily="34" charset="0"/>
                <a:ea typeface="Calibri" pitchFamily="34" charset="-122"/>
                <a:cs typeface="Calibri" pitchFamily="34" charset="-120"/>
              </a:rPr>
              <a:t>Built from the CQC care directory</a:t>
            </a:r>
            <a:endParaRPr lang="en-US" sz="1400" dirty="0"/>
          </a:p>
        </p:txBody>
      </p:sp>
      <p:sp>
        <p:nvSpPr>
          <p:cNvPr id="11" name="Shape 7"/>
          <p:cNvSpPr/>
          <p:nvPr/>
        </p:nvSpPr>
        <p:spPr>
          <a:xfrm>
            <a:off x="8001000" y="1965960"/>
            <a:ext cx="457200" cy="457200"/>
          </a:xfrm>
          <a:prstGeom prst="ellipse">
            <a:avLst/>
          </a:prstGeom>
          <a:solidFill>
            <a:srgbClr val="0E8C86"/>
          </a:solidFill>
          <a:ln/>
        </p:spPr>
      </p:sp>
      <p:pic>
        <p:nvPicPr>
          <p:cNvPr id="12" name="Image 2" descr="preencoded.png">    </p:cNvPr>
          <p:cNvPicPr>
            <a:picLocks noChangeAspect="1"/>
          </p:cNvPicPr>
          <p:nvPr/>
        </p:nvPicPr>
        <p:blipFill>
          <a:blip r:embed="rId3"/>
          <a:stretch>
            <a:fillRect/>
          </a:stretch>
        </p:blipFill>
        <p:spPr>
          <a:xfrm>
            <a:off x="8119872" y="2084832"/>
            <a:ext cx="219456" cy="219456"/>
          </a:xfrm>
          <a:prstGeom prst="rect">
            <a:avLst/>
          </a:prstGeom>
        </p:spPr>
      </p:pic>
      <p:sp>
        <p:nvSpPr>
          <p:cNvPr id="13" name="Text 8"/>
          <p:cNvSpPr/>
          <p:nvPr/>
        </p:nvSpPr>
        <p:spPr>
          <a:xfrm>
            <a:off x="8595360" y="1947672"/>
            <a:ext cx="2926080" cy="292608"/>
          </a:xfrm>
          <a:prstGeom prst="rect">
            <a:avLst/>
          </a:prstGeom>
          <a:noFill/>
          <a:ln/>
        </p:spPr>
        <p:txBody>
          <a:bodyPr wrap="square" rtlCol="0" anchor="ctr"/>
          <a:lstStyle/>
          <a:p>
            <a:pPr indent="0" marL="0">
              <a:buNone/>
            </a:pPr>
            <a:r>
              <a:rPr lang="en-US" sz="1300" b="1" dirty="0">
                <a:solidFill>
                  <a:srgbClr val="17233D"/>
                </a:solidFill>
                <a:latin typeface="Calibri" pitchFamily="34" charset="0"/>
                <a:ea typeface="Calibri" pitchFamily="34" charset="-122"/>
                <a:cs typeface="Calibri" pitchFamily="34" charset="-120"/>
              </a:rPr>
              <a:t>Quality</a:t>
            </a:r>
            <a:endParaRPr lang="en-US" sz="1300" dirty="0"/>
          </a:p>
        </p:txBody>
      </p:sp>
      <p:sp>
        <p:nvSpPr>
          <p:cNvPr id="14" name="Text 9"/>
          <p:cNvSpPr/>
          <p:nvPr/>
        </p:nvSpPr>
        <p:spPr>
          <a:xfrm>
            <a:off x="8595360" y="2258568"/>
            <a:ext cx="2971800" cy="777240"/>
          </a:xfrm>
          <a:prstGeom prst="rect">
            <a:avLst/>
          </a:prstGeom>
          <a:noFill/>
          <a:ln/>
        </p:spPr>
        <p:txBody>
          <a:bodyPr wrap="square" rtlCol="0" anchor="ctr"/>
          <a:lstStyle/>
          <a:p>
            <a:pPr indent="0" marL="0">
              <a:lnSpc>
                <a:spcPts val="1350"/>
              </a:lnSpc>
              <a:buNone/>
            </a:pPr>
            <a:r>
              <a:rPr lang="en-US" sz="1100" dirty="0">
                <a:solidFill>
                  <a:srgbClr val="64748B"/>
                </a:solidFill>
                <a:latin typeface="Calibri" pitchFamily="34" charset="0"/>
                <a:ea typeface="Calibri" pitchFamily="34" charset="-122"/>
                <a:cs typeface="Calibri" pitchFamily="34" charset="-120"/>
              </a:rPr>
              <a:t>259 rated Lincolnshire care homes: 184 Good, 16 Outstanding, 56 Requires Improvement, 3 Inadequate.</a:t>
            </a:r>
            <a:endParaRPr lang="en-US" sz="1100" dirty="0"/>
          </a:p>
        </p:txBody>
      </p:sp>
      <p:sp>
        <p:nvSpPr>
          <p:cNvPr id="15" name="Shape 10"/>
          <p:cNvSpPr/>
          <p:nvPr/>
        </p:nvSpPr>
        <p:spPr>
          <a:xfrm>
            <a:off x="8001000" y="3200400"/>
            <a:ext cx="457200" cy="457200"/>
          </a:xfrm>
          <a:prstGeom prst="ellipse">
            <a:avLst/>
          </a:prstGeom>
          <a:solidFill>
            <a:srgbClr val="0E8C86"/>
          </a:solidFill>
          <a:ln/>
        </p:spPr>
      </p:sp>
      <p:pic>
        <p:nvPicPr>
          <p:cNvPr id="16" name="Image 3" descr="preencoded.png">    </p:cNvPr>
          <p:cNvPicPr>
            <a:picLocks noChangeAspect="1"/>
          </p:cNvPicPr>
          <p:nvPr/>
        </p:nvPicPr>
        <p:blipFill>
          <a:blip r:embed="rId4"/>
          <a:stretch>
            <a:fillRect/>
          </a:stretch>
        </p:blipFill>
        <p:spPr>
          <a:xfrm>
            <a:off x="8119872" y="3319272"/>
            <a:ext cx="219456" cy="219456"/>
          </a:xfrm>
          <a:prstGeom prst="rect">
            <a:avLst/>
          </a:prstGeom>
        </p:spPr>
      </p:pic>
      <p:sp>
        <p:nvSpPr>
          <p:cNvPr id="17" name="Text 11"/>
          <p:cNvSpPr/>
          <p:nvPr/>
        </p:nvSpPr>
        <p:spPr>
          <a:xfrm>
            <a:off x="8595360" y="3182112"/>
            <a:ext cx="2926080" cy="292608"/>
          </a:xfrm>
          <a:prstGeom prst="rect">
            <a:avLst/>
          </a:prstGeom>
          <a:noFill/>
          <a:ln/>
        </p:spPr>
        <p:txBody>
          <a:bodyPr wrap="square" rtlCol="0" anchor="ctr"/>
          <a:lstStyle/>
          <a:p>
            <a:pPr indent="0" marL="0">
              <a:buNone/>
            </a:pPr>
            <a:r>
              <a:rPr lang="en-US" sz="1300" b="1" dirty="0">
                <a:solidFill>
                  <a:srgbClr val="17233D"/>
                </a:solidFill>
                <a:latin typeface="Calibri" pitchFamily="34" charset="0"/>
                <a:ea typeface="Calibri" pitchFamily="34" charset="-122"/>
                <a:cs typeface="Calibri" pitchFamily="34" charset="-120"/>
              </a:rPr>
              <a:t>Geography</a:t>
            </a:r>
            <a:endParaRPr lang="en-US" sz="1300" dirty="0"/>
          </a:p>
        </p:txBody>
      </p:sp>
      <p:sp>
        <p:nvSpPr>
          <p:cNvPr id="18" name="Text 12"/>
          <p:cNvSpPr/>
          <p:nvPr/>
        </p:nvSpPr>
        <p:spPr>
          <a:xfrm>
            <a:off x="8595360" y="3493008"/>
            <a:ext cx="2971800" cy="777240"/>
          </a:xfrm>
          <a:prstGeom prst="rect">
            <a:avLst/>
          </a:prstGeom>
          <a:noFill/>
          <a:ln/>
        </p:spPr>
        <p:txBody>
          <a:bodyPr wrap="square" rtlCol="0" anchor="ctr"/>
          <a:lstStyle/>
          <a:p>
            <a:pPr indent="0" marL="0">
              <a:lnSpc>
                <a:spcPts val="1350"/>
              </a:lnSpc>
              <a:buNone/>
            </a:pPr>
            <a:r>
              <a:rPr lang="en-US" sz="1100" dirty="0">
                <a:solidFill>
                  <a:srgbClr val="64748B"/>
                </a:solidFill>
                <a:latin typeface="Calibri" pitchFamily="34" charset="0"/>
                <a:ea typeface="Calibri" pitchFamily="34" charset="-122"/>
                <a:cs typeface="Calibri" pitchFamily="34" charset="-120"/>
              </a:rPr>
              <a:t>Mapped by postcode, so clusters of weaker-rated homes are visible at a glance.</a:t>
            </a:r>
            <a:endParaRPr lang="en-US" sz="1100" dirty="0"/>
          </a:p>
        </p:txBody>
      </p:sp>
      <p:sp>
        <p:nvSpPr>
          <p:cNvPr id="19" name="Shape 13"/>
          <p:cNvSpPr/>
          <p:nvPr/>
        </p:nvSpPr>
        <p:spPr>
          <a:xfrm>
            <a:off x="8001000" y="4434840"/>
            <a:ext cx="457200" cy="457200"/>
          </a:xfrm>
          <a:prstGeom prst="ellipse">
            <a:avLst/>
          </a:prstGeom>
          <a:solidFill>
            <a:srgbClr val="0E8C86"/>
          </a:solidFill>
          <a:ln/>
        </p:spPr>
      </p:sp>
      <p:pic>
        <p:nvPicPr>
          <p:cNvPr id="20" name="Image 4" descr="preencoded.png">    </p:cNvPr>
          <p:cNvPicPr>
            <a:picLocks noChangeAspect="1"/>
          </p:cNvPicPr>
          <p:nvPr/>
        </p:nvPicPr>
        <p:blipFill>
          <a:blip r:embed="rId5"/>
          <a:stretch>
            <a:fillRect/>
          </a:stretch>
        </p:blipFill>
        <p:spPr>
          <a:xfrm>
            <a:off x="8119872" y="4553712"/>
            <a:ext cx="219456" cy="219456"/>
          </a:xfrm>
          <a:prstGeom prst="rect">
            <a:avLst/>
          </a:prstGeom>
        </p:spPr>
      </p:pic>
      <p:sp>
        <p:nvSpPr>
          <p:cNvPr id="21" name="Text 14"/>
          <p:cNvSpPr/>
          <p:nvPr/>
        </p:nvSpPr>
        <p:spPr>
          <a:xfrm>
            <a:off x="8595360" y="4416552"/>
            <a:ext cx="2926080" cy="292608"/>
          </a:xfrm>
          <a:prstGeom prst="rect">
            <a:avLst/>
          </a:prstGeom>
          <a:noFill/>
          <a:ln/>
        </p:spPr>
        <p:txBody>
          <a:bodyPr wrap="square" rtlCol="0" anchor="ctr"/>
          <a:lstStyle/>
          <a:p>
            <a:pPr indent="0" marL="0">
              <a:buNone/>
            </a:pPr>
            <a:r>
              <a:rPr lang="en-US" sz="1300" b="1" dirty="0">
                <a:solidFill>
                  <a:srgbClr val="17233D"/>
                </a:solidFill>
                <a:latin typeface="Calibri" pitchFamily="34" charset="0"/>
                <a:ea typeface="Calibri" pitchFamily="34" charset="-122"/>
                <a:cs typeface="Calibri" pitchFamily="34" charset="-120"/>
              </a:rPr>
              <a:t>Why this matters for planning</a:t>
            </a:r>
            <a:endParaRPr lang="en-US" sz="1300" dirty="0"/>
          </a:p>
        </p:txBody>
      </p:sp>
      <p:sp>
        <p:nvSpPr>
          <p:cNvPr id="22" name="Text 15"/>
          <p:cNvSpPr/>
          <p:nvPr/>
        </p:nvSpPr>
        <p:spPr>
          <a:xfrm>
            <a:off x="8595360" y="4727448"/>
            <a:ext cx="2971800" cy="777240"/>
          </a:xfrm>
          <a:prstGeom prst="rect">
            <a:avLst/>
          </a:prstGeom>
          <a:noFill/>
          <a:ln/>
        </p:spPr>
        <p:txBody>
          <a:bodyPr wrap="square" rtlCol="0" anchor="ctr"/>
          <a:lstStyle/>
          <a:p>
            <a:pPr indent="0" marL="0">
              <a:lnSpc>
                <a:spcPts val="1350"/>
              </a:lnSpc>
              <a:buNone/>
            </a:pPr>
            <a:r>
              <a:rPr lang="en-US" sz="1100" dirty="0">
                <a:solidFill>
                  <a:srgbClr val="64748B"/>
                </a:solidFill>
                <a:latin typeface="Calibri" pitchFamily="34" charset="0"/>
                <a:ea typeface="Calibri" pitchFamily="34" charset="-122"/>
                <a:cs typeface="Calibri" pitchFamily="34" charset="-120"/>
              </a:rPr>
              <a:t>Links to Page 1, so you can see care quality alongside where demand is highest.</a:t>
            </a:r>
            <a:endParaRPr lang="en-US" sz="1100" dirty="0"/>
          </a:p>
        </p:txBody>
      </p:sp>
      <p:sp>
        <p:nvSpPr>
          <p:cNvPr id="23" name="Text 16"/>
          <p:cNvSpPr/>
          <p:nvPr/>
        </p:nvSpPr>
        <p:spPr>
          <a:xfrm>
            <a:off x="11155680" y="6400800"/>
            <a:ext cx="5486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06</a:t>
            </a:r>
            <a:endParaRPr lang="en-US" sz="1000" dirty="0"/>
          </a:p>
        </p:txBody>
      </p:sp>
      <p:sp>
        <p:nvSpPr>
          <p:cNvPr id="24" name="Text 17"/>
          <p:cNvSpPr/>
          <p:nvPr/>
        </p:nvSpPr>
        <p:spPr>
          <a:xfrm>
            <a:off x="640080" y="6400800"/>
            <a:ext cx="64008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sx="100000" sy="100000" kx="0" ky="0" algn="bl" rotWithShape="0" blurRad="889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indent="0" marL="0">
              <a:buNone/>
            </a:pPr>
            <a:r>
              <a:rPr lang="en-US" sz="1100" b="1" spc="200" kern="0" dirty="0">
                <a:solidFill>
                  <a:srgbClr val="0E8C86"/>
                </a:solidFill>
                <a:latin typeface="Calibri" pitchFamily="34" charset="0"/>
                <a:ea typeface="Calibri" pitchFamily="34" charset="-122"/>
                <a:cs typeface="Calibri" pitchFamily="34" charset="-120"/>
              </a:rPr>
              <a:t>04  MANAGING THE WORK</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indent="0" marL="0">
              <a:buNone/>
            </a:pPr>
            <a:r>
              <a:rPr lang="en-US" sz="2500" b="1" dirty="0">
                <a:solidFill>
                  <a:srgbClr val="17233D"/>
                </a:solidFill>
                <a:latin typeface="Cambria" pitchFamily="34" charset="0"/>
                <a:ea typeface="Cambria" pitchFamily="34" charset="-122"/>
                <a:cs typeface="Cambria" pitchFamily="34" charset="-120"/>
              </a:rPr>
              <a:t>Delivering it end to end</a:t>
            </a:r>
            <a:endParaRPr lang="en-US" sz="2500" dirty="0"/>
          </a:p>
        </p:txBody>
      </p:sp>
      <p:sp>
        <p:nvSpPr>
          <p:cNvPr id="6" name="Shape 3"/>
          <p:cNvSpPr/>
          <p:nvPr/>
        </p:nvSpPr>
        <p:spPr>
          <a:xfrm>
            <a:off x="640080" y="1645920"/>
            <a:ext cx="3502152" cy="2514600"/>
          </a:xfrm>
          <a:prstGeom prst="roundRect">
            <a:avLst>
              <a:gd name="adj" fmla="val 2909"/>
            </a:avLst>
          </a:prstGeom>
          <a:solidFill>
            <a:srgbClr val="F5F8FB"/>
          </a:solidFill>
          <a:ln/>
          <a:effectLst>
            <a:outerShdw sx="100000" sy="100000" kx="0" ky="0" algn="bl" rotWithShape="0" blurRad="88900" dist="25400" dir="5400000">
              <a:srgbClr val="000000">
                <a:alpha val="12000"/>
              </a:srgbClr>
            </a:outerShdw>
          </a:effectLst>
        </p:spPr>
      </p:sp>
      <p:sp>
        <p:nvSpPr>
          <p:cNvPr id="7" name="Text 4"/>
          <p:cNvSpPr/>
          <p:nvPr/>
        </p:nvSpPr>
        <p:spPr>
          <a:xfrm>
            <a:off x="3227832" y="1783080"/>
            <a:ext cx="731520" cy="548640"/>
          </a:xfrm>
          <a:prstGeom prst="rect">
            <a:avLst/>
          </a:prstGeom>
          <a:noFill/>
          <a:ln/>
        </p:spPr>
        <p:txBody>
          <a:bodyPr wrap="square" rtlCol="0" anchor="ctr"/>
          <a:lstStyle/>
          <a:p>
            <a:pPr algn="r" indent="0" marL="0">
              <a:buNone/>
            </a:pPr>
            <a:r>
              <a:rPr lang="en-US" sz="3000" b="1" dirty="0">
                <a:solidFill>
                  <a:srgbClr val="CBD8E6"/>
                </a:solidFill>
                <a:latin typeface="Cambria" pitchFamily="34" charset="0"/>
                <a:ea typeface="Cambria" pitchFamily="34" charset="-122"/>
                <a:cs typeface="Cambria" pitchFamily="34" charset="-120"/>
              </a:rPr>
              <a:t>01</a:t>
            </a:r>
            <a:endParaRPr lang="en-US" sz="3000" dirty="0"/>
          </a:p>
        </p:txBody>
      </p:sp>
      <p:sp>
        <p:nvSpPr>
          <p:cNvPr id="8" name="Shape 5"/>
          <p:cNvSpPr/>
          <p:nvPr/>
        </p:nvSpPr>
        <p:spPr>
          <a:xfrm>
            <a:off x="914400" y="1920240"/>
            <a:ext cx="658368" cy="658368"/>
          </a:xfrm>
          <a:prstGeom prst="ellipse">
            <a:avLst/>
          </a:prstGeom>
          <a:solidFill>
            <a:srgbClr val="0E8C86"/>
          </a:solidFill>
          <a:ln/>
        </p:spPr>
      </p:sp>
      <p:pic>
        <p:nvPicPr>
          <p:cNvPr id="9" name="Image 1" descr="preencoded.png">    </p:cNvPr>
          <p:cNvPicPr>
            <a:picLocks noChangeAspect="1"/>
          </p:cNvPicPr>
          <p:nvPr/>
        </p:nvPicPr>
        <p:blipFill>
          <a:blip r:embed="rId2"/>
          <a:stretch>
            <a:fillRect/>
          </a:stretch>
        </p:blipFill>
        <p:spPr>
          <a:xfrm>
            <a:off x="1078992" y="2084832"/>
            <a:ext cx="329184" cy="329184"/>
          </a:xfrm>
          <a:prstGeom prst="rect">
            <a:avLst/>
          </a:prstGeom>
        </p:spPr>
      </p:pic>
      <p:sp>
        <p:nvSpPr>
          <p:cNvPr id="10" name="Text 6"/>
          <p:cNvSpPr/>
          <p:nvPr/>
        </p:nvSpPr>
        <p:spPr>
          <a:xfrm>
            <a:off x="932688" y="2697480"/>
            <a:ext cx="2953512" cy="365760"/>
          </a:xfrm>
          <a:prstGeom prst="rect">
            <a:avLst/>
          </a:prstGeom>
          <a:noFill/>
          <a:ln/>
        </p:spPr>
        <p:txBody>
          <a:bodyPr wrap="square" rtlCol="0" anchor="ctr"/>
          <a:lstStyle/>
          <a:p>
            <a:pPr indent="0" marL="0">
              <a:buNone/>
            </a:pPr>
            <a:r>
              <a:rPr lang="en-US" sz="1700" b="1" dirty="0">
                <a:solidFill>
                  <a:srgbClr val="17233D"/>
                </a:solidFill>
                <a:latin typeface="Calibri" pitchFamily="34" charset="0"/>
                <a:ea typeface="Calibri" pitchFamily="34" charset="-122"/>
                <a:cs typeface="Calibri" pitchFamily="34" charset="-120"/>
              </a:rPr>
              <a:t>Scoped</a:t>
            </a:r>
            <a:endParaRPr lang="en-US" sz="1700" dirty="0"/>
          </a:p>
        </p:txBody>
      </p:sp>
      <p:sp>
        <p:nvSpPr>
          <p:cNvPr id="11" name="Text 7"/>
          <p:cNvSpPr/>
          <p:nvPr/>
        </p:nvSpPr>
        <p:spPr>
          <a:xfrm>
            <a:off x="932688" y="3108960"/>
            <a:ext cx="2999232" cy="960120"/>
          </a:xfrm>
          <a:prstGeom prst="rect">
            <a:avLst/>
          </a:prstGeom>
          <a:noFill/>
          <a:ln/>
        </p:spPr>
        <p:txBody>
          <a:bodyPr wrap="square" rtlCol="0" anchor="t"/>
          <a:lstStyle/>
          <a:p>
            <a:pPr indent="0" marL="0">
              <a:lnSpc>
                <a:spcPts val="1500"/>
              </a:lnSpc>
              <a:buNone/>
            </a:pPr>
            <a:r>
              <a:rPr lang="en-US" sz="1200" dirty="0">
                <a:solidFill>
                  <a:srgbClr val="64748B"/>
                </a:solidFill>
                <a:latin typeface="Calibri" pitchFamily="34" charset="0"/>
                <a:ea typeface="Calibri" pitchFamily="34" charset="-122"/>
                <a:cs typeface="Calibri" pitchFamily="34" charset="-120"/>
              </a:rPr>
              <a:t>Agreed the three questions the dashboard had to answer, then worked back to the data each one needed.</a:t>
            </a:r>
            <a:endParaRPr lang="en-US" sz="1200" dirty="0"/>
          </a:p>
        </p:txBody>
      </p:sp>
      <p:sp>
        <p:nvSpPr>
          <p:cNvPr id="12" name="Shape 8"/>
          <p:cNvSpPr/>
          <p:nvPr/>
        </p:nvSpPr>
        <p:spPr>
          <a:xfrm>
            <a:off x="4416552" y="1645920"/>
            <a:ext cx="3502152" cy="2514600"/>
          </a:xfrm>
          <a:prstGeom prst="roundRect">
            <a:avLst>
              <a:gd name="adj" fmla="val 2909"/>
            </a:avLst>
          </a:prstGeom>
          <a:solidFill>
            <a:srgbClr val="F5F8FB"/>
          </a:solidFill>
          <a:ln/>
          <a:effectLst>
            <a:outerShdw sx="100000" sy="100000" kx="0" ky="0" algn="bl" rotWithShape="0" blurRad="88900" dist="25400" dir="5400000">
              <a:srgbClr val="000000">
                <a:alpha val="12000"/>
              </a:srgbClr>
            </a:outerShdw>
          </a:effectLst>
        </p:spPr>
      </p:sp>
      <p:sp>
        <p:nvSpPr>
          <p:cNvPr id="13" name="Text 9"/>
          <p:cNvSpPr/>
          <p:nvPr/>
        </p:nvSpPr>
        <p:spPr>
          <a:xfrm>
            <a:off x="7004304" y="1783080"/>
            <a:ext cx="731520" cy="548640"/>
          </a:xfrm>
          <a:prstGeom prst="rect">
            <a:avLst/>
          </a:prstGeom>
          <a:noFill/>
          <a:ln/>
        </p:spPr>
        <p:txBody>
          <a:bodyPr wrap="square" rtlCol="0" anchor="ctr"/>
          <a:lstStyle/>
          <a:p>
            <a:pPr algn="r" indent="0" marL="0">
              <a:buNone/>
            </a:pPr>
            <a:r>
              <a:rPr lang="en-US" sz="3000" b="1" dirty="0">
                <a:solidFill>
                  <a:srgbClr val="CBD8E6"/>
                </a:solidFill>
                <a:latin typeface="Cambria" pitchFamily="34" charset="0"/>
                <a:ea typeface="Cambria" pitchFamily="34" charset="-122"/>
                <a:cs typeface="Cambria" pitchFamily="34" charset="-120"/>
              </a:rPr>
              <a:t>02</a:t>
            </a:r>
            <a:endParaRPr lang="en-US" sz="3000" dirty="0"/>
          </a:p>
        </p:txBody>
      </p:sp>
      <p:sp>
        <p:nvSpPr>
          <p:cNvPr id="14" name="Shape 10"/>
          <p:cNvSpPr/>
          <p:nvPr/>
        </p:nvSpPr>
        <p:spPr>
          <a:xfrm>
            <a:off x="4690872" y="1920240"/>
            <a:ext cx="658368" cy="658368"/>
          </a:xfrm>
          <a:prstGeom prst="ellipse">
            <a:avLst/>
          </a:prstGeom>
          <a:solidFill>
            <a:srgbClr val="0E8C86"/>
          </a:solidFill>
          <a:ln/>
        </p:spPr>
      </p:sp>
      <p:pic>
        <p:nvPicPr>
          <p:cNvPr id="15" name="Image 2" descr="preencoded.png">    </p:cNvPr>
          <p:cNvPicPr>
            <a:picLocks noChangeAspect="1"/>
          </p:cNvPicPr>
          <p:nvPr/>
        </p:nvPicPr>
        <p:blipFill>
          <a:blip r:embed="rId3"/>
          <a:stretch>
            <a:fillRect/>
          </a:stretch>
        </p:blipFill>
        <p:spPr>
          <a:xfrm>
            <a:off x="4855464" y="2084832"/>
            <a:ext cx="329184" cy="329184"/>
          </a:xfrm>
          <a:prstGeom prst="rect">
            <a:avLst/>
          </a:prstGeom>
        </p:spPr>
      </p:pic>
      <p:sp>
        <p:nvSpPr>
          <p:cNvPr id="16" name="Text 11"/>
          <p:cNvSpPr/>
          <p:nvPr/>
        </p:nvSpPr>
        <p:spPr>
          <a:xfrm>
            <a:off x="4709160" y="2697480"/>
            <a:ext cx="2953512" cy="365760"/>
          </a:xfrm>
          <a:prstGeom prst="rect">
            <a:avLst/>
          </a:prstGeom>
          <a:noFill/>
          <a:ln/>
        </p:spPr>
        <p:txBody>
          <a:bodyPr wrap="square" rtlCol="0" anchor="ctr"/>
          <a:lstStyle/>
          <a:p>
            <a:pPr indent="0" marL="0">
              <a:buNone/>
            </a:pPr>
            <a:r>
              <a:rPr lang="en-US" sz="1700" b="1" dirty="0">
                <a:solidFill>
                  <a:srgbClr val="17233D"/>
                </a:solidFill>
                <a:latin typeface="Calibri" pitchFamily="34" charset="0"/>
                <a:ea typeface="Calibri" pitchFamily="34" charset="-122"/>
                <a:cs typeface="Calibri" pitchFamily="34" charset="-120"/>
              </a:rPr>
              <a:t>Prioritised</a:t>
            </a:r>
            <a:endParaRPr lang="en-US" sz="1700" dirty="0"/>
          </a:p>
        </p:txBody>
      </p:sp>
      <p:sp>
        <p:nvSpPr>
          <p:cNvPr id="17" name="Text 12"/>
          <p:cNvSpPr/>
          <p:nvPr/>
        </p:nvSpPr>
        <p:spPr>
          <a:xfrm>
            <a:off x="4709160" y="3108960"/>
            <a:ext cx="2999232" cy="960120"/>
          </a:xfrm>
          <a:prstGeom prst="rect">
            <a:avLst/>
          </a:prstGeom>
          <a:noFill/>
          <a:ln/>
        </p:spPr>
        <p:txBody>
          <a:bodyPr wrap="square" rtlCol="0" anchor="t"/>
          <a:lstStyle/>
          <a:p>
            <a:pPr indent="0" marL="0">
              <a:lnSpc>
                <a:spcPts val="1500"/>
              </a:lnSpc>
              <a:buNone/>
            </a:pPr>
            <a:r>
              <a:rPr lang="en-US" sz="1200" dirty="0">
                <a:solidFill>
                  <a:srgbClr val="64748B"/>
                </a:solidFill>
                <a:latin typeface="Calibri" pitchFamily="34" charset="0"/>
                <a:ea typeface="Calibri" pitchFamily="34" charset="-122"/>
                <a:cs typeface="Calibri" pitchFamily="34" charset="-120"/>
              </a:rPr>
              <a:t>Built the shared model and the demand page first, so there was something usable early, then layered outcomes and providers.</a:t>
            </a:r>
            <a:endParaRPr lang="en-US" sz="1200" dirty="0"/>
          </a:p>
        </p:txBody>
      </p:sp>
      <p:sp>
        <p:nvSpPr>
          <p:cNvPr id="18" name="Shape 13"/>
          <p:cNvSpPr/>
          <p:nvPr/>
        </p:nvSpPr>
        <p:spPr>
          <a:xfrm>
            <a:off x="8193024" y="1645920"/>
            <a:ext cx="3502152" cy="2514600"/>
          </a:xfrm>
          <a:prstGeom prst="roundRect">
            <a:avLst>
              <a:gd name="adj" fmla="val 2909"/>
            </a:avLst>
          </a:prstGeom>
          <a:solidFill>
            <a:srgbClr val="F5F8FB"/>
          </a:solidFill>
          <a:ln/>
          <a:effectLst>
            <a:outerShdw sx="100000" sy="100000" kx="0" ky="0" algn="bl" rotWithShape="0" blurRad="88900" dist="25400" dir="5400000">
              <a:srgbClr val="000000">
                <a:alpha val="12000"/>
              </a:srgbClr>
            </a:outerShdw>
          </a:effectLst>
        </p:spPr>
      </p:sp>
      <p:sp>
        <p:nvSpPr>
          <p:cNvPr id="19" name="Text 14"/>
          <p:cNvSpPr/>
          <p:nvPr/>
        </p:nvSpPr>
        <p:spPr>
          <a:xfrm>
            <a:off x="10780776" y="1783080"/>
            <a:ext cx="731520" cy="548640"/>
          </a:xfrm>
          <a:prstGeom prst="rect">
            <a:avLst/>
          </a:prstGeom>
          <a:noFill/>
          <a:ln/>
        </p:spPr>
        <p:txBody>
          <a:bodyPr wrap="square" rtlCol="0" anchor="ctr"/>
          <a:lstStyle/>
          <a:p>
            <a:pPr algn="r" indent="0" marL="0">
              <a:buNone/>
            </a:pPr>
            <a:r>
              <a:rPr lang="en-US" sz="3000" b="1" dirty="0">
                <a:solidFill>
                  <a:srgbClr val="CBD8E6"/>
                </a:solidFill>
                <a:latin typeface="Cambria" pitchFamily="34" charset="0"/>
                <a:ea typeface="Cambria" pitchFamily="34" charset="-122"/>
                <a:cs typeface="Cambria" pitchFamily="34" charset="-120"/>
              </a:rPr>
              <a:t>03</a:t>
            </a:r>
            <a:endParaRPr lang="en-US" sz="3000" dirty="0"/>
          </a:p>
        </p:txBody>
      </p:sp>
      <p:sp>
        <p:nvSpPr>
          <p:cNvPr id="20" name="Shape 15"/>
          <p:cNvSpPr/>
          <p:nvPr/>
        </p:nvSpPr>
        <p:spPr>
          <a:xfrm>
            <a:off x="8467344" y="1920240"/>
            <a:ext cx="658368" cy="658368"/>
          </a:xfrm>
          <a:prstGeom prst="ellipse">
            <a:avLst/>
          </a:prstGeom>
          <a:solidFill>
            <a:srgbClr val="0E8C86"/>
          </a:solidFill>
          <a:ln/>
        </p:spPr>
      </p:sp>
      <p:pic>
        <p:nvPicPr>
          <p:cNvPr id="21" name="Image 3" descr="preencoded.png">    </p:cNvPr>
          <p:cNvPicPr>
            <a:picLocks noChangeAspect="1"/>
          </p:cNvPicPr>
          <p:nvPr/>
        </p:nvPicPr>
        <p:blipFill>
          <a:blip r:embed="rId4"/>
          <a:stretch>
            <a:fillRect/>
          </a:stretch>
        </p:blipFill>
        <p:spPr>
          <a:xfrm>
            <a:off x="8631936" y="2084832"/>
            <a:ext cx="329184" cy="329184"/>
          </a:xfrm>
          <a:prstGeom prst="rect">
            <a:avLst/>
          </a:prstGeom>
        </p:spPr>
      </p:pic>
      <p:sp>
        <p:nvSpPr>
          <p:cNvPr id="22" name="Text 16"/>
          <p:cNvSpPr/>
          <p:nvPr/>
        </p:nvSpPr>
        <p:spPr>
          <a:xfrm>
            <a:off x="8485632" y="2697480"/>
            <a:ext cx="2953512" cy="365760"/>
          </a:xfrm>
          <a:prstGeom prst="rect">
            <a:avLst/>
          </a:prstGeom>
          <a:noFill/>
          <a:ln/>
        </p:spPr>
        <p:txBody>
          <a:bodyPr wrap="square" rtlCol="0" anchor="ctr"/>
          <a:lstStyle/>
          <a:p>
            <a:pPr indent="0" marL="0">
              <a:buNone/>
            </a:pPr>
            <a:r>
              <a:rPr lang="en-US" sz="1700" b="1" dirty="0">
                <a:solidFill>
                  <a:srgbClr val="17233D"/>
                </a:solidFill>
                <a:latin typeface="Calibri" pitchFamily="34" charset="0"/>
                <a:ea typeface="Calibri" pitchFamily="34" charset="-122"/>
                <a:cs typeface="Calibri" pitchFamily="34" charset="-120"/>
              </a:rPr>
              <a:t>Delivered</a:t>
            </a:r>
            <a:endParaRPr lang="en-US" sz="1700" dirty="0"/>
          </a:p>
        </p:txBody>
      </p:sp>
      <p:sp>
        <p:nvSpPr>
          <p:cNvPr id="23" name="Text 17"/>
          <p:cNvSpPr/>
          <p:nvPr/>
        </p:nvSpPr>
        <p:spPr>
          <a:xfrm>
            <a:off x="8485632" y="3108960"/>
            <a:ext cx="2999232" cy="960120"/>
          </a:xfrm>
          <a:prstGeom prst="rect">
            <a:avLst/>
          </a:prstGeom>
          <a:noFill/>
          <a:ln/>
        </p:spPr>
        <p:txBody>
          <a:bodyPr wrap="square" rtlCol="0" anchor="t"/>
          <a:lstStyle/>
          <a:p>
            <a:pPr indent="0" marL="0">
              <a:lnSpc>
                <a:spcPts val="1500"/>
              </a:lnSpc>
              <a:buNone/>
            </a:pPr>
            <a:r>
              <a:rPr lang="en-US" sz="1200" dirty="0">
                <a:solidFill>
                  <a:srgbClr val="64748B"/>
                </a:solidFill>
                <a:latin typeface="Calibri" pitchFamily="34" charset="0"/>
                <a:ea typeface="Calibri" pitchFamily="34" charset="-122"/>
                <a:cs typeface="Calibri" pitchFamily="34" charset="-120"/>
              </a:rPr>
              <a:t>Three linked pages, checked against the published source figures, documented on GitHub.</a:t>
            </a:r>
            <a:endParaRPr lang="en-US" sz="1200" dirty="0"/>
          </a:p>
        </p:txBody>
      </p:sp>
      <p:sp>
        <p:nvSpPr>
          <p:cNvPr id="24" name="Shape 18"/>
          <p:cNvSpPr/>
          <p:nvPr/>
        </p:nvSpPr>
        <p:spPr>
          <a:xfrm>
            <a:off x="640080" y="4434840"/>
            <a:ext cx="10881360" cy="1600200"/>
          </a:xfrm>
          <a:prstGeom prst="roundRect">
            <a:avLst>
              <a:gd name="adj" fmla="val 4571"/>
            </a:avLst>
          </a:prstGeom>
          <a:solidFill>
            <a:srgbClr val="DCEEEC"/>
          </a:solidFill>
          <a:ln/>
          <a:effectLst>
            <a:outerShdw sx="100000" sy="100000" kx="0" ky="0" algn="bl" rotWithShape="0" blurRad="88900" dist="25400" dir="5400000">
              <a:srgbClr val="000000">
                <a:alpha val="12000"/>
              </a:srgbClr>
            </a:outerShdw>
          </a:effectLst>
        </p:spPr>
      </p:sp>
      <p:sp>
        <p:nvSpPr>
          <p:cNvPr id="25" name="Shape 19"/>
          <p:cNvSpPr/>
          <p:nvPr/>
        </p:nvSpPr>
        <p:spPr>
          <a:xfrm>
            <a:off x="960120" y="4892040"/>
            <a:ext cx="685800" cy="685800"/>
          </a:xfrm>
          <a:prstGeom prst="ellipse">
            <a:avLst/>
          </a:prstGeom>
          <a:solidFill>
            <a:srgbClr val="0E8C86"/>
          </a:solidFill>
          <a:ln/>
        </p:spPr>
      </p:sp>
      <p:pic>
        <p:nvPicPr>
          <p:cNvPr id="26" name="Image 4" descr="preencoded.png">    </p:cNvPr>
          <p:cNvPicPr>
            <a:picLocks noChangeAspect="1"/>
          </p:cNvPicPr>
          <p:nvPr/>
        </p:nvPicPr>
        <p:blipFill>
          <a:blip r:embed="rId5"/>
          <a:stretch>
            <a:fillRect/>
          </a:stretch>
        </p:blipFill>
        <p:spPr>
          <a:xfrm>
            <a:off x="1143000" y="5074920"/>
            <a:ext cx="329184" cy="329184"/>
          </a:xfrm>
          <a:prstGeom prst="rect">
            <a:avLst/>
          </a:prstGeom>
        </p:spPr>
      </p:pic>
      <p:sp>
        <p:nvSpPr>
          <p:cNvPr id="27" name="Text 20"/>
          <p:cNvSpPr/>
          <p:nvPr/>
        </p:nvSpPr>
        <p:spPr>
          <a:xfrm>
            <a:off x="1874520" y="4617720"/>
            <a:ext cx="9144000" cy="365760"/>
          </a:xfrm>
          <a:prstGeom prst="rect">
            <a:avLst/>
          </a:prstGeom>
          <a:noFill/>
          <a:ln/>
        </p:spPr>
        <p:txBody>
          <a:bodyPr wrap="square" rtlCol="0" anchor="ctr"/>
          <a:lstStyle/>
          <a:p>
            <a:pPr indent="0" marL="0">
              <a:buNone/>
            </a:pPr>
            <a:r>
              <a:rPr lang="en-US" sz="1600" b="1" dirty="0">
                <a:solidFill>
                  <a:srgbClr val="17233D"/>
                </a:solidFill>
                <a:latin typeface="Calibri" pitchFamily="34" charset="0"/>
                <a:ea typeface="Calibri" pitchFamily="34" charset="-122"/>
                <a:cs typeface="Calibri" pitchFamily="34" charset="-120"/>
              </a:rPr>
              <a:t>Managing people, not just data</a:t>
            </a:r>
            <a:endParaRPr lang="en-US" sz="1600" dirty="0"/>
          </a:p>
        </p:txBody>
      </p:sp>
      <p:sp>
        <p:nvSpPr>
          <p:cNvPr id="28" name="Text 21"/>
          <p:cNvSpPr/>
          <p:nvPr/>
        </p:nvSpPr>
        <p:spPr>
          <a:xfrm>
            <a:off x="1874520" y="5029200"/>
            <a:ext cx="9281160" cy="914400"/>
          </a:xfrm>
          <a:prstGeom prst="rect">
            <a:avLst/>
          </a:prstGeom>
          <a:noFill/>
          <a:ln/>
        </p:spPr>
        <p:txBody>
          <a:bodyPr wrap="square" rtlCol="0" anchor="t"/>
          <a:lstStyle/>
          <a:p>
            <a:pPr indent="0" marL="0">
              <a:lnSpc>
                <a:spcPts val="1700"/>
              </a:lnSpc>
              <a:buNone/>
            </a:pPr>
            <a:r>
              <a:rPr lang="en-US" sz="1300" dirty="0">
                <a:solidFill>
                  <a:srgbClr val="27455C"/>
                </a:solidFill>
                <a:latin typeface="Calibri" pitchFamily="34" charset="0"/>
                <a:ea typeface="Calibri" pitchFamily="34" charset="-122"/>
                <a:cs typeface="Calibri" pitchFamily="34" charset="-120"/>
              </a:rPr>
              <a:t>Alongside this I lead a shift team as a Team Leader, coordinating people under time pressure, briefing them clearly and holding standards. That is the same skill this role asks for: partnering with service teams across the council and keeping several work streams moving at once.</a:t>
            </a:r>
            <a:endParaRPr lang="en-US" sz="1300" dirty="0"/>
          </a:p>
        </p:txBody>
      </p:sp>
      <p:sp>
        <p:nvSpPr>
          <p:cNvPr id="29" name="Text 22"/>
          <p:cNvSpPr/>
          <p:nvPr/>
        </p:nvSpPr>
        <p:spPr>
          <a:xfrm>
            <a:off x="11155680" y="6400800"/>
            <a:ext cx="5486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07</a:t>
            </a:r>
            <a:endParaRPr lang="en-US" sz="1000" dirty="0"/>
          </a:p>
        </p:txBody>
      </p:sp>
      <p:sp>
        <p:nvSpPr>
          <p:cNvPr id="30" name="Text 23"/>
          <p:cNvSpPr/>
          <p:nvPr/>
        </p:nvSpPr>
        <p:spPr>
          <a:xfrm>
            <a:off x="640080" y="6400800"/>
            <a:ext cx="64008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sx="100000" sy="100000" kx="0" ky="0" algn="bl" rotWithShape="0" blurRad="889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indent="0" marL="0">
              <a:buNone/>
            </a:pPr>
            <a:r>
              <a:rPr lang="en-US" sz="1100" b="1" spc="200" kern="0" dirty="0">
                <a:solidFill>
                  <a:srgbClr val="0E8C86"/>
                </a:solidFill>
                <a:latin typeface="Calibri" pitchFamily="34" charset="0"/>
                <a:ea typeface="Calibri" pitchFamily="34" charset="-122"/>
                <a:cs typeface="Calibri" pitchFamily="34" charset="-120"/>
              </a:rPr>
              <a:t>05  COMMUNICATION</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indent="0" marL="0">
              <a:buNone/>
            </a:pPr>
            <a:r>
              <a:rPr lang="en-US" sz="2500" b="1" dirty="0">
                <a:solidFill>
                  <a:srgbClr val="17233D"/>
                </a:solidFill>
                <a:latin typeface="Cambria" pitchFamily="34" charset="0"/>
                <a:ea typeface="Cambria" pitchFamily="34" charset="-122"/>
                <a:cs typeface="Cambria" pitchFamily="34" charset="-120"/>
              </a:rPr>
              <a:t>Technical depth, plain-English delivery</a:t>
            </a:r>
            <a:endParaRPr lang="en-US" sz="2500" dirty="0"/>
          </a:p>
        </p:txBody>
      </p:sp>
      <p:sp>
        <p:nvSpPr>
          <p:cNvPr id="6" name="Shape 3"/>
          <p:cNvSpPr/>
          <p:nvPr/>
        </p:nvSpPr>
        <p:spPr>
          <a:xfrm>
            <a:off x="640080" y="1645920"/>
            <a:ext cx="5257800" cy="4114800"/>
          </a:xfrm>
          <a:prstGeom prst="roundRect">
            <a:avLst>
              <a:gd name="adj" fmla="val 1778"/>
            </a:avLst>
          </a:prstGeom>
          <a:solidFill>
            <a:srgbClr val="17233D"/>
          </a:solidFill>
          <a:ln/>
          <a:effectLst>
            <a:outerShdw sx="100000" sy="100000" kx="0" ky="0" algn="bl" rotWithShape="0" blurRad="88900" dist="25400" dir="5400000">
              <a:srgbClr val="000000">
                <a:alpha val="12000"/>
              </a:srgbClr>
            </a:outerShdw>
          </a:effectLst>
        </p:spPr>
      </p:sp>
      <p:sp>
        <p:nvSpPr>
          <p:cNvPr id="7" name="Shape 4"/>
          <p:cNvSpPr/>
          <p:nvPr/>
        </p:nvSpPr>
        <p:spPr>
          <a:xfrm>
            <a:off x="960120" y="1965960"/>
            <a:ext cx="640080" cy="640080"/>
          </a:xfrm>
          <a:prstGeom prst="ellipse">
            <a:avLst/>
          </a:prstGeom>
          <a:solidFill>
            <a:srgbClr val="0E8C86"/>
          </a:solidFill>
          <a:ln/>
        </p:spPr>
      </p:sp>
      <p:pic>
        <p:nvPicPr>
          <p:cNvPr id="8" name="Image 1" descr="preencoded.png">    </p:cNvPr>
          <p:cNvPicPr>
            <a:picLocks noChangeAspect="1"/>
          </p:cNvPicPr>
          <p:nvPr/>
        </p:nvPicPr>
        <p:blipFill>
          <a:blip r:embed="rId2"/>
          <a:stretch>
            <a:fillRect/>
          </a:stretch>
        </p:blipFill>
        <p:spPr>
          <a:xfrm>
            <a:off x="1124712" y="2130552"/>
            <a:ext cx="310896" cy="310896"/>
          </a:xfrm>
          <a:prstGeom prst="rect">
            <a:avLst/>
          </a:prstGeom>
        </p:spPr>
      </p:pic>
      <p:sp>
        <p:nvSpPr>
          <p:cNvPr id="9" name="Text 5"/>
          <p:cNvSpPr/>
          <p:nvPr/>
        </p:nvSpPr>
        <p:spPr>
          <a:xfrm>
            <a:off x="1783080" y="2084832"/>
            <a:ext cx="3931920" cy="41148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Under the bonnet</a:t>
            </a:r>
            <a:endParaRPr lang="en-US" sz="1800" dirty="0"/>
          </a:p>
        </p:txBody>
      </p:sp>
      <p:sp>
        <p:nvSpPr>
          <p:cNvPr id="10" name="Text 6"/>
          <p:cNvSpPr/>
          <p:nvPr/>
        </p:nvSpPr>
        <p:spPr>
          <a:xfrm>
            <a:off x="1097280" y="2880360"/>
            <a:ext cx="4434840" cy="2651760"/>
          </a:xfrm>
          <a:prstGeom prst="rect">
            <a:avLst/>
          </a:prstGeom>
          <a:noFill/>
          <a:ln/>
        </p:spPr>
        <p:txBody>
          <a:bodyPr wrap="square" rtlCol="0" anchor="t"/>
          <a:lstStyle/>
          <a:p>
            <a:pPr marL="342900" indent="-342900">
              <a:lnSpc>
                <a:spcPts val="1900"/>
              </a:lnSpc>
              <a:spcAft>
                <a:spcPts val="900"/>
              </a:spcAft>
              <a:buSzPct val="100000"/>
              <a:buChar char="•"/>
            </a:pPr>
            <a:r>
              <a:rPr lang="en-US" sz="1400" dirty="0">
                <a:solidFill>
                  <a:srgbClr val="D5DEEC"/>
                </a:solidFill>
                <a:latin typeface="Calibri" pitchFamily="34" charset="0"/>
                <a:ea typeface="Calibri" pitchFamily="34" charset="-122"/>
                <a:cs typeface="Calibri" pitchFamily="34" charset="-120"/>
              </a:rPr>
              <a:t>SQL and Python to clean and join three sources</a:t>
            </a:r>
            <a:endParaRPr lang="en-US" sz="1400" dirty="0"/>
          </a:p>
          <a:p>
            <a:pPr marL="342900" indent="-342900">
              <a:lnSpc>
                <a:spcPts val="1900"/>
              </a:lnSpc>
              <a:spcAft>
                <a:spcPts val="900"/>
              </a:spcAft>
              <a:buSzPct val="100000"/>
              <a:buChar char="•"/>
            </a:pPr>
            <a:r>
              <a:rPr lang="en-US" sz="1400" dirty="0">
                <a:solidFill>
                  <a:srgbClr val="D5DEEC"/>
                </a:solidFill>
                <a:latin typeface="Calibri" pitchFamily="34" charset="0"/>
                <a:ea typeface="Calibri" pitchFamily="34" charset="-122"/>
                <a:cs typeface="Calibri" pitchFamily="34" charset="-120"/>
              </a:rPr>
              <a:t>One shared way of matching up area and time, not separate spreadsheets</a:t>
            </a:r>
            <a:endParaRPr lang="en-US" sz="1400" dirty="0"/>
          </a:p>
          <a:p>
            <a:pPr marL="342900" indent="-342900">
              <a:lnSpc>
                <a:spcPts val="1900"/>
              </a:lnSpc>
              <a:spcAft>
                <a:spcPts val="900"/>
              </a:spcAft>
              <a:buSzPct val="100000"/>
              <a:buChar char="•"/>
            </a:pPr>
            <a:r>
              <a:rPr lang="en-US" sz="1400" dirty="0">
                <a:solidFill>
                  <a:srgbClr val="D5DEEC"/>
                </a:solidFill>
                <a:latin typeface="Calibri" pitchFamily="34" charset="0"/>
                <a:ea typeface="Calibri" pitchFamily="34" charset="-122"/>
                <a:cs typeface="Calibri" pitchFamily="34" charset="-120"/>
              </a:rPr>
              <a:t>Formulas that work out rates and year-on-year change automatically</a:t>
            </a:r>
            <a:endParaRPr lang="en-US" sz="1400" dirty="0"/>
          </a:p>
          <a:p>
            <a:pPr marL="342900" indent="-342900">
              <a:lnSpc>
                <a:spcPts val="1900"/>
              </a:lnSpc>
              <a:buSzPct val="100000"/>
              <a:buChar char="•"/>
            </a:pPr>
            <a:r>
              <a:rPr lang="en-US" sz="1400" dirty="0">
                <a:solidFill>
                  <a:srgbClr val="D5DEEC"/>
                </a:solidFill>
                <a:latin typeface="Calibri" pitchFamily="34" charset="0"/>
                <a:ea typeface="Calibri" pitchFamily="34" charset="-122"/>
                <a:cs typeface="Calibri" pitchFamily="34" charset="-120"/>
              </a:rPr>
              <a:t>Saved and version-tracked on GitHub</a:t>
            </a:r>
            <a:endParaRPr lang="en-US" sz="1400" dirty="0"/>
          </a:p>
        </p:txBody>
      </p:sp>
      <p:sp>
        <p:nvSpPr>
          <p:cNvPr id="11" name="Shape 7"/>
          <p:cNvSpPr/>
          <p:nvPr/>
        </p:nvSpPr>
        <p:spPr>
          <a:xfrm>
            <a:off x="6263640" y="1645920"/>
            <a:ext cx="5257800" cy="4114800"/>
          </a:xfrm>
          <a:prstGeom prst="roundRect">
            <a:avLst>
              <a:gd name="adj" fmla="val 1778"/>
            </a:avLst>
          </a:prstGeom>
          <a:solidFill>
            <a:srgbClr val="F5F8FB"/>
          </a:solidFill>
          <a:ln w="12700">
            <a:solidFill>
              <a:srgbClr val="E2E8F0"/>
            </a:solidFill>
            <a:prstDash val="solid"/>
          </a:ln>
          <a:effectLst>
            <a:outerShdw sx="100000" sy="100000" kx="0" ky="0" algn="bl" rotWithShape="0" blurRad="88900" dist="25400" dir="5400000">
              <a:srgbClr val="000000">
                <a:alpha val="12000"/>
              </a:srgbClr>
            </a:outerShdw>
          </a:effectLst>
        </p:spPr>
      </p:sp>
      <p:sp>
        <p:nvSpPr>
          <p:cNvPr id="12" name="Shape 8"/>
          <p:cNvSpPr/>
          <p:nvPr/>
        </p:nvSpPr>
        <p:spPr>
          <a:xfrm>
            <a:off x="6583680" y="1965960"/>
            <a:ext cx="640080" cy="640080"/>
          </a:xfrm>
          <a:prstGeom prst="ellipse">
            <a:avLst/>
          </a:prstGeom>
          <a:solidFill>
            <a:srgbClr val="0E8C86"/>
          </a:solidFill>
          <a:ln/>
        </p:spPr>
      </p:sp>
      <p:pic>
        <p:nvPicPr>
          <p:cNvPr id="13" name="Image 2" descr="preencoded.png">    </p:cNvPr>
          <p:cNvPicPr>
            <a:picLocks noChangeAspect="1"/>
          </p:cNvPicPr>
          <p:nvPr/>
        </p:nvPicPr>
        <p:blipFill>
          <a:blip r:embed="rId3"/>
          <a:stretch>
            <a:fillRect/>
          </a:stretch>
        </p:blipFill>
        <p:spPr>
          <a:xfrm>
            <a:off x="6748272" y="2130552"/>
            <a:ext cx="310896" cy="310896"/>
          </a:xfrm>
          <a:prstGeom prst="rect">
            <a:avLst/>
          </a:prstGeom>
        </p:spPr>
      </p:pic>
      <p:sp>
        <p:nvSpPr>
          <p:cNvPr id="14" name="Text 9"/>
          <p:cNvSpPr/>
          <p:nvPr/>
        </p:nvSpPr>
        <p:spPr>
          <a:xfrm>
            <a:off x="7406640" y="2084832"/>
            <a:ext cx="3931920" cy="411480"/>
          </a:xfrm>
          <a:prstGeom prst="rect">
            <a:avLst/>
          </a:prstGeom>
          <a:noFill/>
          <a:ln/>
        </p:spPr>
        <p:txBody>
          <a:bodyPr wrap="square" rtlCol="0" anchor="ctr"/>
          <a:lstStyle/>
          <a:p>
            <a:pPr indent="0" marL="0">
              <a:buNone/>
            </a:pPr>
            <a:r>
              <a:rPr lang="en-US" sz="1800" b="1" dirty="0">
                <a:solidFill>
                  <a:srgbClr val="17233D"/>
                </a:solidFill>
                <a:latin typeface="Calibri" pitchFamily="34" charset="0"/>
                <a:ea typeface="Calibri" pitchFamily="34" charset="-122"/>
                <a:cs typeface="Calibri" pitchFamily="34" charset="-120"/>
              </a:rPr>
              <a:t>What the reader sees</a:t>
            </a:r>
            <a:endParaRPr lang="en-US" sz="1800" dirty="0"/>
          </a:p>
        </p:txBody>
      </p:sp>
      <p:sp>
        <p:nvSpPr>
          <p:cNvPr id="15" name="Text 10"/>
          <p:cNvSpPr/>
          <p:nvPr/>
        </p:nvSpPr>
        <p:spPr>
          <a:xfrm>
            <a:off x="6720840" y="2880360"/>
            <a:ext cx="4434840" cy="2651760"/>
          </a:xfrm>
          <a:prstGeom prst="rect">
            <a:avLst/>
          </a:prstGeom>
          <a:noFill/>
          <a:ln/>
        </p:spPr>
        <p:txBody>
          <a:bodyPr wrap="square" rtlCol="0" anchor="t"/>
          <a:lstStyle/>
          <a:p>
            <a:pPr marL="342900" indent="-342900">
              <a:lnSpc>
                <a:spcPts val="1900"/>
              </a:lnSpc>
              <a:spcAft>
                <a:spcPts val="900"/>
              </a:spcAft>
              <a:buSzPct val="100000"/>
              <a:buChar char="•"/>
            </a:pPr>
            <a:r>
              <a:rPr lang="en-US" sz="1400" dirty="0">
                <a:solidFill>
                  <a:srgbClr val="1E293B"/>
                </a:solidFill>
                <a:latin typeface="Calibri" pitchFamily="34" charset="0"/>
                <a:ea typeface="Calibri" pitchFamily="34" charset="-122"/>
                <a:cs typeface="Calibri" pitchFamily="34" charset="-120"/>
              </a:rPr>
              <a:t>Plain-language headlines, no jargon</a:t>
            </a:r>
            <a:endParaRPr lang="en-US" sz="1400" dirty="0"/>
          </a:p>
          <a:p>
            <a:pPr marL="342900" indent="-342900">
              <a:lnSpc>
                <a:spcPts val="1900"/>
              </a:lnSpc>
              <a:spcAft>
                <a:spcPts val="900"/>
              </a:spcAft>
              <a:buSzPct val="100000"/>
              <a:buChar char="•"/>
            </a:pPr>
            <a:r>
              <a:rPr lang="en-US" sz="1400" dirty="0">
                <a:solidFill>
                  <a:srgbClr val="1E293B"/>
                </a:solidFill>
                <a:latin typeface="Calibri" pitchFamily="34" charset="0"/>
                <a:ea typeface="Calibri" pitchFamily="34" charset="-122"/>
                <a:cs typeface="Calibri" pitchFamily="34" charset="-120"/>
              </a:rPr>
              <a:t>Clear caveats where the data has limits</a:t>
            </a:r>
            <a:endParaRPr lang="en-US" sz="1400" dirty="0"/>
          </a:p>
          <a:p>
            <a:pPr marL="342900" indent="-342900">
              <a:lnSpc>
                <a:spcPts val="1900"/>
              </a:lnSpc>
              <a:spcAft>
                <a:spcPts val="900"/>
              </a:spcAft>
              <a:buSzPct val="100000"/>
              <a:buChar char="•"/>
            </a:pPr>
            <a:r>
              <a:rPr lang="en-US" sz="1400" dirty="0">
                <a:solidFill>
                  <a:srgbClr val="1E293B"/>
                </a:solidFill>
                <a:latin typeface="Calibri" pitchFamily="34" charset="0"/>
                <a:ea typeface="Calibri" pitchFamily="34" charset="-122"/>
                <a:cs typeface="Calibri" pitchFamily="34" charset="-120"/>
              </a:rPr>
              <a:t>Colours chosen to be easy to read, including for colour-blind viewers</a:t>
            </a:r>
            <a:endParaRPr lang="en-US" sz="1400" dirty="0"/>
          </a:p>
          <a:p>
            <a:pPr marL="342900" indent="-342900">
              <a:lnSpc>
                <a:spcPts val="1900"/>
              </a:lnSpc>
              <a:buSzPct val="100000"/>
              <a:buChar char="•"/>
            </a:pPr>
            <a:r>
              <a:rPr lang="en-US" sz="1400" dirty="0">
                <a:solidFill>
                  <a:srgbClr val="1E293B"/>
                </a:solidFill>
                <a:latin typeface="Calibri" pitchFamily="34" charset="0"/>
                <a:ea typeface="Calibri" pitchFamily="34" charset="-122"/>
                <a:cs typeface="Calibri" pitchFamily="34" charset="-120"/>
              </a:rPr>
              <a:t>Filters anyone can use to answer their own question</a:t>
            </a:r>
            <a:endParaRPr lang="en-US" sz="1400" dirty="0"/>
          </a:p>
        </p:txBody>
      </p:sp>
      <p:sp>
        <p:nvSpPr>
          <p:cNvPr id="16" name="Text 11"/>
          <p:cNvSpPr/>
          <p:nvPr/>
        </p:nvSpPr>
        <p:spPr>
          <a:xfrm>
            <a:off x="11155680" y="6400800"/>
            <a:ext cx="54864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08</a:t>
            </a:r>
            <a:endParaRPr lang="en-US" sz="1000" dirty="0"/>
          </a:p>
        </p:txBody>
      </p:sp>
      <p:sp>
        <p:nvSpPr>
          <p:cNvPr id="17" name="Text 12"/>
          <p:cNvSpPr/>
          <p:nvPr/>
        </p:nvSpPr>
        <p:spPr>
          <a:xfrm>
            <a:off x="640080" y="6400800"/>
            <a:ext cx="64008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Susairaj Anthony  |  Adult Social Care Intelligence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233D"/>
        </a:solidFill>
      </p:bgPr>
    </p:bg>
    <p:spTree>
      <p:nvGrpSpPr>
        <p:cNvPr id="1" name=""/>
        <p:cNvGrpSpPr/>
        <p:nvPr/>
      </p:nvGrpSpPr>
      <p:grpSpPr>
        <a:xfrm>
          <a:off x="0" y="0"/>
          <a:ext cx="0" cy="0"/>
          <a:chOff x="0" y="0"/>
          <a:chExt cx="0" cy="0"/>
        </a:xfrm>
      </p:grpSpPr>
      <p:sp>
        <p:nvSpPr>
          <p:cNvPr id="2" name="Shape 0"/>
          <p:cNvSpPr/>
          <p:nvPr/>
        </p:nvSpPr>
        <p:spPr>
          <a:xfrm>
            <a:off x="-1463040" y="4480560"/>
            <a:ext cx="3931920" cy="3931920"/>
          </a:xfrm>
          <a:prstGeom prst="ellipse">
            <a:avLst/>
          </a:prstGeom>
          <a:solidFill>
            <a:srgbClr val="1F3A5F"/>
          </a:solidFill>
          <a:ln/>
        </p:spPr>
      </p:sp>
      <p:sp>
        <p:nvSpPr>
          <p:cNvPr id="3" name="Shape 1"/>
          <p:cNvSpPr/>
          <p:nvPr/>
        </p:nvSpPr>
        <p:spPr>
          <a:xfrm>
            <a:off x="10607040" y="-1280160"/>
            <a:ext cx="3108960" cy="3108960"/>
          </a:xfrm>
          <a:prstGeom prst="ellipse">
            <a:avLst/>
          </a:prstGeom>
          <a:solidFill>
            <a:srgbClr val="0A6B66"/>
          </a:solidFill>
          <a:ln/>
        </p:spPr>
      </p:sp>
      <p:sp>
        <p:nvSpPr>
          <p:cNvPr id="4" name="Shape 2"/>
          <p:cNvSpPr/>
          <p:nvPr/>
        </p:nvSpPr>
        <p:spPr>
          <a:xfrm>
            <a:off x="640080" y="685800"/>
            <a:ext cx="731520" cy="731520"/>
          </a:xfrm>
          <a:prstGeom prst="ellipse">
            <a:avLst/>
          </a:prstGeom>
          <a:solidFill>
            <a:srgbClr val="0E8C86"/>
          </a:solidFill>
          <a:ln/>
        </p:spPr>
      </p:sp>
      <p:pic>
        <p:nvPicPr>
          <p:cNvPr id="5" name="Image 0" descr="preencoded.png">    </p:cNvPr>
          <p:cNvPicPr>
            <a:picLocks noChangeAspect="1"/>
          </p:cNvPicPr>
          <p:nvPr/>
        </p:nvPicPr>
        <p:blipFill>
          <a:blip r:embed="rId1"/>
          <a:stretch>
            <a:fillRect/>
          </a:stretch>
        </p:blipFill>
        <p:spPr>
          <a:xfrm>
            <a:off x="859536" y="905256"/>
            <a:ext cx="292608" cy="292608"/>
          </a:xfrm>
          <a:prstGeom prst="rect">
            <a:avLst/>
          </a:prstGeom>
        </p:spPr>
      </p:pic>
      <p:sp>
        <p:nvSpPr>
          <p:cNvPr id="6" name="Text 3"/>
          <p:cNvSpPr/>
          <p:nvPr/>
        </p:nvSpPr>
        <p:spPr>
          <a:xfrm>
            <a:off x="1600200" y="731520"/>
            <a:ext cx="91440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Why this fits the role</a:t>
            </a:r>
            <a:endParaRPr lang="en-US" sz="2600" dirty="0"/>
          </a:p>
        </p:txBody>
      </p:sp>
      <p:sp>
        <p:nvSpPr>
          <p:cNvPr id="7" name="Shape 4"/>
          <p:cNvSpPr/>
          <p:nvPr/>
        </p:nvSpPr>
        <p:spPr>
          <a:xfrm>
            <a:off x="640080" y="1737360"/>
            <a:ext cx="3502152" cy="1234440"/>
          </a:xfrm>
          <a:prstGeom prst="roundRect">
            <a:avLst>
              <a:gd name="adj" fmla="val 5926"/>
            </a:avLst>
          </a:prstGeom>
          <a:solidFill>
            <a:srgbClr val="1F3A5F"/>
          </a:solidFill>
          <a:ln/>
        </p:spPr>
      </p:sp>
      <p:sp>
        <p:nvSpPr>
          <p:cNvPr id="8" name="Text 5"/>
          <p:cNvSpPr/>
          <p:nvPr/>
        </p:nvSpPr>
        <p:spPr>
          <a:xfrm>
            <a:off x="914400" y="1965960"/>
            <a:ext cx="2953512"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Messy public data</a:t>
            </a:r>
            <a:endParaRPr lang="en-US" sz="1500" dirty="0"/>
          </a:p>
        </p:txBody>
      </p:sp>
      <p:sp>
        <p:nvSpPr>
          <p:cNvPr id="9" name="Text 6"/>
          <p:cNvSpPr/>
          <p:nvPr/>
        </p:nvSpPr>
        <p:spPr>
          <a:xfrm>
            <a:off x="914400" y="2359152"/>
            <a:ext cx="2953512" cy="457200"/>
          </a:xfrm>
          <a:prstGeom prst="rect">
            <a:avLst/>
          </a:prstGeom>
          <a:noFill/>
          <a:ln/>
        </p:spPr>
        <p:txBody>
          <a:bodyPr wrap="square" rtlCol="0" anchor="ctr"/>
          <a:lstStyle/>
          <a:p>
            <a:pPr indent="0" marL="0">
              <a:buNone/>
            </a:pPr>
            <a:r>
              <a:rPr lang="en-US" sz="1200" dirty="0">
                <a:solidFill>
                  <a:srgbClr val="9FB0C9"/>
                </a:solidFill>
                <a:latin typeface="Calibri" pitchFamily="34" charset="0"/>
                <a:ea typeface="Calibri" pitchFamily="34" charset="-122"/>
                <a:cs typeface="Calibri" pitchFamily="34" charset="-120"/>
              </a:rPr>
              <a:t>Spread across different places, just like council data</a:t>
            </a:r>
            <a:endParaRPr lang="en-US" sz="1200" dirty="0"/>
          </a:p>
        </p:txBody>
      </p:sp>
      <p:sp>
        <p:nvSpPr>
          <p:cNvPr id="10" name="Text 7"/>
          <p:cNvSpPr/>
          <p:nvPr/>
        </p:nvSpPr>
        <p:spPr>
          <a:xfrm>
            <a:off x="4123944" y="2148840"/>
            <a:ext cx="292608" cy="457200"/>
          </a:xfrm>
          <a:prstGeom prst="rect">
            <a:avLst/>
          </a:prstGeom>
          <a:noFill/>
          <a:ln/>
        </p:spPr>
        <p:txBody>
          <a:bodyPr wrap="square" rtlCol="0" anchor="ctr"/>
          <a:lstStyle/>
          <a:p>
            <a:pPr algn="ctr" indent="0" marL="0">
              <a:buNone/>
            </a:pPr>
            <a:r>
              <a:rPr lang="en-US" sz="2000" b="1" dirty="0">
                <a:solidFill>
                  <a:srgbClr val="0E8C86"/>
                </a:solidFill>
                <a:latin typeface="Calibri" pitchFamily="34" charset="0"/>
                <a:ea typeface="Calibri" pitchFamily="34" charset="-122"/>
                <a:cs typeface="Calibri" pitchFamily="34" charset="-120"/>
              </a:rPr>
              <a:t>&gt;</a:t>
            </a:r>
            <a:endParaRPr lang="en-US" sz="2000" dirty="0"/>
          </a:p>
        </p:txBody>
      </p:sp>
      <p:sp>
        <p:nvSpPr>
          <p:cNvPr id="11" name="Shape 8"/>
          <p:cNvSpPr/>
          <p:nvPr/>
        </p:nvSpPr>
        <p:spPr>
          <a:xfrm>
            <a:off x="4416552" y="1737360"/>
            <a:ext cx="3502152" cy="1234440"/>
          </a:xfrm>
          <a:prstGeom prst="roundRect">
            <a:avLst>
              <a:gd name="adj" fmla="val 5926"/>
            </a:avLst>
          </a:prstGeom>
          <a:solidFill>
            <a:srgbClr val="1F3A5F"/>
          </a:solidFill>
          <a:ln/>
        </p:spPr>
      </p:sp>
      <p:sp>
        <p:nvSpPr>
          <p:cNvPr id="12" name="Text 9"/>
          <p:cNvSpPr/>
          <p:nvPr/>
        </p:nvSpPr>
        <p:spPr>
          <a:xfrm>
            <a:off x="4690872" y="1965960"/>
            <a:ext cx="2953512"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One easy dashboard</a:t>
            </a:r>
            <a:endParaRPr lang="en-US" sz="1500" dirty="0"/>
          </a:p>
        </p:txBody>
      </p:sp>
      <p:sp>
        <p:nvSpPr>
          <p:cNvPr id="13" name="Text 10"/>
          <p:cNvSpPr/>
          <p:nvPr/>
        </p:nvSpPr>
        <p:spPr>
          <a:xfrm>
            <a:off x="4690872" y="2359152"/>
            <a:ext cx="2953512" cy="457200"/>
          </a:xfrm>
          <a:prstGeom prst="rect">
            <a:avLst/>
          </a:prstGeom>
          <a:noFill/>
          <a:ln/>
        </p:spPr>
        <p:txBody>
          <a:bodyPr wrap="square" rtlCol="0" anchor="ctr"/>
          <a:lstStyle/>
          <a:p>
            <a:pPr indent="0" marL="0">
              <a:buNone/>
            </a:pPr>
            <a:r>
              <a:rPr lang="en-US" sz="1200" dirty="0">
                <a:solidFill>
                  <a:srgbClr val="9FB0C9"/>
                </a:solidFill>
                <a:latin typeface="Calibri" pitchFamily="34" charset="0"/>
                <a:ea typeface="Calibri" pitchFamily="34" charset="-122"/>
                <a:cs typeface="Calibri" pitchFamily="34" charset="-120"/>
              </a:rPr>
              <a:t>Brought together in one place people can trust</a:t>
            </a:r>
            <a:endParaRPr lang="en-US" sz="1200" dirty="0"/>
          </a:p>
        </p:txBody>
      </p:sp>
      <p:sp>
        <p:nvSpPr>
          <p:cNvPr id="14" name="Text 11"/>
          <p:cNvSpPr/>
          <p:nvPr/>
        </p:nvSpPr>
        <p:spPr>
          <a:xfrm>
            <a:off x="7900416" y="2148840"/>
            <a:ext cx="292608" cy="457200"/>
          </a:xfrm>
          <a:prstGeom prst="rect">
            <a:avLst/>
          </a:prstGeom>
          <a:noFill/>
          <a:ln/>
        </p:spPr>
        <p:txBody>
          <a:bodyPr wrap="square" rtlCol="0" anchor="ctr"/>
          <a:lstStyle/>
          <a:p>
            <a:pPr algn="ctr" indent="0" marL="0">
              <a:buNone/>
            </a:pPr>
            <a:r>
              <a:rPr lang="en-US" sz="2000" b="1" dirty="0">
                <a:solidFill>
                  <a:srgbClr val="0E8C86"/>
                </a:solidFill>
                <a:latin typeface="Calibri" pitchFamily="34" charset="0"/>
                <a:ea typeface="Calibri" pitchFamily="34" charset="-122"/>
                <a:cs typeface="Calibri" pitchFamily="34" charset="-120"/>
              </a:rPr>
              <a:t>&gt;</a:t>
            </a:r>
            <a:endParaRPr lang="en-US" sz="2000" dirty="0"/>
          </a:p>
        </p:txBody>
      </p:sp>
      <p:sp>
        <p:nvSpPr>
          <p:cNvPr id="15" name="Shape 12"/>
          <p:cNvSpPr/>
          <p:nvPr/>
        </p:nvSpPr>
        <p:spPr>
          <a:xfrm>
            <a:off x="8193024" y="1737360"/>
            <a:ext cx="3502152" cy="1234440"/>
          </a:xfrm>
          <a:prstGeom prst="roundRect">
            <a:avLst>
              <a:gd name="adj" fmla="val 5926"/>
            </a:avLst>
          </a:prstGeom>
          <a:solidFill>
            <a:srgbClr val="1F3A5F"/>
          </a:solidFill>
          <a:ln/>
        </p:spPr>
      </p:sp>
      <p:sp>
        <p:nvSpPr>
          <p:cNvPr id="16" name="Text 13"/>
          <p:cNvSpPr/>
          <p:nvPr/>
        </p:nvSpPr>
        <p:spPr>
          <a:xfrm>
            <a:off x="8467344" y="1965960"/>
            <a:ext cx="2953512"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Adult Care teams</a:t>
            </a:r>
            <a:endParaRPr lang="en-US" sz="1500" dirty="0"/>
          </a:p>
        </p:txBody>
      </p:sp>
      <p:sp>
        <p:nvSpPr>
          <p:cNvPr id="17" name="Text 14"/>
          <p:cNvSpPr/>
          <p:nvPr/>
        </p:nvSpPr>
        <p:spPr>
          <a:xfrm>
            <a:off x="8467344" y="2359152"/>
            <a:ext cx="2953512" cy="457200"/>
          </a:xfrm>
          <a:prstGeom prst="rect">
            <a:avLst/>
          </a:prstGeom>
          <a:noFill/>
          <a:ln/>
        </p:spPr>
        <p:txBody>
          <a:bodyPr wrap="square" rtlCol="0" anchor="ctr"/>
          <a:lstStyle/>
          <a:p>
            <a:pPr indent="0" marL="0">
              <a:buNone/>
            </a:pPr>
            <a:r>
              <a:rPr lang="en-US" sz="1200" dirty="0">
                <a:solidFill>
                  <a:srgbClr val="9FB0C9"/>
                </a:solidFill>
                <a:latin typeface="Calibri" pitchFamily="34" charset="0"/>
                <a:ea typeface="Calibri" pitchFamily="34" charset="-122"/>
                <a:cs typeface="Calibri" pitchFamily="34" charset="-120"/>
              </a:rPr>
              <a:t>Get answers without waiting on an analyst</a:t>
            </a:r>
            <a:endParaRPr lang="en-US" sz="1200" dirty="0"/>
          </a:p>
        </p:txBody>
      </p:sp>
      <p:sp>
        <p:nvSpPr>
          <p:cNvPr id="18" name="Text 15"/>
          <p:cNvSpPr/>
          <p:nvPr/>
        </p:nvSpPr>
        <p:spPr>
          <a:xfrm>
            <a:off x="640080" y="3200400"/>
            <a:ext cx="10881360" cy="365760"/>
          </a:xfrm>
          <a:prstGeom prst="rect">
            <a:avLst/>
          </a:prstGeom>
          <a:noFill/>
          <a:ln/>
        </p:spPr>
        <p:txBody>
          <a:bodyPr wrap="square" rtlCol="0" anchor="ctr"/>
          <a:lstStyle/>
          <a:p>
            <a:pPr indent="0" marL="0">
              <a:buNone/>
            </a:pPr>
            <a:r>
              <a:rPr lang="en-US" sz="1300" b="1" dirty="0">
                <a:solidFill>
                  <a:srgbClr val="9FD8D4"/>
                </a:solidFill>
                <a:latin typeface="Calibri" pitchFamily="34" charset="0"/>
                <a:ea typeface="Calibri" pitchFamily="34" charset="-122"/>
                <a:cs typeface="Calibri" pitchFamily="34" charset="-120"/>
              </a:rPr>
              <a:t>Power BI and SQL daily  ·  Excel advanced  ·  Python and R  ·  MS Access, quick to pick up</a:t>
            </a:r>
            <a:endParaRPr lang="en-US" sz="1300" dirty="0"/>
          </a:p>
        </p:txBody>
      </p:sp>
      <p:sp>
        <p:nvSpPr>
          <p:cNvPr id="19" name="Shape 16"/>
          <p:cNvSpPr/>
          <p:nvPr/>
        </p:nvSpPr>
        <p:spPr>
          <a:xfrm>
            <a:off x="640080" y="3794760"/>
            <a:ext cx="10881360" cy="0"/>
          </a:xfrm>
          <a:prstGeom prst="line">
            <a:avLst/>
          </a:prstGeom>
          <a:noFill/>
          <a:ln w="12700">
            <a:solidFill>
              <a:srgbClr val="1F3A5F"/>
            </a:solidFill>
            <a:prstDash val="solid"/>
          </a:ln>
        </p:spPr>
      </p:sp>
      <p:sp>
        <p:nvSpPr>
          <p:cNvPr id="20" name="Text 17"/>
          <p:cNvSpPr/>
          <p:nvPr/>
        </p:nvSpPr>
        <p:spPr>
          <a:xfrm>
            <a:off x="640080" y="4069080"/>
            <a:ext cx="10058400" cy="73152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p:txBody>
      </p:sp>
      <p:sp>
        <p:nvSpPr>
          <p:cNvPr id="21" name="Text 18"/>
          <p:cNvSpPr/>
          <p:nvPr/>
        </p:nvSpPr>
        <p:spPr>
          <a:xfrm>
            <a:off x="640080" y="4892040"/>
            <a:ext cx="10424160" cy="914400"/>
          </a:xfrm>
          <a:prstGeom prst="rect">
            <a:avLst/>
          </a:prstGeom>
          <a:noFill/>
          <a:ln/>
        </p:spPr>
        <p:txBody>
          <a:bodyPr wrap="square" rtlCol="0" anchor="ctr"/>
          <a:lstStyle/>
          <a:p>
            <a:pPr indent="0" marL="0">
              <a:lnSpc>
                <a:spcPts val="2200"/>
              </a:lnSpc>
              <a:buNone/>
            </a:pPr>
            <a:r>
              <a:rPr lang="en-US" sz="1600" dirty="0">
                <a:solidFill>
                  <a:srgbClr val="C6D2E4"/>
                </a:solidFill>
                <a:latin typeface="Calibri" pitchFamily="34" charset="0"/>
                <a:ea typeface="Calibri" pitchFamily="34" charset="-122"/>
                <a:cs typeface="Calibri" pitchFamily="34" charset="-120"/>
              </a:rPr>
              <a:t>I took three separate national datasets and turned them into one easy-to-use view of outcomes, demand and care home quality for Adult Care in Lincolnshire. I'd be glad to take any questions.</a:t>
            </a:r>
            <a:endParaRPr lang="en-US" sz="1600" dirty="0"/>
          </a:p>
        </p:txBody>
      </p:sp>
      <p:sp>
        <p:nvSpPr>
          <p:cNvPr id="22" name="Text 19"/>
          <p:cNvSpPr/>
          <p:nvPr/>
        </p:nvSpPr>
        <p:spPr>
          <a:xfrm>
            <a:off x="640080" y="5989320"/>
            <a:ext cx="100584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Susairaj Anthony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Adult Social Care Performance &amp; Intelligence</dc:title>
  <dc:subject>PptxGenJS Presentation</dc:subject>
  <dc:creator>Susairaj Anthony</dc:creator>
  <cp:lastModifiedBy>Susairaj Anthony</cp:lastModifiedBy>
  <cp:revision>1</cp:revision>
  <dcterms:created xsi:type="dcterms:W3CDTF">2026-07-07T12:49:53Z</dcterms:created>
  <dcterms:modified xsi:type="dcterms:W3CDTF">2026-07-07T12:49:53Z</dcterms:modified>
</cp:coreProperties>
</file>